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94" r:id="rId1"/>
  </p:sldMasterIdLst>
  <p:notesMasterIdLst>
    <p:notesMasterId r:id="rId3"/>
  </p:notesMasterIdLst>
  <p:handoutMasterIdLst>
    <p:handoutMasterId r:id="rId4"/>
  </p:handoutMasterIdLst>
  <p:sldIdLst>
    <p:sldId id="262" r:id="rId2"/>
  </p:sldIdLst>
  <p:sldSz cx="9144000" cy="5143500" type="screen16x9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483"/>
    <a:srgbClr val="0073A3"/>
    <a:srgbClr val="F07D00"/>
    <a:srgbClr val="53CCFF"/>
    <a:srgbClr val="001C4B"/>
    <a:srgbClr val="102D69"/>
    <a:srgbClr val="009EE0"/>
    <a:srgbClr val="000000"/>
    <a:srgbClr val="DCDDDE"/>
    <a:srgbClr val="C7C8C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2" autoAdjust="0"/>
    <p:restoredTop sz="94694"/>
  </p:normalViewPr>
  <p:slideViewPr>
    <p:cSldViewPr snapToGrid="0" snapToObjects="1">
      <p:cViewPr varScale="1">
        <p:scale>
          <a:sx n="141" d="100"/>
          <a:sy n="141" d="100"/>
        </p:scale>
        <p:origin x="168" y="114"/>
      </p:cViewPr>
      <p:guideLst/>
    </p:cSldViewPr>
  </p:slideViewPr>
  <p:outlineViewPr>
    <p:cViewPr>
      <p:scale>
        <a:sx n="33" d="100"/>
        <a:sy n="33" d="100"/>
      </p:scale>
      <p:origin x="0" y="-466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napToObjects="1">
      <p:cViewPr varScale="1">
        <p:scale>
          <a:sx n="97" d="100"/>
          <a:sy n="97" d="100"/>
        </p:scale>
        <p:origin x="3120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5C2663-9FAE-6346-9FDE-52ACD264882B}" type="datetimeFigureOut">
              <a:rPr lang="fr-FR" smtClean="0"/>
              <a:t>17/09/2026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09F841-1EC4-7745-A2A1-241C3184D27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753778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ABE3DF-9B42-6F42-B595-8789B0F99C6A}" type="datetimeFigureOut">
              <a:rPr lang="fr-FR" smtClean="0"/>
              <a:t>17/09/2026</a:t>
            </a:fld>
            <a:endParaRPr lang="fr-FR"/>
          </a:p>
        </p:txBody>
      </p:sp>
      <p:sp>
        <p:nvSpPr>
          <p:cNvPr id="4" name="Espace réservé de l’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4CB9D9-8607-4446-80EE-4BEFE06B9BD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90983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-blank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85199" y="2358221"/>
            <a:ext cx="5975835" cy="724826"/>
          </a:xfrm>
        </p:spPr>
        <p:txBody>
          <a:bodyPr anchor="b" anchorCtr="0">
            <a:noAutofit/>
          </a:bodyPr>
          <a:lstStyle>
            <a:lvl1pPr algn="l">
              <a:lnSpc>
                <a:spcPts val="2900"/>
              </a:lnSpc>
              <a:defRPr sz="2500" b="1" spc="-10" baseline="0">
                <a:solidFill>
                  <a:srgbClr val="001C4B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fr-FR" noProof="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85200" y="3270572"/>
            <a:ext cx="5975836" cy="559423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300" b="0" i="0" spc="-10" baseline="0">
                <a:solidFill>
                  <a:srgbClr val="001C4B"/>
                </a:solidFill>
                <a:latin typeface="Noto Sans Med" panose="020B0502040504020204" pitchFamily="34" charset="0"/>
                <a:ea typeface="Noto Sans Med" panose="020B0502040504020204" pitchFamily="34" charset="0"/>
                <a:cs typeface="Noto Sans Med" panose="020B0502040504020204" pitchFamily="34" charset="0"/>
              </a:defRPr>
            </a:lvl1pPr>
            <a:lvl2pPr marL="342857" indent="0" algn="ctr">
              <a:buNone/>
              <a:defRPr sz="1500"/>
            </a:lvl2pPr>
            <a:lvl3pPr marL="685715" indent="0" algn="ctr">
              <a:buNone/>
              <a:defRPr sz="1350"/>
            </a:lvl3pPr>
            <a:lvl4pPr marL="1028573" indent="0" algn="ctr">
              <a:buNone/>
              <a:defRPr sz="1200"/>
            </a:lvl4pPr>
            <a:lvl5pPr marL="1371431" indent="0" algn="ctr">
              <a:buNone/>
              <a:defRPr sz="1200"/>
            </a:lvl5pPr>
            <a:lvl6pPr marL="1714289" indent="0" algn="ctr">
              <a:buNone/>
              <a:defRPr sz="1200"/>
            </a:lvl6pPr>
            <a:lvl7pPr marL="2057144" indent="0" algn="ctr">
              <a:buNone/>
              <a:defRPr sz="1200"/>
            </a:lvl7pPr>
            <a:lvl8pPr marL="2400002" indent="0" algn="ctr">
              <a:buNone/>
              <a:defRPr sz="1200"/>
            </a:lvl8pPr>
            <a:lvl9pPr marL="274286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EFD43DB-60F0-69E5-0E6E-39DAC8F580D6}"/>
              </a:ext>
            </a:extLst>
          </p:cNvPr>
          <p:cNvSpPr>
            <a:spLocks noChangeAspect="1"/>
          </p:cNvSpPr>
          <p:nvPr userDrawn="1"/>
        </p:nvSpPr>
        <p:spPr>
          <a:xfrm>
            <a:off x="-3" y="-1"/>
            <a:ext cx="428400" cy="428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6211952-6EFD-1268-B0D8-5D1EA9A036DA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428609"/>
            <a:ext cx="428400" cy="428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9892B6F-9A39-8FF4-F99C-3D45A9DDD8CC}"/>
              </a:ext>
            </a:extLst>
          </p:cNvPr>
          <p:cNvSpPr>
            <a:spLocks noChangeAspect="1"/>
          </p:cNvSpPr>
          <p:nvPr userDrawn="1"/>
        </p:nvSpPr>
        <p:spPr>
          <a:xfrm>
            <a:off x="853399" y="-1"/>
            <a:ext cx="428400" cy="428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9B1B74D-F7A7-427F-4C42-2E65F73D513D}"/>
              </a:ext>
            </a:extLst>
          </p:cNvPr>
          <p:cNvSpPr>
            <a:spLocks noChangeAspect="1"/>
          </p:cNvSpPr>
          <p:nvPr userDrawn="1"/>
        </p:nvSpPr>
        <p:spPr>
          <a:xfrm>
            <a:off x="-3" y="857009"/>
            <a:ext cx="428400" cy="428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210BEFD-109F-37DE-ED0B-3CC93589B2DE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1285619"/>
            <a:ext cx="428400" cy="428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71C3FFE-4231-78CA-D32E-0CB00040402B}"/>
              </a:ext>
            </a:extLst>
          </p:cNvPr>
          <p:cNvSpPr>
            <a:spLocks noChangeAspect="1"/>
          </p:cNvSpPr>
          <p:nvPr userDrawn="1"/>
        </p:nvSpPr>
        <p:spPr>
          <a:xfrm>
            <a:off x="-3" y="1714229"/>
            <a:ext cx="428400" cy="428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7FB0309-AAC2-B57E-8D00-2D7697DD14AF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2142839"/>
            <a:ext cx="428400" cy="428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240B5A4-42DE-8A14-36D6-AFB428B9B1C1}"/>
              </a:ext>
            </a:extLst>
          </p:cNvPr>
          <p:cNvSpPr>
            <a:spLocks noChangeAspect="1"/>
          </p:cNvSpPr>
          <p:nvPr userDrawn="1"/>
        </p:nvSpPr>
        <p:spPr>
          <a:xfrm>
            <a:off x="-3" y="2571239"/>
            <a:ext cx="428400" cy="428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Forme libre 20">
            <a:extLst>
              <a:ext uri="{FF2B5EF4-FFF2-40B4-BE49-F238E27FC236}">
                <a16:creationId xmlns:a16="http://schemas.microsoft.com/office/drawing/2014/main" id="{372BBFFA-319C-27E5-D42D-1FE7E80D5E92}"/>
              </a:ext>
            </a:extLst>
          </p:cNvPr>
          <p:cNvSpPr/>
          <p:nvPr userDrawn="1"/>
        </p:nvSpPr>
        <p:spPr>
          <a:xfrm>
            <a:off x="828810" y="760377"/>
            <a:ext cx="5975836" cy="96632"/>
          </a:xfrm>
          <a:custGeom>
            <a:avLst/>
            <a:gdLst>
              <a:gd name="connsiteX0" fmla="*/ 0 w 1286893"/>
              <a:gd name="connsiteY0" fmla="*/ 0 h 96423"/>
              <a:gd name="connsiteX1" fmla="*/ 1286894 w 1286893"/>
              <a:gd name="connsiteY1" fmla="*/ 0 h 96423"/>
              <a:gd name="connsiteX2" fmla="*/ 1286894 w 1286893"/>
              <a:gd name="connsiteY2" fmla="*/ 96423 h 96423"/>
              <a:gd name="connsiteX3" fmla="*/ 0 w 1286893"/>
              <a:gd name="connsiteY3" fmla="*/ 96423 h 964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86893" h="96423">
                <a:moveTo>
                  <a:pt x="0" y="0"/>
                </a:moveTo>
                <a:lnTo>
                  <a:pt x="1286894" y="0"/>
                </a:lnTo>
                <a:lnTo>
                  <a:pt x="1286894" y="96423"/>
                </a:lnTo>
                <a:lnTo>
                  <a:pt x="0" y="96423"/>
                </a:lnTo>
                <a:close/>
              </a:path>
            </a:pathLst>
          </a:custGeom>
          <a:solidFill>
            <a:srgbClr val="009EE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22" name="Forme libre 21">
            <a:extLst>
              <a:ext uri="{FF2B5EF4-FFF2-40B4-BE49-F238E27FC236}">
                <a16:creationId xmlns:a16="http://schemas.microsoft.com/office/drawing/2014/main" id="{0512D8CC-A62A-40A3-3FFA-BD1F87DE1522}"/>
              </a:ext>
            </a:extLst>
          </p:cNvPr>
          <p:cNvSpPr/>
          <p:nvPr userDrawn="1"/>
        </p:nvSpPr>
        <p:spPr>
          <a:xfrm rot="16200000">
            <a:off x="-1383079" y="2903623"/>
            <a:ext cx="4383124" cy="96632"/>
          </a:xfrm>
          <a:custGeom>
            <a:avLst/>
            <a:gdLst>
              <a:gd name="connsiteX0" fmla="*/ 0 w 1286893"/>
              <a:gd name="connsiteY0" fmla="*/ 0 h 96423"/>
              <a:gd name="connsiteX1" fmla="*/ 1286894 w 1286893"/>
              <a:gd name="connsiteY1" fmla="*/ 0 h 96423"/>
              <a:gd name="connsiteX2" fmla="*/ 1286894 w 1286893"/>
              <a:gd name="connsiteY2" fmla="*/ 96423 h 96423"/>
              <a:gd name="connsiteX3" fmla="*/ 0 w 1286893"/>
              <a:gd name="connsiteY3" fmla="*/ 96423 h 964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86893" h="96423">
                <a:moveTo>
                  <a:pt x="0" y="0"/>
                </a:moveTo>
                <a:lnTo>
                  <a:pt x="1286894" y="0"/>
                </a:lnTo>
                <a:lnTo>
                  <a:pt x="1286894" y="96423"/>
                </a:lnTo>
                <a:lnTo>
                  <a:pt x="0" y="96423"/>
                </a:lnTo>
                <a:close/>
              </a:path>
            </a:pathLst>
          </a:custGeom>
          <a:solidFill>
            <a:srgbClr val="009EE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23" name="Espace réservé du texte 81">
            <a:extLst>
              <a:ext uri="{FF2B5EF4-FFF2-40B4-BE49-F238E27FC236}">
                <a16:creationId xmlns:a16="http://schemas.microsoft.com/office/drawing/2014/main" id="{DAF0EE13-BA48-3E03-FCE8-668ACB13566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85200" y="4486634"/>
            <a:ext cx="759483" cy="258165"/>
          </a:xfrm>
        </p:spPr>
        <p:txBody>
          <a:bodyPr anchor="b"/>
          <a:lstStyle>
            <a:lvl1pPr marL="6351" indent="0">
              <a:buNone/>
              <a:defRPr sz="700" baseline="0">
                <a:solidFill>
                  <a:srgbClr val="001C4B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 dirty="0"/>
              <a:t>MONTH 2024</a:t>
            </a:r>
          </a:p>
        </p:txBody>
      </p:sp>
      <p:sp>
        <p:nvSpPr>
          <p:cNvPr id="24" name="Espace réservé du texte 81">
            <a:extLst>
              <a:ext uri="{FF2B5EF4-FFF2-40B4-BE49-F238E27FC236}">
                <a16:creationId xmlns:a16="http://schemas.microsoft.com/office/drawing/2014/main" id="{6783BFA2-A7E6-4F84-84BA-D5976D26954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044683" y="4486634"/>
            <a:ext cx="3026141" cy="258165"/>
          </a:xfrm>
        </p:spPr>
        <p:txBody>
          <a:bodyPr anchor="b"/>
          <a:lstStyle>
            <a:lvl1pPr marL="6351" indent="0">
              <a:buNone/>
              <a:defRPr sz="700" baseline="0">
                <a:solidFill>
                  <a:srgbClr val="001C4B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en-GB" dirty="0"/>
              <a:t>• </a:t>
            </a:r>
            <a:r>
              <a:rPr lang="fr-FR" dirty="0">
                <a:effectLst/>
                <a:latin typeface="Noto Sans" panose="020B0502040504020204" pitchFamily="34" charset="0"/>
              </a:rPr>
              <a:t>Document for </a:t>
            </a:r>
            <a:r>
              <a:rPr lang="fr-FR" dirty="0" err="1">
                <a:effectLst/>
                <a:latin typeface="Noto Sans" panose="020B0502040504020204" pitchFamily="34" charset="0"/>
              </a:rPr>
              <a:t>professional</a:t>
            </a:r>
            <a:r>
              <a:rPr lang="fr-FR" dirty="0">
                <a:effectLst/>
                <a:latin typeface="Noto Sans" panose="020B0502040504020204" pitchFamily="34" charset="0"/>
              </a:rPr>
              <a:t> </a:t>
            </a:r>
            <a:r>
              <a:rPr lang="fr-FR" dirty="0" err="1">
                <a:effectLst/>
                <a:latin typeface="Noto Sans" panose="020B0502040504020204" pitchFamily="34" charset="0"/>
              </a:rPr>
              <a:t>investors</a:t>
            </a:r>
            <a:r>
              <a:rPr lang="fr-FR" dirty="0">
                <a:effectLst/>
                <a:latin typeface="Noto Sans" panose="020B0502040504020204" pitchFamily="34" charset="0"/>
              </a:rPr>
              <a:t> </a:t>
            </a:r>
            <a:r>
              <a:rPr lang="fr-FR" dirty="0" err="1">
                <a:effectLst/>
                <a:latin typeface="Noto Sans" panose="020B0502040504020204" pitchFamily="34" charset="0"/>
              </a:rPr>
              <a:t>only</a:t>
            </a:r>
            <a:endParaRPr lang="en-GB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DD9F045A-86C6-0812-3813-D4C61BA803C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22861" y="284400"/>
            <a:ext cx="1443600" cy="782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27306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-blank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85199" y="2358221"/>
            <a:ext cx="5975835" cy="724826"/>
          </a:xfrm>
        </p:spPr>
        <p:txBody>
          <a:bodyPr anchor="b" anchorCtr="0">
            <a:noAutofit/>
          </a:bodyPr>
          <a:lstStyle>
            <a:lvl1pPr algn="l">
              <a:lnSpc>
                <a:spcPts val="2900"/>
              </a:lnSpc>
              <a:defRPr sz="2500" b="1" spc="-10" baseline="0">
                <a:solidFill>
                  <a:srgbClr val="001C4B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fr-FR" noProof="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85200" y="3270572"/>
            <a:ext cx="5975836" cy="559423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300" b="0" i="0" spc="-10" baseline="0">
                <a:solidFill>
                  <a:srgbClr val="001C4B"/>
                </a:solidFill>
                <a:latin typeface="Noto Sans Med" panose="020B0502040504020204" pitchFamily="34" charset="0"/>
                <a:ea typeface="Noto Sans Med" panose="020B0502040504020204" pitchFamily="34" charset="0"/>
                <a:cs typeface="Noto Sans Med" panose="020B0502040504020204" pitchFamily="34" charset="0"/>
              </a:defRPr>
            </a:lvl1pPr>
            <a:lvl2pPr marL="342857" indent="0" algn="ctr">
              <a:buNone/>
              <a:defRPr sz="1500"/>
            </a:lvl2pPr>
            <a:lvl3pPr marL="685715" indent="0" algn="ctr">
              <a:buNone/>
              <a:defRPr sz="1350"/>
            </a:lvl3pPr>
            <a:lvl4pPr marL="1028573" indent="0" algn="ctr">
              <a:buNone/>
              <a:defRPr sz="1200"/>
            </a:lvl4pPr>
            <a:lvl5pPr marL="1371431" indent="0" algn="ctr">
              <a:buNone/>
              <a:defRPr sz="1200"/>
            </a:lvl5pPr>
            <a:lvl6pPr marL="1714289" indent="0" algn="ctr">
              <a:buNone/>
              <a:defRPr sz="1200"/>
            </a:lvl6pPr>
            <a:lvl7pPr marL="2057144" indent="0" algn="ctr">
              <a:buNone/>
              <a:defRPr sz="1200"/>
            </a:lvl7pPr>
            <a:lvl8pPr marL="2400002" indent="0" algn="ctr">
              <a:buNone/>
              <a:defRPr sz="1200"/>
            </a:lvl8pPr>
            <a:lvl9pPr marL="274286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rme libre 4">
            <a:extLst>
              <a:ext uri="{FF2B5EF4-FFF2-40B4-BE49-F238E27FC236}">
                <a16:creationId xmlns:a16="http://schemas.microsoft.com/office/drawing/2014/main" id="{81B07C38-783E-E35D-F550-E67A8A92F3BE}"/>
              </a:ext>
            </a:extLst>
          </p:cNvPr>
          <p:cNvSpPr/>
          <p:nvPr userDrawn="1"/>
        </p:nvSpPr>
        <p:spPr>
          <a:xfrm rot="16200000">
            <a:off x="-1217195" y="2737739"/>
            <a:ext cx="4051355" cy="96632"/>
          </a:xfrm>
          <a:custGeom>
            <a:avLst/>
            <a:gdLst>
              <a:gd name="connsiteX0" fmla="*/ 0 w 1286893"/>
              <a:gd name="connsiteY0" fmla="*/ 0 h 96423"/>
              <a:gd name="connsiteX1" fmla="*/ 1286894 w 1286893"/>
              <a:gd name="connsiteY1" fmla="*/ 0 h 96423"/>
              <a:gd name="connsiteX2" fmla="*/ 1286894 w 1286893"/>
              <a:gd name="connsiteY2" fmla="*/ 96423 h 96423"/>
              <a:gd name="connsiteX3" fmla="*/ 0 w 1286893"/>
              <a:gd name="connsiteY3" fmla="*/ 96423 h 964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86893" h="96423">
                <a:moveTo>
                  <a:pt x="0" y="0"/>
                </a:moveTo>
                <a:lnTo>
                  <a:pt x="1286894" y="0"/>
                </a:lnTo>
                <a:lnTo>
                  <a:pt x="1286894" y="96423"/>
                </a:lnTo>
                <a:lnTo>
                  <a:pt x="0" y="96423"/>
                </a:lnTo>
                <a:close/>
              </a:path>
            </a:pathLst>
          </a:custGeom>
          <a:solidFill>
            <a:srgbClr val="009EE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6" name="Espace réservé du texte 81">
            <a:extLst>
              <a:ext uri="{FF2B5EF4-FFF2-40B4-BE49-F238E27FC236}">
                <a16:creationId xmlns:a16="http://schemas.microsoft.com/office/drawing/2014/main" id="{7F0A05DB-6FAF-E48E-84E6-8F4459DB4CB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285200" y="4045576"/>
            <a:ext cx="759483" cy="258165"/>
          </a:xfrm>
        </p:spPr>
        <p:txBody>
          <a:bodyPr anchor="b"/>
          <a:lstStyle>
            <a:lvl1pPr marL="6351" indent="0">
              <a:buNone/>
              <a:defRPr sz="700" baseline="0">
                <a:solidFill>
                  <a:srgbClr val="001C4B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 dirty="0"/>
              <a:t>MONTH 2024</a:t>
            </a:r>
          </a:p>
        </p:txBody>
      </p:sp>
      <p:sp>
        <p:nvSpPr>
          <p:cNvPr id="7" name="Espace réservé du texte 81">
            <a:extLst>
              <a:ext uri="{FF2B5EF4-FFF2-40B4-BE49-F238E27FC236}">
                <a16:creationId xmlns:a16="http://schemas.microsoft.com/office/drawing/2014/main" id="{24E26F61-B61B-FAF2-6F9C-11CE2EC192D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044683" y="4045576"/>
            <a:ext cx="3026141" cy="258165"/>
          </a:xfrm>
        </p:spPr>
        <p:txBody>
          <a:bodyPr anchor="b"/>
          <a:lstStyle>
            <a:lvl1pPr marL="6351" indent="0">
              <a:buNone/>
              <a:defRPr sz="700" baseline="0">
                <a:solidFill>
                  <a:srgbClr val="001C4B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en-GB" dirty="0"/>
              <a:t>• </a:t>
            </a:r>
            <a:r>
              <a:rPr lang="fr-FR" dirty="0">
                <a:effectLst/>
                <a:latin typeface="Noto Sans" panose="020B0502040504020204" pitchFamily="34" charset="0"/>
              </a:rPr>
              <a:t>Document for </a:t>
            </a:r>
            <a:r>
              <a:rPr lang="fr-FR" dirty="0" err="1">
                <a:effectLst/>
                <a:latin typeface="Noto Sans" panose="020B0502040504020204" pitchFamily="34" charset="0"/>
              </a:rPr>
              <a:t>professional</a:t>
            </a:r>
            <a:r>
              <a:rPr lang="fr-FR" dirty="0">
                <a:effectLst/>
                <a:latin typeface="Noto Sans" panose="020B0502040504020204" pitchFamily="34" charset="0"/>
              </a:rPr>
              <a:t> </a:t>
            </a:r>
            <a:r>
              <a:rPr lang="fr-FR" dirty="0" err="1">
                <a:effectLst/>
                <a:latin typeface="Noto Sans" panose="020B0502040504020204" pitchFamily="34" charset="0"/>
              </a:rPr>
              <a:t>investors</a:t>
            </a:r>
            <a:r>
              <a:rPr lang="fr-FR" dirty="0">
                <a:effectLst/>
                <a:latin typeface="Noto Sans" panose="020B0502040504020204" pitchFamily="34" charset="0"/>
              </a:rPr>
              <a:t> </a:t>
            </a:r>
            <a:r>
              <a:rPr lang="fr-FR" dirty="0" err="1">
                <a:effectLst/>
                <a:latin typeface="Noto Sans" panose="020B0502040504020204" pitchFamily="34" charset="0"/>
              </a:rPr>
              <a:t>only</a:t>
            </a:r>
            <a:endParaRPr lang="en-GB" dirty="0"/>
          </a:p>
        </p:txBody>
      </p:sp>
      <p:sp>
        <p:nvSpPr>
          <p:cNvPr id="9" name="Forme libre 8">
            <a:extLst>
              <a:ext uri="{FF2B5EF4-FFF2-40B4-BE49-F238E27FC236}">
                <a16:creationId xmlns:a16="http://schemas.microsoft.com/office/drawing/2014/main" id="{B87305F2-AFBE-EBE0-195B-9DE232764CEB}"/>
              </a:ext>
            </a:extLst>
          </p:cNvPr>
          <p:cNvSpPr/>
          <p:nvPr userDrawn="1"/>
        </p:nvSpPr>
        <p:spPr>
          <a:xfrm>
            <a:off x="815975" y="760377"/>
            <a:ext cx="5563225" cy="96632"/>
          </a:xfrm>
          <a:custGeom>
            <a:avLst/>
            <a:gdLst>
              <a:gd name="connsiteX0" fmla="*/ 0 w 1286893"/>
              <a:gd name="connsiteY0" fmla="*/ 0 h 96423"/>
              <a:gd name="connsiteX1" fmla="*/ 1286894 w 1286893"/>
              <a:gd name="connsiteY1" fmla="*/ 0 h 96423"/>
              <a:gd name="connsiteX2" fmla="*/ 1286894 w 1286893"/>
              <a:gd name="connsiteY2" fmla="*/ 96423 h 96423"/>
              <a:gd name="connsiteX3" fmla="*/ 0 w 1286893"/>
              <a:gd name="connsiteY3" fmla="*/ 96423 h 964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86893" h="96423">
                <a:moveTo>
                  <a:pt x="0" y="0"/>
                </a:moveTo>
                <a:lnTo>
                  <a:pt x="1286894" y="0"/>
                </a:lnTo>
                <a:lnTo>
                  <a:pt x="1286894" y="96423"/>
                </a:lnTo>
                <a:lnTo>
                  <a:pt x="0" y="96423"/>
                </a:lnTo>
                <a:close/>
              </a:path>
            </a:pathLst>
          </a:custGeom>
          <a:solidFill>
            <a:srgbClr val="009EE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10" name="Forme libre 9">
            <a:extLst>
              <a:ext uri="{FF2B5EF4-FFF2-40B4-BE49-F238E27FC236}">
                <a16:creationId xmlns:a16="http://schemas.microsoft.com/office/drawing/2014/main" id="{3F3A0A57-DE05-97CD-6FD6-08C2F6615A12}"/>
              </a:ext>
            </a:extLst>
          </p:cNvPr>
          <p:cNvSpPr/>
          <p:nvPr userDrawn="1"/>
        </p:nvSpPr>
        <p:spPr>
          <a:xfrm>
            <a:off x="8059928" y="760264"/>
            <a:ext cx="1083954" cy="97200"/>
          </a:xfrm>
          <a:custGeom>
            <a:avLst/>
            <a:gdLst>
              <a:gd name="connsiteX0" fmla="*/ 0 w 1286893"/>
              <a:gd name="connsiteY0" fmla="*/ 0 h 96631"/>
              <a:gd name="connsiteX1" fmla="*/ 1286894 w 1286893"/>
              <a:gd name="connsiteY1" fmla="*/ 0 h 96631"/>
              <a:gd name="connsiteX2" fmla="*/ 1286894 w 1286893"/>
              <a:gd name="connsiteY2" fmla="*/ 96632 h 96631"/>
              <a:gd name="connsiteX3" fmla="*/ 0 w 1286893"/>
              <a:gd name="connsiteY3" fmla="*/ 96632 h 966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86893" h="96631">
                <a:moveTo>
                  <a:pt x="0" y="0"/>
                </a:moveTo>
                <a:lnTo>
                  <a:pt x="1286894" y="0"/>
                </a:lnTo>
                <a:lnTo>
                  <a:pt x="1286894" y="96632"/>
                </a:lnTo>
                <a:lnTo>
                  <a:pt x="0" y="96632"/>
                </a:lnTo>
                <a:close/>
              </a:path>
            </a:pathLst>
          </a:custGeom>
          <a:solidFill>
            <a:srgbClr val="019EE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11" name="Forme libre 10">
            <a:extLst>
              <a:ext uri="{FF2B5EF4-FFF2-40B4-BE49-F238E27FC236}">
                <a16:creationId xmlns:a16="http://schemas.microsoft.com/office/drawing/2014/main" id="{1A40575B-E146-3BD8-AFB2-E8717B190F83}"/>
              </a:ext>
            </a:extLst>
          </p:cNvPr>
          <p:cNvSpPr/>
          <p:nvPr userDrawn="1"/>
        </p:nvSpPr>
        <p:spPr>
          <a:xfrm>
            <a:off x="815975" y="4715100"/>
            <a:ext cx="8327906" cy="96632"/>
          </a:xfrm>
          <a:custGeom>
            <a:avLst/>
            <a:gdLst>
              <a:gd name="connsiteX0" fmla="*/ 0 w 1286893"/>
              <a:gd name="connsiteY0" fmla="*/ 0 h 96423"/>
              <a:gd name="connsiteX1" fmla="*/ 1286894 w 1286893"/>
              <a:gd name="connsiteY1" fmla="*/ 0 h 96423"/>
              <a:gd name="connsiteX2" fmla="*/ 1286894 w 1286893"/>
              <a:gd name="connsiteY2" fmla="*/ 96423 h 96423"/>
              <a:gd name="connsiteX3" fmla="*/ 0 w 1286893"/>
              <a:gd name="connsiteY3" fmla="*/ 96423 h 964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86893" h="96423">
                <a:moveTo>
                  <a:pt x="0" y="0"/>
                </a:moveTo>
                <a:lnTo>
                  <a:pt x="1286894" y="0"/>
                </a:lnTo>
                <a:lnTo>
                  <a:pt x="1286894" y="96423"/>
                </a:lnTo>
                <a:lnTo>
                  <a:pt x="0" y="96423"/>
                </a:lnTo>
                <a:close/>
              </a:path>
            </a:pathLst>
          </a:custGeom>
          <a:solidFill>
            <a:srgbClr val="009EE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EFD43DB-60F0-69E5-0E6E-39DAC8F580D6}"/>
              </a:ext>
            </a:extLst>
          </p:cNvPr>
          <p:cNvSpPr>
            <a:spLocks noChangeAspect="1"/>
          </p:cNvSpPr>
          <p:nvPr userDrawn="1"/>
        </p:nvSpPr>
        <p:spPr>
          <a:xfrm>
            <a:off x="-3" y="-1"/>
            <a:ext cx="428400" cy="428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6211952-6EFD-1268-B0D8-5D1EA9A036DA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428609"/>
            <a:ext cx="428400" cy="428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9892B6F-9A39-8FF4-F99C-3D45A9DDD8CC}"/>
              </a:ext>
            </a:extLst>
          </p:cNvPr>
          <p:cNvSpPr>
            <a:spLocks noChangeAspect="1"/>
          </p:cNvSpPr>
          <p:nvPr userDrawn="1"/>
        </p:nvSpPr>
        <p:spPr>
          <a:xfrm>
            <a:off x="853399" y="-1"/>
            <a:ext cx="428400" cy="428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9B1B74D-F7A7-427F-4C42-2E65F73D513D}"/>
              </a:ext>
            </a:extLst>
          </p:cNvPr>
          <p:cNvSpPr>
            <a:spLocks noChangeAspect="1"/>
          </p:cNvSpPr>
          <p:nvPr userDrawn="1"/>
        </p:nvSpPr>
        <p:spPr>
          <a:xfrm>
            <a:off x="-3" y="857009"/>
            <a:ext cx="428400" cy="428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210BEFD-109F-37DE-ED0B-3CC93589B2DE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1285619"/>
            <a:ext cx="428400" cy="428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71C3FFE-4231-78CA-D32E-0CB00040402B}"/>
              </a:ext>
            </a:extLst>
          </p:cNvPr>
          <p:cNvSpPr>
            <a:spLocks noChangeAspect="1"/>
          </p:cNvSpPr>
          <p:nvPr userDrawn="1"/>
        </p:nvSpPr>
        <p:spPr>
          <a:xfrm>
            <a:off x="-3" y="1714229"/>
            <a:ext cx="428400" cy="428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7FB0309-AAC2-B57E-8D00-2D7697DD14AF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2142839"/>
            <a:ext cx="428400" cy="428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240B5A4-42DE-8A14-36D6-AFB428B9B1C1}"/>
              </a:ext>
            </a:extLst>
          </p:cNvPr>
          <p:cNvSpPr>
            <a:spLocks noChangeAspect="1"/>
          </p:cNvSpPr>
          <p:nvPr userDrawn="1"/>
        </p:nvSpPr>
        <p:spPr>
          <a:xfrm>
            <a:off x="-3" y="2571239"/>
            <a:ext cx="428400" cy="428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440879F-6B1C-6975-11B0-534AD280C77A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2999849"/>
            <a:ext cx="428400" cy="428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69CAD4E1-CE8D-D68A-F8EF-E72FA15695F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496199" y="284400"/>
            <a:ext cx="1443600" cy="782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01314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 15">
            <a:extLst>
              <a:ext uri="{FF2B5EF4-FFF2-40B4-BE49-F238E27FC236}">
                <a16:creationId xmlns:a16="http://schemas.microsoft.com/office/drawing/2014/main" id="{CC0E64A8-1760-18C4-A4A9-561107482C09}"/>
              </a:ext>
            </a:extLst>
          </p:cNvPr>
          <p:cNvPicPr>
            <a:picLocks/>
          </p:cNvPicPr>
          <p:nvPr userDrawn="1"/>
        </p:nvPicPr>
        <p:blipFill>
          <a:blip r:embed="rId2"/>
          <a:srcRect/>
          <a:stretch/>
        </p:blipFill>
        <p:spPr>
          <a:xfrm>
            <a:off x="-2" y="0"/>
            <a:ext cx="9144000" cy="5143500"/>
          </a:xfrm>
          <a:prstGeom prst="rect">
            <a:avLst/>
          </a:prstGeom>
        </p:spPr>
      </p:pic>
      <p:sp>
        <p:nvSpPr>
          <p:cNvPr id="10" name="Forme libre 9">
            <a:extLst>
              <a:ext uri="{FF2B5EF4-FFF2-40B4-BE49-F238E27FC236}">
                <a16:creationId xmlns:a16="http://schemas.microsoft.com/office/drawing/2014/main" id="{890CC80E-BA80-6CF4-B639-E7BB94813E41}"/>
              </a:ext>
            </a:extLst>
          </p:cNvPr>
          <p:cNvSpPr/>
          <p:nvPr userDrawn="1"/>
        </p:nvSpPr>
        <p:spPr>
          <a:xfrm>
            <a:off x="331767" y="4715100"/>
            <a:ext cx="8440758" cy="96632"/>
          </a:xfrm>
          <a:custGeom>
            <a:avLst/>
            <a:gdLst>
              <a:gd name="connsiteX0" fmla="*/ 0 w 1286893"/>
              <a:gd name="connsiteY0" fmla="*/ 0 h 96423"/>
              <a:gd name="connsiteX1" fmla="*/ 1286894 w 1286893"/>
              <a:gd name="connsiteY1" fmla="*/ 0 h 96423"/>
              <a:gd name="connsiteX2" fmla="*/ 1286894 w 1286893"/>
              <a:gd name="connsiteY2" fmla="*/ 96423 h 96423"/>
              <a:gd name="connsiteX3" fmla="*/ 0 w 1286893"/>
              <a:gd name="connsiteY3" fmla="*/ 96423 h 964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86893" h="96423">
                <a:moveTo>
                  <a:pt x="0" y="0"/>
                </a:moveTo>
                <a:lnTo>
                  <a:pt x="1286894" y="0"/>
                </a:lnTo>
                <a:lnTo>
                  <a:pt x="1286894" y="96423"/>
                </a:lnTo>
                <a:lnTo>
                  <a:pt x="0" y="96423"/>
                </a:lnTo>
                <a:close/>
              </a:path>
            </a:pathLst>
          </a:custGeom>
          <a:solidFill>
            <a:srgbClr val="009EE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48D91661-BB6B-8D42-C429-8A35850E86AA}"/>
              </a:ext>
            </a:extLst>
          </p:cNvPr>
          <p:cNvPicPr>
            <a:picLocks/>
          </p:cNvPicPr>
          <p:nvPr userDrawn="1"/>
        </p:nvPicPr>
        <p:blipFill>
          <a:blip r:embed="rId3"/>
          <a:srcRect/>
          <a:stretch/>
        </p:blipFill>
        <p:spPr>
          <a:xfrm>
            <a:off x="0" y="3600"/>
            <a:ext cx="9144000" cy="513588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56801" y="1876926"/>
            <a:ext cx="3744000" cy="1158905"/>
          </a:xfrm>
        </p:spPr>
        <p:txBody>
          <a:bodyPr anchor="b" anchorCtr="0">
            <a:noAutofit/>
          </a:bodyPr>
          <a:lstStyle>
            <a:lvl1pPr algn="l">
              <a:lnSpc>
                <a:spcPts val="2900"/>
              </a:lnSpc>
              <a:defRPr sz="2500" b="1" spc="-10" baseline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fr-FR" noProof="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6799" y="3394615"/>
            <a:ext cx="3744000" cy="559423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300" b="0" i="0" spc="-10" baseline="0">
                <a:solidFill>
                  <a:schemeClr val="bg1"/>
                </a:solidFill>
                <a:latin typeface="Noto Sans Med" panose="020B0502040504020204" pitchFamily="34" charset="0"/>
                <a:ea typeface="Noto Sans Med" panose="020B0502040504020204" pitchFamily="34" charset="0"/>
                <a:cs typeface="Noto Sans Med" panose="020B0502040504020204" pitchFamily="34" charset="0"/>
              </a:defRPr>
            </a:lvl1pPr>
            <a:lvl2pPr marL="342857" indent="0" algn="ctr">
              <a:buNone/>
              <a:defRPr sz="1500"/>
            </a:lvl2pPr>
            <a:lvl3pPr marL="685715" indent="0" algn="ctr">
              <a:buNone/>
              <a:defRPr sz="1350"/>
            </a:lvl3pPr>
            <a:lvl4pPr marL="1028573" indent="0" algn="ctr">
              <a:buNone/>
              <a:defRPr sz="1200"/>
            </a:lvl4pPr>
            <a:lvl5pPr marL="1371431" indent="0" algn="ctr">
              <a:buNone/>
              <a:defRPr sz="1200"/>
            </a:lvl5pPr>
            <a:lvl6pPr marL="1714289" indent="0" algn="ctr">
              <a:buNone/>
              <a:defRPr sz="1200"/>
            </a:lvl6pPr>
            <a:lvl7pPr marL="2057144" indent="0" algn="ctr">
              <a:buNone/>
              <a:defRPr sz="1200"/>
            </a:lvl7pPr>
            <a:lvl8pPr marL="2400002" indent="0" algn="ctr">
              <a:buNone/>
              <a:defRPr sz="1200"/>
            </a:lvl8pPr>
            <a:lvl9pPr marL="274286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0" name="Forme libre 69">
            <a:extLst>
              <a:ext uri="{FF2B5EF4-FFF2-40B4-BE49-F238E27FC236}">
                <a16:creationId xmlns:a16="http://schemas.microsoft.com/office/drawing/2014/main" id="{D62011F9-E62E-CF7B-CDC0-8CE01CA7E752}"/>
              </a:ext>
            </a:extLst>
          </p:cNvPr>
          <p:cNvSpPr/>
          <p:nvPr userDrawn="1"/>
        </p:nvSpPr>
        <p:spPr>
          <a:xfrm>
            <a:off x="331767" y="760377"/>
            <a:ext cx="6047433" cy="96632"/>
          </a:xfrm>
          <a:custGeom>
            <a:avLst/>
            <a:gdLst>
              <a:gd name="connsiteX0" fmla="*/ 0 w 1286893"/>
              <a:gd name="connsiteY0" fmla="*/ 0 h 96423"/>
              <a:gd name="connsiteX1" fmla="*/ 1286894 w 1286893"/>
              <a:gd name="connsiteY1" fmla="*/ 0 h 96423"/>
              <a:gd name="connsiteX2" fmla="*/ 1286894 w 1286893"/>
              <a:gd name="connsiteY2" fmla="*/ 96423 h 96423"/>
              <a:gd name="connsiteX3" fmla="*/ 0 w 1286893"/>
              <a:gd name="connsiteY3" fmla="*/ 96423 h 964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86893" h="96423">
                <a:moveTo>
                  <a:pt x="0" y="0"/>
                </a:moveTo>
                <a:lnTo>
                  <a:pt x="1286894" y="0"/>
                </a:lnTo>
                <a:lnTo>
                  <a:pt x="1286894" y="96423"/>
                </a:lnTo>
                <a:lnTo>
                  <a:pt x="0" y="96423"/>
                </a:lnTo>
                <a:close/>
              </a:path>
            </a:pathLst>
          </a:custGeom>
          <a:solidFill>
            <a:srgbClr val="009EE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75" name="Forme libre 74">
            <a:extLst>
              <a:ext uri="{FF2B5EF4-FFF2-40B4-BE49-F238E27FC236}">
                <a16:creationId xmlns:a16="http://schemas.microsoft.com/office/drawing/2014/main" id="{D20C62C1-8E69-88E5-A947-332B553C156C}"/>
              </a:ext>
            </a:extLst>
          </p:cNvPr>
          <p:cNvSpPr/>
          <p:nvPr userDrawn="1"/>
        </p:nvSpPr>
        <p:spPr>
          <a:xfrm rot="16200000">
            <a:off x="-1591809" y="2724590"/>
            <a:ext cx="3943786" cy="96632"/>
          </a:xfrm>
          <a:custGeom>
            <a:avLst/>
            <a:gdLst>
              <a:gd name="connsiteX0" fmla="*/ 0 w 1286893"/>
              <a:gd name="connsiteY0" fmla="*/ 0 h 96423"/>
              <a:gd name="connsiteX1" fmla="*/ 1286894 w 1286893"/>
              <a:gd name="connsiteY1" fmla="*/ 0 h 96423"/>
              <a:gd name="connsiteX2" fmla="*/ 1286894 w 1286893"/>
              <a:gd name="connsiteY2" fmla="*/ 96423 h 96423"/>
              <a:gd name="connsiteX3" fmla="*/ 0 w 1286893"/>
              <a:gd name="connsiteY3" fmla="*/ 96423 h 964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86893" h="96423">
                <a:moveTo>
                  <a:pt x="0" y="0"/>
                </a:moveTo>
                <a:lnTo>
                  <a:pt x="1286894" y="0"/>
                </a:lnTo>
                <a:lnTo>
                  <a:pt x="1286894" y="96423"/>
                </a:lnTo>
                <a:lnTo>
                  <a:pt x="0" y="96423"/>
                </a:lnTo>
                <a:close/>
              </a:path>
            </a:pathLst>
          </a:custGeom>
          <a:solidFill>
            <a:srgbClr val="009EE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78" name="Espace réservé du texte 81">
            <a:extLst>
              <a:ext uri="{FF2B5EF4-FFF2-40B4-BE49-F238E27FC236}">
                <a16:creationId xmlns:a16="http://schemas.microsoft.com/office/drawing/2014/main" id="{CEB533F0-4A85-F96D-8736-FC987D221A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587600" y="4055749"/>
            <a:ext cx="3026141" cy="250900"/>
          </a:xfrm>
        </p:spPr>
        <p:txBody>
          <a:bodyPr anchor="b"/>
          <a:lstStyle>
            <a:lvl1pPr marL="6351" indent="0">
              <a:buNone/>
              <a:defRPr sz="700" baseline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en-GB" dirty="0"/>
              <a:t>• </a:t>
            </a:r>
            <a:r>
              <a:rPr lang="fr-FR" dirty="0">
                <a:effectLst/>
                <a:latin typeface="Noto Sans" panose="020B0502040504020204" pitchFamily="34" charset="0"/>
              </a:rPr>
              <a:t>Document for </a:t>
            </a:r>
            <a:r>
              <a:rPr lang="fr-FR" dirty="0" err="1">
                <a:effectLst/>
                <a:latin typeface="Noto Sans" panose="020B0502040504020204" pitchFamily="34" charset="0"/>
              </a:rPr>
              <a:t>professional</a:t>
            </a:r>
            <a:r>
              <a:rPr lang="fr-FR" dirty="0">
                <a:effectLst/>
                <a:latin typeface="Noto Sans" panose="020B0502040504020204" pitchFamily="34" charset="0"/>
              </a:rPr>
              <a:t> </a:t>
            </a:r>
            <a:r>
              <a:rPr lang="fr-FR" dirty="0" err="1">
                <a:effectLst/>
                <a:latin typeface="Noto Sans" panose="020B0502040504020204" pitchFamily="34" charset="0"/>
              </a:rPr>
              <a:t>investors</a:t>
            </a:r>
            <a:r>
              <a:rPr lang="fr-FR" dirty="0">
                <a:effectLst/>
                <a:latin typeface="Noto Sans" panose="020B0502040504020204" pitchFamily="34" charset="0"/>
              </a:rPr>
              <a:t> </a:t>
            </a:r>
            <a:r>
              <a:rPr lang="fr-FR" dirty="0" err="1">
                <a:effectLst/>
                <a:latin typeface="Noto Sans" panose="020B0502040504020204" pitchFamily="34" charset="0"/>
              </a:rPr>
              <a:t>only</a:t>
            </a:r>
            <a:endParaRPr lang="en-GB" dirty="0"/>
          </a:p>
        </p:txBody>
      </p:sp>
      <p:sp>
        <p:nvSpPr>
          <p:cNvPr id="7" name="Forme libre 6">
            <a:extLst>
              <a:ext uri="{FF2B5EF4-FFF2-40B4-BE49-F238E27FC236}">
                <a16:creationId xmlns:a16="http://schemas.microsoft.com/office/drawing/2014/main" id="{FF49AF96-EB84-99CE-22EA-A99929C53BC8}"/>
              </a:ext>
            </a:extLst>
          </p:cNvPr>
          <p:cNvSpPr/>
          <p:nvPr userDrawn="1"/>
        </p:nvSpPr>
        <p:spPr>
          <a:xfrm>
            <a:off x="8059928" y="760264"/>
            <a:ext cx="712597" cy="97200"/>
          </a:xfrm>
          <a:custGeom>
            <a:avLst/>
            <a:gdLst>
              <a:gd name="connsiteX0" fmla="*/ 0 w 1286893"/>
              <a:gd name="connsiteY0" fmla="*/ 0 h 96631"/>
              <a:gd name="connsiteX1" fmla="*/ 1286894 w 1286893"/>
              <a:gd name="connsiteY1" fmla="*/ 0 h 96631"/>
              <a:gd name="connsiteX2" fmla="*/ 1286894 w 1286893"/>
              <a:gd name="connsiteY2" fmla="*/ 96632 h 96631"/>
              <a:gd name="connsiteX3" fmla="*/ 0 w 1286893"/>
              <a:gd name="connsiteY3" fmla="*/ 96632 h 966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86893" h="96631">
                <a:moveTo>
                  <a:pt x="0" y="0"/>
                </a:moveTo>
                <a:lnTo>
                  <a:pt x="1286894" y="0"/>
                </a:lnTo>
                <a:lnTo>
                  <a:pt x="1286894" y="96632"/>
                </a:lnTo>
                <a:lnTo>
                  <a:pt x="0" y="96632"/>
                </a:lnTo>
                <a:close/>
              </a:path>
            </a:pathLst>
          </a:custGeom>
          <a:solidFill>
            <a:srgbClr val="019EE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11" name="Forme libre 10">
            <a:extLst>
              <a:ext uri="{FF2B5EF4-FFF2-40B4-BE49-F238E27FC236}">
                <a16:creationId xmlns:a16="http://schemas.microsoft.com/office/drawing/2014/main" id="{D86FC8AD-B83A-D1BC-C2DE-F09474A82F7F}"/>
              </a:ext>
            </a:extLst>
          </p:cNvPr>
          <p:cNvSpPr/>
          <p:nvPr userDrawn="1"/>
        </p:nvSpPr>
        <p:spPr>
          <a:xfrm rot="16200000">
            <a:off x="6738065" y="2737682"/>
            <a:ext cx="4051467" cy="96632"/>
          </a:xfrm>
          <a:custGeom>
            <a:avLst/>
            <a:gdLst>
              <a:gd name="connsiteX0" fmla="*/ 0 w 1286893"/>
              <a:gd name="connsiteY0" fmla="*/ 0 h 96423"/>
              <a:gd name="connsiteX1" fmla="*/ 1286894 w 1286893"/>
              <a:gd name="connsiteY1" fmla="*/ 0 h 96423"/>
              <a:gd name="connsiteX2" fmla="*/ 1286894 w 1286893"/>
              <a:gd name="connsiteY2" fmla="*/ 96423 h 96423"/>
              <a:gd name="connsiteX3" fmla="*/ 0 w 1286893"/>
              <a:gd name="connsiteY3" fmla="*/ 96423 h 964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86893" h="96423">
                <a:moveTo>
                  <a:pt x="0" y="0"/>
                </a:moveTo>
                <a:lnTo>
                  <a:pt x="1286894" y="0"/>
                </a:lnTo>
                <a:lnTo>
                  <a:pt x="1286894" y="96423"/>
                </a:lnTo>
                <a:lnTo>
                  <a:pt x="0" y="96423"/>
                </a:lnTo>
                <a:close/>
              </a:path>
            </a:pathLst>
          </a:custGeom>
          <a:solidFill>
            <a:srgbClr val="009EE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77" name="Espace réservé du texte 81">
            <a:extLst>
              <a:ext uri="{FF2B5EF4-FFF2-40B4-BE49-F238E27FC236}">
                <a16:creationId xmlns:a16="http://schemas.microsoft.com/office/drawing/2014/main" id="{A71CEE15-A6C7-0712-282F-A785EC1E03B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56801" y="4048484"/>
            <a:ext cx="730798" cy="258165"/>
          </a:xfrm>
        </p:spPr>
        <p:txBody>
          <a:bodyPr anchor="b"/>
          <a:lstStyle>
            <a:lvl1pPr marL="6351" indent="0">
              <a:buNone/>
              <a:defRPr sz="700" baseline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 dirty="0"/>
              <a:t>MONTH 2024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827FED3-B555-0F89-7F36-BE59B33FA636}"/>
              </a:ext>
            </a:extLst>
          </p:cNvPr>
          <p:cNvSpPr>
            <a:spLocks noChangeAspect="1"/>
          </p:cNvSpPr>
          <p:nvPr userDrawn="1"/>
        </p:nvSpPr>
        <p:spPr>
          <a:xfrm>
            <a:off x="-3" y="-1"/>
            <a:ext cx="428400" cy="428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8FE08B-A19B-B932-0C1F-A5C2590729D3}"/>
              </a:ext>
            </a:extLst>
          </p:cNvPr>
          <p:cNvSpPr>
            <a:spLocks noChangeAspect="1"/>
          </p:cNvSpPr>
          <p:nvPr userDrawn="1"/>
        </p:nvSpPr>
        <p:spPr>
          <a:xfrm>
            <a:off x="428397" y="-1"/>
            <a:ext cx="428400" cy="428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5708805-D6FB-1072-B4D3-2D05C07DBB24}"/>
              </a:ext>
            </a:extLst>
          </p:cNvPr>
          <p:cNvSpPr>
            <a:spLocks noChangeAspect="1"/>
          </p:cNvSpPr>
          <p:nvPr userDrawn="1"/>
        </p:nvSpPr>
        <p:spPr>
          <a:xfrm>
            <a:off x="853399" y="-1"/>
            <a:ext cx="428400" cy="428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C8D7AB57-A301-D1B4-5B1D-345F327FF3E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6496199" y="284400"/>
            <a:ext cx="1443600" cy="782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06173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Image 136" descr="Une image contenant ciel, Visage humain, personne, plein air&#10;&#10;Description générée automatiquement">
            <a:extLst>
              <a:ext uri="{FF2B5EF4-FFF2-40B4-BE49-F238E27FC236}">
                <a16:creationId xmlns:a16="http://schemas.microsoft.com/office/drawing/2014/main" id="{720FCE97-FD77-8FD9-73F7-3ABB406038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8810" y="2355035"/>
            <a:ext cx="4895070" cy="731176"/>
          </a:xfrm>
        </p:spPr>
        <p:txBody>
          <a:bodyPr anchor="b" anchorCtr="0">
            <a:noAutofit/>
          </a:bodyPr>
          <a:lstStyle>
            <a:lvl1pPr algn="l">
              <a:lnSpc>
                <a:spcPts val="2900"/>
              </a:lnSpc>
              <a:defRPr sz="2500" b="1" spc="-10" baseline="0">
                <a:solidFill>
                  <a:srgbClr val="001C4B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fr-FR" noProof="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8810" y="3273736"/>
            <a:ext cx="4895071" cy="559423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300" b="0" i="0" spc="-10" baseline="0">
                <a:solidFill>
                  <a:srgbClr val="001C4B"/>
                </a:solidFill>
                <a:latin typeface="Noto Sans Med" panose="020B0502040504020204" pitchFamily="34" charset="0"/>
                <a:ea typeface="Noto Sans Med" panose="020B0502040504020204" pitchFamily="34" charset="0"/>
                <a:cs typeface="Noto Sans Med" panose="020B0502040504020204" pitchFamily="34" charset="0"/>
              </a:defRPr>
            </a:lvl1pPr>
            <a:lvl2pPr marL="342857" indent="0" algn="ctr">
              <a:buNone/>
              <a:defRPr sz="1500"/>
            </a:lvl2pPr>
            <a:lvl3pPr marL="685715" indent="0" algn="ctr">
              <a:buNone/>
              <a:defRPr sz="1350"/>
            </a:lvl3pPr>
            <a:lvl4pPr marL="1028573" indent="0" algn="ctr">
              <a:buNone/>
              <a:defRPr sz="1200"/>
            </a:lvl4pPr>
            <a:lvl5pPr marL="1371431" indent="0" algn="ctr">
              <a:buNone/>
              <a:defRPr sz="1200"/>
            </a:lvl5pPr>
            <a:lvl6pPr marL="1714289" indent="0" algn="ctr">
              <a:buNone/>
              <a:defRPr sz="1200"/>
            </a:lvl6pPr>
            <a:lvl7pPr marL="2057144" indent="0" algn="ctr">
              <a:buNone/>
              <a:defRPr sz="1200"/>
            </a:lvl7pPr>
            <a:lvl8pPr marL="2400002" indent="0" algn="ctr">
              <a:buNone/>
              <a:defRPr sz="1200"/>
            </a:lvl8pPr>
            <a:lvl9pPr marL="274286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0" name="Forme libre 69">
            <a:extLst>
              <a:ext uri="{FF2B5EF4-FFF2-40B4-BE49-F238E27FC236}">
                <a16:creationId xmlns:a16="http://schemas.microsoft.com/office/drawing/2014/main" id="{D62011F9-E62E-CF7B-CDC0-8CE01CA7E752}"/>
              </a:ext>
            </a:extLst>
          </p:cNvPr>
          <p:cNvSpPr/>
          <p:nvPr userDrawn="1"/>
        </p:nvSpPr>
        <p:spPr>
          <a:xfrm>
            <a:off x="331768" y="760377"/>
            <a:ext cx="6472878" cy="96632"/>
          </a:xfrm>
          <a:custGeom>
            <a:avLst/>
            <a:gdLst>
              <a:gd name="connsiteX0" fmla="*/ 0 w 1286893"/>
              <a:gd name="connsiteY0" fmla="*/ 0 h 96423"/>
              <a:gd name="connsiteX1" fmla="*/ 1286894 w 1286893"/>
              <a:gd name="connsiteY1" fmla="*/ 0 h 96423"/>
              <a:gd name="connsiteX2" fmla="*/ 1286894 w 1286893"/>
              <a:gd name="connsiteY2" fmla="*/ 96423 h 96423"/>
              <a:gd name="connsiteX3" fmla="*/ 0 w 1286893"/>
              <a:gd name="connsiteY3" fmla="*/ 96423 h 964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86893" h="96423">
                <a:moveTo>
                  <a:pt x="0" y="0"/>
                </a:moveTo>
                <a:lnTo>
                  <a:pt x="1286894" y="0"/>
                </a:lnTo>
                <a:lnTo>
                  <a:pt x="1286894" y="96423"/>
                </a:lnTo>
                <a:lnTo>
                  <a:pt x="0" y="96423"/>
                </a:lnTo>
                <a:close/>
              </a:path>
            </a:pathLst>
          </a:custGeom>
          <a:solidFill>
            <a:srgbClr val="009EE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75" name="Forme libre 74">
            <a:extLst>
              <a:ext uri="{FF2B5EF4-FFF2-40B4-BE49-F238E27FC236}">
                <a16:creationId xmlns:a16="http://schemas.microsoft.com/office/drawing/2014/main" id="{D20C62C1-8E69-88E5-A947-332B553C156C}"/>
              </a:ext>
            </a:extLst>
          </p:cNvPr>
          <p:cNvSpPr/>
          <p:nvPr userDrawn="1"/>
        </p:nvSpPr>
        <p:spPr>
          <a:xfrm rot="16200000">
            <a:off x="-1791160" y="2923941"/>
            <a:ext cx="4342488" cy="96632"/>
          </a:xfrm>
          <a:custGeom>
            <a:avLst/>
            <a:gdLst>
              <a:gd name="connsiteX0" fmla="*/ 0 w 1286893"/>
              <a:gd name="connsiteY0" fmla="*/ 0 h 96423"/>
              <a:gd name="connsiteX1" fmla="*/ 1286894 w 1286893"/>
              <a:gd name="connsiteY1" fmla="*/ 0 h 96423"/>
              <a:gd name="connsiteX2" fmla="*/ 1286894 w 1286893"/>
              <a:gd name="connsiteY2" fmla="*/ 96423 h 96423"/>
              <a:gd name="connsiteX3" fmla="*/ 0 w 1286893"/>
              <a:gd name="connsiteY3" fmla="*/ 96423 h 964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86893" h="96423">
                <a:moveTo>
                  <a:pt x="0" y="0"/>
                </a:moveTo>
                <a:lnTo>
                  <a:pt x="1286894" y="0"/>
                </a:lnTo>
                <a:lnTo>
                  <a:pt x="1286894" y="96423"/>
                </a:lnTo>
                <a:lnTo>
                  <a:pt x="0" y="96423"/>
                </a:lnTo>
                <a:close/>
              </a:path>
            </a:pathLst>
          </a:custGeom>
          <a:solidFill>
            <a:srgbClr val="009EE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77" name="Espace réservé du texte 81">
            <a:extLst>
              <a:ext uri="{FF2B5EF4-FFF2-40B4-BE49-F238E27FC236}">
                <a16:creationId xmlns:a16="http://schemas.microsoft.com/office/drawing/2014/main" id="{A71CEE15-A6C7-0712-282F-A785EC1E03B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28810" y="4486634"/>
            <a:ext cx="759483" cy="258165"/>
          </a:xfrm>
        </p:spPr>
        <p:txBody>
          <a:bodyPr anchor="b"/>
          <a:lstStyle>
            <a:lvl1pPr marL="6351" indent="0">
              <a:buNone/>
              <a:defRPr sz="700" baseline="0">
                <a:solidFill>
                  <a:srgbClr val="001C4B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 dirty="0"/>
              <a:t>MONTH 2024</a:t>
            </a:r>
          </a:p>
        </p:txBody>
      </p:sp>
      <p:sp>
        <p:nvSpPr>
          <p:cNvPr id="78" name="Espace réservé du texte 81">
            <a:extLst>
              <a:ext uri="{FF2B5EF4-FFF2-40B4-BE49-F238E27FC236}">
                <a16:creationId xmlns:a16="http://schemas.microsoft.com/office/drawing/2014/main" id="{CEB533F0-4A85-F96D-8736-FC987D221A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588293" y="4486634"/>
            <a:ext cx="3026141" cy="258165"/>
          </a:xfrm>
        </p:spPr>
        <p:txBody>
          <a:bodyPr anchor="b"/>
          <a:lstStyle>
            <a:lvl1pPr marL="6351" indent="0">
              <a:buNone/>
              <a:defRPr sz="700" baseline="0">
                <a:solidFill>
                  <a:srgbClr val="001C4B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en-GB" dirty="0"/>
              <a:t>• </a:t>
            </a:r>
            <a:r>
              <a:rPr lang="fr-FR" dirty="0">
                <a:effectLst/>
                <a:latin typeface="Noto Sans" panose="020B0502040504020204" pitchFamily="34" charset="0"/>
              </a:rPr>
              <a:t>Document for </a:t>
            </a:r>
            <a:r>
              <a:rPr lang="fr-FR" dirty="0" err="1">
                <a:effectLst/>
                <a:latin typeface="Noto Sans" panose="020B0502040504020204" pitchFamily="34" charset="0"/>
              </a:rPr>
              <a:t>professional</a:t>
            </a:r>
            <a:r>
              <a:rPr lang="fr-FR" dirty="0">
                <a:effectLst/>
                <a:latin typeface="Noto Sans" panose="020B0502040504020204" pitchFamily="34" charset="0"/>
              </a:rPr>
              <a:t> </a:t>
            </a:r>
            <a:r>
              <a:rPr lang="fr-FR" dirty="0" err="1">
                <a:effectLst/>
                <a:latin typeface="Noto Sans" panose="020B0502040504020204" pitchFamily="34" charset="0"/>
              </a:rPr>
              <a:t>investors</a:t>
            </a:r>
            <a:r>
              <a:rPr lang="fr-FR" dirty="0">
                <a:effectLst/>
                <a:latin typeface="Noto Sans" panose="020B0502040504020204" pitchFamily="34" charset="0"/>
              </a:rPr>
              <a:t> </a:t>
            </a:r>
            <a:r>
              <a:rPr lang="fr-FR" dirty="0" err="1">
                <a:effectLst/>
                <a:latin typeface="Noto Sans" panose="020B0502040504020204" pitchFamily="34" charset="0"/>
              </a:rPr>
              <a:t>only</a:t>
            </a:r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60B6729-9DC1-9D8F-6A3A-F520E1168BCC}"/>
              </a:ext>
            </a:extLst>
          </p:cNvPr>
          <p:cNvSpPr>
            <a:spLocks noChangeAspect="1"/>
          </p:cNvSpPr>
          <p:nvPr userDrawn="1"/>
        </p:nvSpPr>
        <p:spPr>
          <a:xfrm>
            <a:off x="428397" y="-1"/>
            <a:ext cx="428400" cy="428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FD495CB-1A2C-7E68-1B8C-4DE7875DB132}"/>
              </a:ext>
            </a:extLst>
          </p:cNvPr>
          <p:cNvSpPr>
            <a:spLocks noChangeAspect="1"/>
          </p:cNvSpPr>
          <p:nvPr userDrawn="1"/>
        </p:nvSpPr>
        <p:spPr>
          <a:xfrm>
            <a:off x="853399" y="-1"/>
            <a:ext cx="428400" cy="428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902E4C7B-8D5E-B9D2-D8F6-B3BC785327B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6921061" y="284400"/>
            <a:ext cx="1443600" cy="782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52452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-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 15">
            <a:extLst>
              <a:ext uri="{FF2B5EF4-FFF2-40B4-BE49-F238E27FC236}">
                <a16:creationId xmlns:a16="http://schemas.microsoft.com/office/drawing/2014/main" id="{CC0E64A8-1760-18C4-A4A9-561107482C09}"/>
              </a:ext>
            </a:extLst>
          </p:cNvPr>
          <p:cNvPicPr>
            <a:picLocks/>
          </p:cNvPicPr>
          <p:nvPr userDrawn="1"/>
        </p:nvPicPr>
        <p:blipFill>
          <a:blip r:embed="rId2"/>
          <a:srcRect/>
          <a:stretch/>
        </p:blipFill>
        <p:spPr>
          <a:xfrm>
            <a:off x="-2" y="4044"/>
            <a:ext cx="9144000" cy="5135880"/>
          </a:xfrm>
          <a:prstGeom prst="rect">
            <a:avLst/>
          </a:prstGeom>
        </p:spPr>
      </p:pic>
      <p:sp>
        <p:nvSpPr>
          <p:cNvPr id="64" name="Forme libre 63">
            <a:extLst>
              <a:ext uri="{FF2B5EF4-FFF2-40B4-BE49-F238E27FC236}">
                <a16:creationId xmlns:a16="http://schemas.microsoft.com/office/drawing/2014/main" id="{F27D0632-0BA3-7E34-0DD8-02D49E22297A}"/>
              </a:ext>
            </a:extLst>
          </p:cNvPr>
          <p:cNvSpPr/>
          <p:nvPr userDrawn="1"/>
        </p:nvSpPr>
        <p:spPr>
          <a:xfrm>
            <a:off x="760164" y="760377"/>
            <a:ext cx="6044482" cy="96632"/>
          </a:xfrm>
          <a:custGeom>
            <a:avLst/>
            <a:gdLst>
              <a:gd name="connsiteX0" fmla="*/ 0 w 1286893"/>
              <a:gd name="connsiteY0" fmla="*/ 0 h 96423"/>
              <a:gd name="connsiteX1" fmla="*/ 1286894 w 1286893"/>
              <a:gd name="connsiteY1" fmla="*/ 0 h 96423"/>
              <a:gd name="connsiteX2" fmla="*/ 1286894 w 1286893"/>
              <a:gd name="connsiteY2" fmla="*/ 96423 h 96423"/>
              <a:gd name="connsiteX3" fmla="*/ 0 w 1286893"/>
              <a:gd name="connsiteY3" fmla="*/ 96423 h 964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86893" h="96423">
                <a:moveTo>
                  <a:pt x="0" y="0"/>
                </a:moveTo>
                <a:lnTo>
                  <a:pt x="1286894" y="0"/>
                </a:lnTo>
                <a:lnTo>
                  <a:pt x="1286894" y="96423"/>
                </a:lnTo>
                <a:lnTo>
                  <a:pt x="0" y="96423"/>
                </a:lnTo>
                <a:close/>
              </a:path>
            </a:pathLst>
          </a:custGeom>
          <a:solidFill>
            <a:srgbClr val="009EE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10" name="Forme libre 9">
            <a:extLst>
              <a:ext uri="{FF2B5EF4-FFF2-40B4-BE49-F238E27FC236}">
                <a16:creationId xmlns:a16="http://schemas.microsoft.com/office/drawing/2014/main" id="{890CC80E-BA80-6CF4-B639-E7BB94813E41}"/>
              </a:ext>
            </a:extLst>
          </p:cNvPr>
          <p:cNvSpPr/>
          <p:nvPr userDrawn="1"/>
        </p:nvSpPr>
        <p:spPr>
          <a:xfrm>
            <a:off x="760164" y="4715100"/>
            <a:ext cx="8383833" cy="96632"/>
          </a:xfrm>
          <a:custGeom>
            <a:avLst/>
            <a:gdLst>
              <a:gd name="connsiteX0" fmla="*/ 0 w 1286893"/>
              <a:gd name="connsiteY0" fmla="*/ 0 h 96423"/>
              <a:gd name="connsiteX1" fmla="*/ 1286894 w 1286893"/>
              <a:gd name="connsiteY1" fmla="*/ 0 h 96423"/>
              <a:gd name="connsiteX2" fmla="*/ 1286894 w 1286893"/>
              <a:gd name="connsiteY2" fmla="*/ 96423 h 96423"/>
              <a:gd name="connsiteX3" fmla="*/ 0 w 1286893"/>
              <a:gd name="connsiteY3" fmla="*/ 96423 h 964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86893" h="96423">
                <a:moveTo>
                  <a:pt x="0" y="0"/>
                </a:moveTo>
                <a:lnTo>
                  <a:pt x="1286894" y="0"/>
                </a:lnTo>
                <a:lnTo>
                  <a:pt x="1286894" y="96423"/>
                </a:lnTo>
                <a:lnTo>
                  <a:pt x="0" y="96423"/>
                </a:lnTo>
                <a:close/>
              </a:path>
            </a:pathLst>
          </a:custGeom>
          <a:solidFill>
            <a:srgbClr val="009EE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81799" y="1748886"/>
            <a:ext cx="3780000" cy="1286946"/>
          </a:xfrm>
        </p:spPr>
        <p:txBody>
          <a:bodyPr anchor="b" anchorCtr="0">
            <a:noAutofit/>
          </a:bodyPr>
          <a:lstStyle>
            <a:lvl1pPr algn="l">
              <a:lnSpc>
                <a:spcPts val="2900"/>
              </a:lnSpc>
              <a:defRPr sz="2500" b="1" spc="-10" baseline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fr-FR" noProof="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81798" y="3394615"/>
            <a:ext cx="3780000" cy="559423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300" b="0" i="0" spc="-10" baseline="0">
                <a:solidFill>
                  <a:schemeClr val="bg1"/>
                </a:solidFill>
                <a:latin typeface="Noto Sans Med" panose="020B0502040504020204" pitchFamily="34" charset="0"/>
                <a:ea typeface="Noto Sans Med" panose="020B0502040504020204" pitchFamily="34" charset="0"/>
                <a:cs typeface="Noto Sans Med" panose="020B0502040504020204" pitchFamily="34" charset="0"/>
              </a:defRPr>
            </a:lvl1pPr>
            <a:lvl2pPr marL="342857" indent="0" algn="ctr">
              <a:buNone/>
              <a:defRPr sz="1500"/>
            </a:lvl2pPr>
            <a:lvl3pPr marL="685715" indent="0" algn="ctr">
              <a:buNone/>
              <a:defRPr sz="1350"/>
            </a:lvl3pPr>
            <a:lvl4pPr marL="1028573" indent="0" algn="ctr">
              <a:buNone/>
              <a:defRPr sz="1200"/>
            </a:lvl4pPr>
            <a:lvl5pPr marL="1371431" indent="0" algn="ctr">
              <a:buNone/>
              <a:defRPr sz="1200"/>
            </a:lvl5pPr>
            <a:lvl6pPr marL="1714289" indent="0" algn="ctr">
              <a:buNone/>
              <a:defRPr sz="1200"/>
            </a:lvl6pPr>
            <a:lvl7pPr marL="2057144" indent="0" algn="ctr">
              <a:buNone/>
              <a:defRPr sz="1200"/>
            </a:lvl7pPr>
            <a:lvl8pPr marL="2400002" indent="0" algn="ctr">
              <a:buNone/>
              <a:defRPr sz="1200"/>
            </a:lvl8pPr>
            <a:lvl9pPr marL="274286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5" name="Forme libre 74">
            <a:extLst>
              <a:ext uri="{FF2B5EF4-FFF2-40B4-BE49-F238E27FC236}">
                <a16:creationId xmlns:a16="http://schemas.microsoft.com/office/drawing/2014/main" id="{D20C62C1-8E69-88E5-A947-332B553C156C}"/>
              </a:ext>
            </a:extLst>
          </p:cNvPr>
          <p:cNvSpPr/>
          <p:nvPr userDrawn="1"/>
        </p:nvSpPr>
        <p:spPr>
          <a:xfrm rot="16200000">
            <a:off x="-1163412" y="2724590"/>
            <a:ext cx="3943786" cy="96632"/>
          </a:xfrm>
          <a:custGeom>
            <a:avLst/>
            <a:gdLst>
              <a:gd name="connsiteX0" fmla="*/ 0 w 1286893"/>
              <a:gd name="connsiteY0" fmla="*/ 0 h 96423"/>
              <a:gd name="connsiteX1" fmla="*/ 1286894 w 1286893"/>
              <a:gd name="connsiteY1" fmla="*/ 0 h 96423"/>
              <a:gd name="connsiteX2" fmla="*/ 1286894 w 1286893"/>
              <a:gd name="connsiteY2" fmla="*/ 96423 h 96423"/>
              <a:gd name="connsiteX3" fmla="*/ 0 w 1286893"/>
              <a:gd name="connsiteY3" fmla="*/ 96423 h 964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86893" h="96423">
                <a:moveTo>
                  <a:pt x="0" y="0"/>
                </a:moveTo>
                <a:lnTo>
                  <a:pt x="1286894" y="0"/>
                </a:lnTo>
                <a:lnTo>
                  <a:pt x="1286894" y="96423"/>
                </a:lnTo>
                <a:lnTo>
                  <a:pt x="0" y="96423"/>
                </a:lnTo>
                <a:close/>
              </a:path>
            </a:pathLst>
          </a:custGeom>
          <a:solidFill>
            <a:srgbClr val="009EE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78" name="Espace réservé du texte 81">
            <a:extLst>
              <a:ext uri="{FF2B5EF4-FFF2-40B4-BE49-F238E27FC236}">
                <a16:creationId xmlns:a16="http://schemas.microsoft.com/office/drawing/2014/main" id="{CEB533F0-4A85-F96D-8736-FC987D221A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023595" y="4286490"/>
            <a:ext cx="3026141" cy="149241"/>
          </a:xfrm>
        </p:spPr>
        <p:txBody>
          <a:bodyPr anchor="b"/>
          <a:lstStyle>
            <a:lvl1pPr marL="6351" indent="0">
              <a:buNone/>
              <a:defRPr sz="700" baseline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en-GB" dirty="0"/>
              <a:t>• </a:t>
            </a:r>
            <a:r>
              <a:rPr lang="fr-FR" dirty="0">
                <a:effectLst/>
                <a:latin typeface="Noto Sans" panose="020B0502040504020204" pitchFamily="34" charset="0"/>
              </a:rPr>
              <a:t>Document for </a:t>
            </a:r>
            <a:r>
              <a:rPr lang="fr-FR" dirty="0" err="1">
                <a:effectLst/>
                <a:latin typeface="Noto Sans" panose="020B0502040504020204" pitchFamily="34" charset="0"/>
              </a:rPr>
              <a:t>professional</a:t>
            </a:r>
            <a:r>
              <a:rPr lang="fr-FR" dirty="0">
                <a:effectLst/>
                <a:latin typeface="Noto Sans" panose="020B0502040504020204" pitchFamily="34" charset="0"/>
              </a:rPr>
              <a:t> </a:t>
            </a:r>
            <a:r>
              <a:rPr lang="fr-FR" dirty="0" err="1">
                <a:effectLst/>
                <a:latin typeface="Noto Sans" panose="020B0502040504020204" pitchFamily="34" charset="0"/>
              </a:rPr>
              <a:t>investors</a:t>
            </a:r>
            <a:r>
              <a:rPr lang="fr-FR" dirty="0">
                <a:effectLst/>
                <a:latin typeface="Noto Sans" panose="020B0502040504020204" pitchFamily="34" charset="0"/>
              </a:rPr>
              <a:t> </a:t>
            </a:r>
            <a:r>
              <a:rPr lang="fr-FR" dirty="0" err="1">
                <a:effectLst/>
                <a:latin typeface="Noto Sans" panose="020B0502040504020204" pitchFamily="34" charset="0"/>
              </a:rPr>
              <a:t>only</a:t>
            </a:r>
            <a:endParaRPr lang="en-GB" dirty="0"/>
          </a:p>
        </p:txBody>
      </p:sp>
      <p:sp>
        <p:nvSpPr>
          <p:cNvPr id="7" name="Forme libre 6">
            <a:extLst>
              <a:ext uri="{FF2B5EF4-FFF2-40B4-BE49-F238E27FC236}">
                <a16:creationId xmlns:a16="http://schemas.microsoft.com/office/drawing/2014/main" id="{FF49AF96-EB84-99CE-22EA-A99929C53BC8}"/>
              </a:ext>
            </a:extLst>
          </p:cNvPr>
          <p:cNvSpPr/>
          <p:nvPr userDrawn="1"/>
        </p:nvSpPr>
        <p:spPr>
          <a:xfrm>
            <a:off x="8484111" y="760264"/>
            <a:ext cx="659890" cy="97200"/>
          </a:xfrm>
          <a:custGeom>
            <a:avLst/>
            <a:gdLst>
              <a:gd name="connsiteX0" fmla="*/ 0 w 1286893"/>
              <a:gd name="connsiteY0" fmla="*/ 0 h 96631"/>
              <a:gd name="connsiteX1" fmla="*/ 1286894 w 1286893"/>
              <a:gd name="connsiteY1" fmla="*/ 0 h 96631"/>
              <a:gd name="connsiteX2" fmla="*/ 1286894 w 1286893"/>
              <a:gd name="connsiteY2" fmla="*/ 96632 h 96631"/>
              <a:gd name="connsiteX3" fmla="*/ 0 w 1286893"/>
              <a:gd name="connsiteY3" fmla="*/ 96632 h 966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86893" h="96631">
                <a:moveTo>
                  <a:pt x="0" y="0"/>
                </a:moveTo>
                <a:lnTo>
                  <a:pt x="1286894" y="0"/>
                </a:lnTo>
                <a:lnTo>
                  <a:pt x="1286894" y="96632"/>
                </a:lnTo>
                <a:lnTo>
                  <a:pt x="0" y="96632"/>
                </a:lnTo>
                <a:close/>
              </a:path>
            </a:pathLst>
          </a:custGeom>
          <a:solidFill>
            <a:srgbClr val="019EE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77" name="Espace réservé du texte 81">
            <a:extLst>
              <a:ext uri="{FF2B5EF4-FFF2-40B4-BE49-F238E27FC236}">
                <a16:creationId xmlns:a16="http://schemas.microsoft.com/office/drawing/2014/main" id="{A71CEE15-A6C7-0712-282F-A785EC1E03B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81799" y="4177566"/>
            <a:ext cx="741794" cy="258165"/>
          </a:xfrm>
        </p:spPr>
        <p:txBody>
          <a:bodyPr anchor="b"/>
          <a:lstStyle>
            <a:lvl1pPr marL="6351" indent="0">
              <a:buNone/>
              <a:defRPr sz="700" baseline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 dirty="0"/>
              <a:t>MONTH 2024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4338C511-9884-8CFC-D291-656E2284D004}"/>
              </a:ext>
            </a:extLst>
          </p:cNvPr>
          <p:cNvSpPr>
            <a:spLocks noChangeAspect="1"/>
          </p:cNvSpPr>
          <p:nvPr userDrawn="1"/>
        </p:nvSpPr>
        <p:spPr>
          <a:xfrm>
            <a:off x="-3" y="-1"/>
            <a:ext cx="428400" cy="428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7BD4B1EA-B810-F1B6-BD5F-87E518D49A1B}"/>
              </a:ext>
            </a:extLst>
          </p:cNvPr>
          <p:cNvSpPr>
            <a:spLocks noChangeAspect="1"/>
          </p:cNvSpPr>
          <p:nvPr userDrawn="1"/>
        </p:nvSpPr>
        <p:spPr>
          <a:xfrm>
            <a:off x="428397" y="-1"/>
            <a:ext cx="428400" cy="428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448F566D-0CD2-8ED0-5A64-E4AEA1536A41}"/>
              </a:ext>
            </a:extLst>
          </p:cNvPr>
          <p:cNvSpPr>
            <a:spLocks noChangeAspect="1"/>
          </p:cNvSpPr>
          <p:nvPr userDrawn="1"/>
        </p:nvSpPr>
        <p:spPr>
          <a:xfrm>
            <a:off x="853399" y="-1"/>
            <a:ext cx="428400" cy="428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FAC98F8E-C622-6DB7-163C-066B74BCE35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6921061" y="284400"/>
            <a:ext cx="1443600" cy="782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73491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-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Image 16">
            <a:extLst>
              <a:ext uri="{FF2B5EF4-FFF2-40B4-BE49-F238E27FC236}">
                <a16:creationId xmlns:a16="http://schemas.microsoft.com/office/drawing/2014/main" id="{2D9C3C22-E1F9-66F7-0BBE-2901FF18D331}"/>
              </a:ext>
            </a:extLst>
          </p:cNvPr>
          <p:cNvPicPr>
            <a:picLocks/>
          </p:cNvPicPr>
          <p:nvPr userDrawn="1"/>
        </p:nvPicPr>
        <p:blipFill>
          <a:blip r:embed="rId2"/>
          <a:srcRect/>
          <a:stretch/>
        </p:blipFill>
        <p:spPr>
          <a:xfrm>
            <a:off x="-1" y="0"/>
            <a:ext cx="9144000" cy="5143500"/>
          </a:xfrm>
          <a:prstGeom prst="rect">
            <a:avLst/>
          </a:prstGeom>
        </p:spPr>
      </p:pic>
      <p:sp>
        <p:nvSpPr>
          <p:cNvPr id="10" name="Forme libre 9">
            <a:extLst>
              <a:ext uri="{FF2B5EF4-FFF2-40B4-BE49-F238E27FC236}">
                <a16:creationId xmlns:a16="http://schemas.microsoft.com/office/drawing/2014/main" id="{890CC80E-BA80-6CF4-B639-E7BB94813E41}"/>
              </a:ext>
            </a:extLst>
          </p:cNvPr>
          <p:cNvSpPr/>
          <p:nvPr userDrawn="1"/>
        </p:nvSpPr>
        <p:spPr>
          <a:xfrm>
            <a:off x="331767" y="4715100"/>
            <a:ext cx="8440758" cy="96632"/>
          </a:xfrm>
          <a:custGeom>
            <a:avLst/>
            <a:gdLst>
              <a:gd name="connsiteX0" fmla="*/ 0 w 1286893"/>
              <a:gd name="connsiteY0" fmla="*/ 0 h 96423"/>
              <a:gd name="connsiteX1" fmla="*/ 1286894 w 1286893"/>
              <a:gd name="connsiteY1" fmla="*/ 0 h 96423"/>
              <a:gd name="connsiteX2" fmla="*/ 1286894 w 1286893"/>
              <a:gd name="connsiteY2" fmla="*/ 96423 h 96423"/>
              <a:gd name="connsiteX3" fmla="*/ 0 w 1286893"/>
              <a:gd name="connsiteY3" fmla="*/ 96423 h 964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86893" h="96423">
                <a:moveTo>
                  <a:pt x="0" y="0"/>
                </a:moveTo>
                <a:lnTo>
                  <a:pt x="1286894" y="0"/>
                </a:lnTo>
                <a:lnTo>
                  <a:pt x="1286894" y="96423"/>
                </a:lnTo>
                <a:lnTo>
                  <a:pt x="0" y="96423"/>
                </a:lnTo>
                <a:close/>
              </a:path>
            </a:pathLst>
          </a:custGeom>
          <a:solidFill>
            <a:srgbClr val="009EE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70" name="Forme libre 69">
            <a:extLst>
              <a:ext uri="{FF2B5EF4-FFF2-40B4-BE49-F238E27FC236}">
                <a16:creationId xmlns:a16="http://schemas.microsoft.com/office/drawing/2014/main" id="{D62011F9-E62E-CF7B-CDC0-8CE01CA7E752}"/>
              </a:ext>
            </a:extLst>
          </p:cNvPr>
          <p:cNvSpPr/>
          <p:nvPr userDrawn="1"/>
        </p:nvSpPr>
        <p:spPr>
          <a:xfrm>
            <a:off x="331767" y="760377"/>
            <a:ext cx="6047433" cy="96632"/>
          </a:xfrm>
          <a:custGeom>
            <a:avLst/>
            <a:gdLst>
              <a:gd name="connsiteX0" fmla="*/ 0 w 1286893"/>
              <a:gd name="connsiteY0" fmla="*/ 0 h 96423"/>
              <a:gd name="connsiteX1" fmla="*/ 1286894 w 1286893"/>
              <a:gd name="connsiteY1" fmla="*/ 0 h 96423"/>
              <a:gd name="connsiteX2" fmla="*/ 1286894 w 1286893"/>
              <a:gd name="connsiteY2" fmla="*/ 96423 h 96423"/>
              <a:gd name="connsiteX3" fmla="*/ 0 w 1286893"/>
              <a:gd name="connsiteY3" fmla="*/ 96423 h 964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86893" h="96423">
                <a:moveTo>
                  <a:pt x="0" y="0"/>
                </a:moveTo>
                <a:lnTo>
                  <a:pt x="1286894" y="0"/>
                </a:lnTo>
                <a:lnTo>
                  <a:pt x="1286894" y="96423"/>
                </a:lnTo>
                <a:lnTo>
                  <a:pt x="0" y="96423"/>
                </a:lnTo>
                <a:close/>
              </a:path>
            </a:pathLst>
          </a:custGeom>
          <a:solidFill>
            <a:srgbClr val="009EE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75" name="Forme libre 74">
            <a:extLst>
              <a:ext uri="{FF2B5EF4-FFF2-40B4-BE49-F238E27FC236}">
                <a16:creationId xmlns:a16="http://schemas.microsoft.com/office/drawing/2014/main" id="{D20C62C1-8E69-88E5-A947-332B553C156C}"/>
              </a:ext>
            </a:extLst>
          </p:cNvPr>
          <p:cNvSpPr/>
          <p:nvPr userDrawn="1"/>
        </p:nvSpPr>
        <p:spPr>
          <a:xfrm rot="16200000">
            <a:off x="-1591809" y="2724590"/>
            <a:ext cx="3943786" cy="96632"/>
          </a:xfrm>
          <a:custGeom>
            <a:avLst/>
            <a:gdLst>
              <a:gd name="connsiteX0" fmla="*/ 0 w 1286893"/>
              <a:gd name="connsiteY0" fmla="*/ 0 h 96423"/>
              <a:gd name="connsiteX1" fmla="*/ 1286894 w 1286893"/>
              <a:gd name="connsiteY1" fmla="*/ 0 h 96423"/>
              <a:gd name="connsiteX2" fmla="*/ 1286894 w 1286893"/>
              <a:gd name="connsiteY2" fmla="*/ 96423 h 96423"/>
              <a:gd name="connsiteX3" fmla="*/ 0 w 1286893"/>
              <a:gd name="connsiteY3" fmla="*/ 96423 h 964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86893" h="96423">
                <a:moveTo>
                  <a:pt x="0" y="0"/>
                </a:moveTo>
                <a:lnTo>
                  <a:pt x="1286894" y="0"/>
                </a:lnTo>
                <a:lnTo>
                  <a:pt x="1286894" y="96423"/>
                </a:lnTo>
                <a:lnTo>
                  <a:pt x="0" y="96423"/>
                </a:lnTo>
                <a:close/>
              </a:path>
            </a:pathLst>
          </a:custGeom>
          <a:solidFill>
            <a:srgbClr val="009EE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E032D6A9-38F9-AF23-1034-C2F4CF806540}"/>
              </a:ext>
            </a:extLst>
          </p:cNvPr>
          <p:cNvPicPr>
            <a:picLocks/>
          </p:cNvPicPr>
          <p:nvPr userDrawn="1"/>
        </p:nvPicPr>
        <p:blipFill>
          <a:blip r:embed="rId3"/>
          <a:srcRect/>
          <a:stretch/>
        </p:blipFill>
        <p:spPr>
          <a:xfrm>
            <a:off x="0" y="4260"/>
            <a:ext cx="9144000" cy="513588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44640" y="1380197"/>
            <a:ext cx="3960000" cy="1014522"/>
          </a:xfrm>
        </p:spPr>
        <p:txBody>
          <a:bodyPr anchor="b" anchorCtr="0">
            <a:noAutofit/>
          </a:bodyPr>
          <a:lstStyle>
            <a:lvl1pPr algn="l">
              <a:lnSpc>
                <a:spcPts val="2900"/>
              </a:lnSpc>
              <a:defRPr sz="2500" b="1" spc="-10" baseline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fr-FR" noProof="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444640" y="2539255"/>
            <a:ext cx="3960000" cy="378197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300" b="0" i="0" spc="-10" baseline="0">
                <a:solidFill>
                  <a:schemeClr val="bg1"/>
                </a:solidFill>
                <a:latin typeface="Noto Sans Med" panose="020B0502040504020204" pitchFamily="34" charset="0"/>
                <a:ea typeface="Noto Sans Med" panose="020B0502040504020204" pitchFamily="34" charset="0"/>
                <a:cs typeface="Noto Sans Med" panose="020B0502040504020204" pitchFamily="34" charset="0"/>
              </a:defRPr>
            </a:lvl1pPr>
            <a:lvl2pPr marL="342857" indent="0" algn="ctr">
              <a:buNone/>
              <a:defRPr sz="1500"/>
            </a:lvl2pPr>
            <a:lvl3pPr marL="685715" indent="0" algn="ctr">
              <a:buNone/>
              <a:defRPr sz="1350"/>
            </a:lvl3pPr>
            <a:lvl4pPr marL="1028573" indent="0" algn="ctr">
              <a:buNone/>
              <a:defRPr sz="1200"/>
            </a:lvl4pPr>
            <a:lvl5pPr marL="1371431" indent="0" algn="ctr">
              <a:buNone/>
              <a:defRPr sz="1200"/>
            </a:lvl5pPr>
            <a:lvl6pPr marL="1714289" indent="0" algn="ctr">
              <a:buNone/>
              <a:defRPr sz="1200"/>
            </a:lvl6pPr>
            <a:lvl7pPr marL="2057144" indent="0" algn="ctr">
              <a:buNone/>
              <a:defRPr sz="1200"/>
            </a:lvl7pPr>
            <a:lvl8pPr marL="2400002" indent="0" algn="ctr">
              <a:buNone/>
              <a:defRPr sz="1200"/>
            </a:lvl8pPr>
            <a:lvl9pPr marL="274286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Forme libre 6">
            <a:extLst>
              <a:ext uri="{FF2B5EF4-FFF2-40B4-BE49-F238E27FC236}">
                <a16:creationId xmlns:a16="http://schemas.microsoft.com/office/drawing/2014/main" id="{FF49AF96-EB84-99CE-22EA-A99929C53BC8}"/>
              </a:ext>
            </a:extLst>
          </p:cNvPr>
          <p:cNvSpPr/>
          <p:nvPr userDrawn="1"/>
        </p:nvSpPr>
        <p:spPr>
          <a:xfrm>
            <a:off x="8059928" y="760264"/>
            <a:ext cx="712597" cy="97200"/>
          </a:xfrm>
          <a:custGeom>
            <a:avLst/>
            <a:gdLst>
              <a:gd name="connsiteX0" fmla="*/ 0 w 1286893"/>
              <a:gd name="connsiteY0" fmla="*/ 0 h 96631"/>
              <a:gd name="connsiteX1" fmla="*/ 1286894 w 1286893"/>
              <a:gd name="connsiteY1" fmla="*/ 0 h 96631"/>
              <a:gd name="connsiteX2" fmla="*/ 1286894 w 1286893"/>
              <a:gd name="connsiteY2" fmla="*/ 96632 h 96631"/>
              <a:gd name="connsiteX3" fmla="*/ 0 w 1286893"/>
              <a:gd name="connsiteY3" fmla="*/ 96632 h 966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86893" h="96631">
                <a:moveTo>
                  <a:pt x="0" y="0"/>
                </a:moveTo>
                <a:lnTo>
                  <a:pt x="1286894" y="0"/>
                </a:lnTo>
                <a:lnTo>
                  <a:pt x="1286894" y="96632"/>
                </a:lnTo>
                <a:lnTo>
                  <a:pt x="0" y="96632"/>
                </a:lnTo>
                <a:close/>
              </a:path>
            </a:pathLst>
          </a:custGeom>
          <a:solidFill>
            <a:srgbClr val="019EE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11" name="Forme libre 10">
            <a:extLst>
              <a:ext uri="{FF2B5EF4-FFF2-40B4-BE49-F238E27FC236}">
                <a16:creationId xmlns:a16="http://schemas.microsoft.com/office/drawing/2014/main" id="{D86FC8AD-B83A-D1BC-C2DE-F09474A82F7F}"/>
              </a:ext>
            </a:extLst>
          </p:cNvPr>
          <p:cNvSpPr/>
          <p:nvPr userDrawn="1"/>
        </p:nvSpPr>
        <p:spPr>
          <a:xfrm rot="16200000">
            <a:off x="6738065" y="2737682"/>
            <a:ext cx="4051467" cy="96632"/>
          </a:xfrm>
          <a:custGeom>
            <a:avLst/>
            <a:gdLst>
              <a:gd name="connsiteX0" fmla="*/ 0 w 1286893"/>
              <a:gd name="connsiteY0" fmla="*/ 0 h 96423"/>
              <a:gd name="connsiteX1" fmla="*/ 1286894 w 1286893"/>
              <a:gd name="connsiteY1" fmla="*/ 0 h 96423"/>
              <a:gd name="connsiteX2" fmla="*/ 1286894 w 1286893"/>
              <a:gd name="connsiteY2" fmla="*/ 96423 h 96423"/>
              <a:gd name="connsiteX3" fmla="*/ 0 w 1286893"/>
              <a:gd name="connsiteY3" fmla="*/ 96423 h 964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86893" h="96423">
                <a:moveTo>
                  <a:pt x="0" y="0"/>
                </a:moveTo>
                <a:lnTo>
                  <a:pt x="1286894" y="0"/>
                </a:lnTo>
                <a:lnTo>
                  <a:pt x="1286894" y="96423"/>
                </a:lnTo>
                <a:lnTo>
                  <a:pt x="0" y="96423"/>
                </a:lnTo>
                <a:close/>
              </a:path>
            </a:pathLst>
          </a:custGeom>
          <a:solidFill>
            <a:srgbClr val="009EE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4" name="Espace réservé du texte 81">
            <a:extLst>
              <a:ext uri="{FF2B5EF4-FFF2-40B4-BE49-F238E27FC236}">
                <a16:creationId xmlns:a16="http://schemas.microsoft.com/office/drawing/2014/main" id="{C0267CE8-86F1-4DD1-F836-7EA656218E7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444640" y="4217977"/>
            <a:ext cx="3026141" cy="149241"/>
          </a:xfrm>
        </p:spPr>
        <p:txBody>
          <a:bodyPr anchor="b"/>
          <a:lstStyle>
            <a:lvl1pPr marL="6351" indent="0">
              <a:buNone/>
              <a:defRPr sz="700" baseline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en-GB" dirty="0"/>
              <a:t>• </a:t>
            </a:r>
            <a:r>
              <a:rPr lang="fr-FR" dirty="0">
                <a:effectLst/>
                <a:latin typeface="Noto Sans" panose="020B0502040504020204" pitchFamily="34" charset="0"/>
              </a:rPr>
              <a:t>Document for </a:t>
            </a:r>
            <a:r>
              <a:rPr lang="fr-FR" dirty="0" err="1">
                <a:effectLst/>
                <a:latin typeface="Noto Sans" panose="020B0502040504020204" pitchFamily="34" charset="0"/>
              </a:rPr>
              <a:t>professional</a:t>
            </a:r>
            <a:r>
              <a:rPr lang="fr-FR" dirty="0">
                <a:effectLst/>
                <a:latin typeface="Noto Sans" panose="020B0502040504020204" pitchFamily="34" charset="0"/>
              </a:rPr>
              <a:t> </a:t>
            </a:r>
            <a:r>
              <a:rPr lang="fr-FR" dirty="0" err="1">
                <a:effectLst/>
                <a:latin typeface="Noto Sans" panose="020B0502040504020204" pitchFamily="34" charset="0"/>
              </a:rPr>
              <a:t>investors</a:t>
            </a:r>
            <a:r>
              <a:rPr lang="fr-FR" dirty="0">
                <a:effectLst/>
                <a:latin typeface="Noto Sans" panose="020B0502040504020204" pitchFamily="34" charset="0"/>
              </a:rPr>
              <a:t> </a:t>
            </a:r>
            <a:r>
              <a:rPr lang="fr-FR" dirty="0" err="1">
                <a:effectLst/>
                <a:latin typeface="Noto Sans" panose="020B0502040504020204" pitchFamily="34" charset="0"/>
              </a:rPr>
              <a:t>only</a:t>
            </a:r>
            <a:endParaRPr lang="en-GB" dirty="0"/>
          </a:p>
        </p:txBody>
      </p:sp>
      <p:sp>
        <p:nvSpPr>
          <p:cNvPr id="5" name="Espace réservé du texte 81">
            <a:extLst>
              <a:ext uri="{FF2B5EF4-FFF2-40B4-BE49-F238E27FC236}">
                <a16:creationId xmlns:a16="http://schemas.microsoft.com/office/drawing/2014/main" id="{88387400-4586-2124-2906-E420FAC8ADC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44640" y="2994251"/>
            <a:ext cx="1042593" cy="258165"/>
          </a:xfrm>
        </p:spPr>
        <p:txBody>
          <a:bodyPr anchor="t" anchorCtr="0"/>
          <a:lstStyle>
            <a:lvl1pPr marL="6351" indent="0">
              <a:buNone/>
              <a:defRPr sz="700" baseline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 dirty="0"/>
              <a:t>MONTH 2024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F82804DD-DD1B-2F3D-5F63-FBF13AD3228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6496199" y="284400"/>
            <a:ext cx="1443600" cy="782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56038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-and-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652" y="428400"/>
            <a:ext cx="8287200" cy="2906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48" y="1119600"/>
            <a:ext cx="8287200" cy="299700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title  l  00 month 0000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A55B2-71C7-D142-9718-47F3DB26F441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8" name="Espace réservé du texte 7"/>
          <p:cNvSpPr>
            <a:spLocks noGrp="1"/>
          </p:cNvSpPr>
          <p:nvPr>
            <p:ph type="body" sz="quarter" idx="13"/>
          </p:nvPr>
        </p:nvSpPr>
        <p:spPr>
          <a:xfrm>
            <a:off x="428648" y="759018"/>
            <a:ext cx="8287200" cy="228362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rgbClr val="0073A3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Espace réservé du texte 6"/>
          <p:cNvSpPr>
            <a:spLocks noGrp="1"/>
          </p:cNvSpPr>
          <p:nvPr>
            <p:ph type="body" sz="quarter" idx="14"/>
          </p:nvPr>
        </p:nvSpPr>
        <p:spPr>
          <a:xfrm>
            <a:off x="428399" y="4095900"/>
            <a:ext cx="8287200" cy="459000"/>
          </a:xfrm>
        </p:spPr>
        <p:txBody>
          <a:bodyPr anchor="b">
            <a:noAutofit/>
          </a:bodyPr>
          <a:lstStyle>
            <a:lvl1pPr marL="6351" indent="0" algn="just">
              <a:buNone/>
              <a:defRPr sz="700">
                <a:solidFill>
                  <a:srgbClr val="005483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100869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399" y="428400"/>
            <a:ext cx="8287200" cy="2906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title  l  00 month 0000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A55B2-71C7-D142-9718-47F3DB26F441}" type="slidenum">
              <a:rPr lang="en-GB" smtClean="0"/>
              <a:t>‹#›</a:t>
            </a:fld>
            <a:endParaRPr lang="en-GB"/>
          </a:p>
        </p:txBody>
      </p:sp>
      <p:sp>
        <p:nvSpPr>
          <p:cNvPr id="8" name="Espace réservé du texte 7"/>
          <p:cNvSpPr>
            <a:spLocks noGrp="1"/>
          </p:cNvSpPr>
          <p:nvPr>
            <p:ph type="body" sz="quarter" idx="13"/>
          </p:nvPr>
        </p:nvSpPr>
        <p:spPr>
          <a:xfrm>
            <a:off x="428400" y="759018"/>
            <a:ext cx="8287200" cy="228362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rgbClr val="0073A3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905141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space réservé du texte 10"/>
          <p:cNvSpPr>
            <a:spLocks noGrp="1"/>
          </p:cNvSpPr>
          <p:nvPr>
            <p:ph type="body" sz="quarter" idx="13"/>
          </p:nvPr>
        </p:nvSpPr>
        <p:spPr>
          <a:xfrm>
            <a:off x="900000" y="1148400"/>
            <a:ext cx="7772089" cy="1084983"/>
          </a:xfrm>
        </p:spPr>
        <p:txBody>
          <a:bodyPr>
            <a:noAutofit/>
          </a:bodyPr>
          <a:lstStyle>
            <a:lvl1pPr marL="0" indent="0">
              <a:buNone/>
              <a:defRPr sz="7200">
                <a:solidFill>
                  <a:srgbClr val="00B4E0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627EB70-D448-DE46-90B8-D45BE7C8F1B0}"/>
              </a:ext>
            </a:extLst>
          </p:cNvPr>
          <p:cNvSpPr/>
          <p:nvPr userDrawn="1"/>
        </p:nvSpPr>
        <p:spPr>
          <a:xfrm>
            <a:off x="1" y="2408400"/>
            <a:ext cx="9144000" cy="1922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7500" rtlCol="0" anchor="ctr"/>
          <a:lstStyle/>
          <a:p>
            <a:pPr algn="ctr"/>
            <a:endParaRPr lang="fr-FR" sz="135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8800" y="2624400"/>
            <a:ext cx="7772089" cy="376743"/>
          </a:xfrm>
        </p:spPr>
        <p:txBody>
          <a:bodyPr anchor="t" anchorCtr="0">
            <a:noAutofit/>
          </a:bodyPr>
          <a:lstStyle>
            <a:lvl1pPr>
              <a:defRPr sz="29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8800" y="3034800"/>
            <a:ext cx="7772089" cy="999141"/>
          </a:xfrm>
        </p:spPr>
        <p:txBody>
          <a:bodyPr>
            <a:normAutofit/>
          </a:bodyPr>
          <a:lstStyle>
            <a:lvl1pPr marL="0" indent="0">
              <a:buNone/>
              <a:defRPr sz="2100" spc="80" baseline="0">
                <a:solidFill>
                  <a:schemeClr val="tx1"/>
                </a:solidFill>
              </a:defRPr>
            </a:lvl1pPr>
            <a:lvl2pPr marL="45717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55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3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1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8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6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title  l  00 month 0000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A55B2-71C7-D142-9718-47F3DB26F441}" type="slidenum">
              <a:rPr lang="en-GB" smtClean="0"/>
              <a:t>‹#›</a:t>
            </a:fld>
            <a:endParaRPr lang="en-GB"/>
          </a:p>
        </p:txBody>
      </p:sp>
      <p:sp>
        <p:nvSpPr>
          <p:cNvPr id="9" name="Rectangle 8"/>
          <p:cNvSpPr/>
          <p:nvPr/>
        </p:nvSpPr>
        <p:spPr>
          <a:xfrm>
            <a:off x="428400" y="4671000"/>
            <a:ext cx="360000" cy="27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endParaRPr lang="fr-FR" sz="1800"/>
          </a:p>
        </p:txBody>
      </p:sp>
      <p:sp>
        <p:nvSpPr>
          <p:cNvPr id="15" name="Espace réservé du texte 14"/>
          <p:cNvSpPr>
            <a:spLocks noGrp="1"/>
          </p:cNvSpPr>
          <p:nvPr>
            <p:ph type="body" sz="quarter" idx="14"/>
          </p:nvPr>
        </p:nvSpPr>
        <p:spPr>
          <a:xfrm>
            <a:off x="928800" y="3981600"/>
            <a:ext cx="7772089" cy="218870"/>
          </a:xfrm>
        </p:spPr>
        <p:txBody>
          <a:bodyPr>
            <a:normAutofit/>
          </a:bodyPr>
          <a:lstStyle>
            <a:lvl1pPr marL="0" indent="0">
              <a:buNone/>
              <a:defRPr sz="1100" spc="51" baseline="0">
                <a:solidFill>
                  <a:srgbClr val="005483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2" name="Connecteur droit 8">
            <a:extLst>
              <a:ext uri="{FF2B5EF4-FFF2-40B4-BE49-F238E27FC236}">
                <a16:creationId xmlns:a16="http://schemas.microsoft.com/office/drawing/2014/main" id="{373BB06B-E64D-7E43-B3D3-0BCA63FAD594}"/>
              </a:ext>
            </a:extLst>
          </p:cNvPr>
          <p:cNvCxnSpPr/>
          <p:nvPr userDrawn="1"/>
        </p:nvCxnSpPr>
        <p:spPr>
          <a:xfrm>
            <a:off x="607686" y="4856400"/>
            <a:ext cx="0" cy="882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phique 65">
            <a:extLst>
              <a:ext uri="{FF2B5EF4-FFF2-40B4-BE49-F238E27FC236}">
                <a16:creationId xmlns:a16="http://schemas.microsoft.com/office/drawing/2014/main" id="{3D920BCD-A9EB-616C-316D-6E741412102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56324" y="4588072"/>
            <a:ext cx="759600" cy="335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64304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567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81C33DA7-2BBD-3B4B-9C40-8699CB5B8861}"/>
              </a:ext>
            </a:extLst>
          </p:cNvPr>
          <p:cNvSpPr/>
          <p:nvPr userDrawn="1"/>
        </p:nvSpPr>
        <p:spPr>
          <a:xfrm>
            <a:off x="1" y="1390650"/>
            <a:ext cx="9144000" cy="29617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7500" rtlCol="0" anchor="ctr"/>
          <a:lstStyle/>
          <a:p>
            <a:pPr algn="ctr"/>
            <a:endParaRPr lang="fr-FR" sz="135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00000" y="813600"/>
            <a:ext cx="7775998" cy="349671"/>
          </a:xfrm>
        </p:spPr>
        <p:txBody>
          <a:bodyPr>
            <a:noAutofit/>
          </a:bodyPr>
          <a:lstStyle>
            <a:lvl1pPr>
              <a:defRPr sz="3000" b="0">
                <a:solidFill>
                  <a:srgbClr val="00B4E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fr-FR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Presentation title  l  00 month 0000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DA55B2-71C7-D142-9718-47F3DB26F441}" type="slidenum">
              <a:rPr lang="en-GB" smtClean="0"/>
              <a:t>‹#›</a:t>
            </a:fld>
            <a:endParaRPr lang="en-GB"/>
          </a:p>
        </p:txBody>
      </p:sp>
      <p:sp>
        <p:nvSpPr>
          <p:cNvPr id="6" name="Rectangle 5"/>
          <p:cNvSpPr/>
          <p:nvPr/>
        </p:nvSpPr>
        <p:spPr>
          <a:xfrm>
            <a:off x="428400" y="4671000"/>
            <a:ext cx="360000" cy="27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endParaRPr lang="fr-FR" sz="1800"/>
          </a:p>
        </p:txBody>
      </p:sp>
      <p:sp>
        <p:nvSpPr>
          <p:cNvPr id="9" name="Espace réservé du texte 8"/>
          <p:cNvSpPr>
            <a:spLocks noGrp="1"/>
          </p:cNvSpPr>
          <p:nvPr>
            <p:ph type="body" sz="quarter" idx="12"/>
          </p:nvPr>
        </p:nvSpPr>
        <p:spPr>
          <a:xfrm>
            <a:off x="900000" y="1576800"/>
            <a:ext cx="7703884" cy="2589301"/>
          </a:xfrm>
        </p:spPr>
        <p:txBody>
          <a:bodyPr/>
          <a:lstStyle>
            <a:lvl1pPr marL="269862" indent="-263513">
              <a:spcBef>
                <a:spcPts val="1200"/>
              </a:spcBef>
              <a:buClr>
                <a:schemeClr val="accent1"/>
              </a:buClr>
              <a:buSzPct val="100000"/>
              <a:buFont typeface="+mj-lt"/>
              <a:buAutoNum type="arabicPeriod"/>
              <a:tabLst/>
              <a:defRPr sz="1300" b="1">
                <a:solidFill>
                  <a:schemeClr val="tx1"/>
                </a:solidFill>
              </a:defRPr>
            </a:lvl1pPr>
            <a:lvl2pPr marL="536548" indent="-133344">
              <a:spcBef>
                <a:spcPts val="800"/>
              </a:spcBef>
              <a:tabLst/>
              <a:defRPr sz="1100"/>
            </a:lvl2pPr>
            <a:lvl3pPr marL="269986" indent="-265101">
              <a:spcBef>
                <a:spcPts val="1200"/>
              </a:spcBef>
              <a:buClr>
                <a:schemeClr val="tx2">
                  <a:lumMod val="60000"/>
                  <a:lumOff val="40000"/>
                </a:schemeClr>
              </a:buClr>
              <a:buFont typeface="+mj-lt"/>
              <a:buAutoNum type="arabicPeriod"/>
              <a:tabLst/>
              <a:defRPr sz="1600" b="1">
                <a:solidFill>
                  <a:schemeClr val="tx2">
                    <a:lumMod val="60000"/>
                    <a:lumOff val="40000"/>
                  </a:schemeClr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cxnSp>
        <p:nvCxnSpPr>
          <p:cNvPr id="10" name="Connecteur droit 8">
            <a:extLst>
              <a:ext uri="{FF2B5EF4-FFF2-40B4-BE49-F238E27FC236}">
                <a16:creationId xmlns:a16="http://schemas.microsoft.com/office/drawing/2014/main" id="{B9558D40-008F-FF4A-AEC7-37BA545CF479}"/>
              </a:ext>
            </a:extLst>
          </p:cNvPr>
          <p:cNvCxnSpPr/>
          <p:nvPr userDrawn="1"/>
        </p:nvCxnSpPr>
        <p:spPr>
          <a:xfrm>
            <a:off x="607686" y="4856400"/>
            <a:ext cx="0" cy="882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Graphique 65">
            <a:extLst>
              <a:ext uri="{FF2B5EF4-FFF2-40B4-BE49-F238E27FC236}">
                <a16:creationId xmlns:a16="http://schemas.microsoft.com/office/drawing/2014/main" id="{57C8E3F8-B86D-740E-039B-9C8DBEBA4B5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56324" y="4588072"/>
            <a:ext cx="759600" cy="335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39176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567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399" y="428400"/>
            <a:ext cx="8287200" cy="291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28399" y="1119600"/>
            <a:ext cx="4068000" cy="293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7598" y="1119600"/>
            <a:ext cx="4068000" cy="293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title  l  00 month 0000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A55B2-71C7-D142-9718-47F3DB26F441}" type="slidenum">
              <a:rPr lang="en-GB" smtClean="0"/>
              <a:t>‹#›</a:t>
            </a:fld>
            <a:endParaRPr lang="en-GB"/>
          </a:p>
        </p:txBody>
      </p:sp>
      <p:sp>
        <p:nvSpPr>
          <p:cNvPr id="9" name="Espace réservé du texte 8"/>
          <p:cNvSpPr>
            <a:spLocks noGrp="1"/>
          </p:cNvSpPr>
          <p:nvPr>
            <p:ph type="body" sz="quarter" idx="13"/>
          </p:nvPr>
        </p:nvSpPr>
        <p:spPr>
          <a:xfrm>
            <a:off x="428398" y="759018"/>
            <a:ext cx="8287200" cy="2295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rgbClr val="0073A3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Espace réservé du contenu 7"/>
          <p:cNvSpPr>
            <a:spLocks noGrp="1"/>
          </p:cNvSpPr>
          <p:nvPr>
            <p:ph sz="quarter" idx="14"/>
          </p:nvPr>
        </p:nvSpPr>
        <p:spPr>
          <a:xfrm>
            <a:off x="428398" y="4095752"/>
            <a:ext cx="8287200" cy="466725"/>
          </a:xfrm>
        </p:spPr>
        <p:txBody>
          <a:bodyPr anchor="b"/>
          <a:lstStyle>
            <a:lvl1pPr marL="6351" indent="0" algn="just">
              <a:buNone/>
              <a:defRPr sz="700">
                <a:solidFill>
                  <a:srgbClr val="005483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968281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sclaim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428400" y="4668300"/>
            <a:ext cx="360000" cy="27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endParaRPr lang="fr-FR" sz="180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Presentation title  l  00 month 0000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DA55B2-71C7-D142-9718-47F3DB26F441}" type="slidenum">
              <a:rPr lang="en-GB" smtClean="0"/>
              <a:t>‹#›</a:t>
            </a:fld>
            <a:endParaRPr lang="en-GB"/>
          </a:p>
        </p:txBody>
      </p:sp>
      <p:sp>
        <p:nvSpPr>
          <p:cNvPr id="7" name="Espace réservé du texte 6"/>
          <p:cNvSpPr>
            <a:spLocks noGrp="1"/>
          </p:cNvSpPr>
          <p:nvPr>
            <p:ph type="body" sz="quarter" idx="12"/>
          </p:nvPr>
        </p:nvSpPr>
        <p:spPr>
          <a:xfrm>
            <a:off x="428400" y="1026042"/>
            <a:ext cx="8287199" cy="3346984"/>
          </a:xfrm>
        </p:spPr>
        <p:txBody>
          <a:bodyPr anchor="b"/>
          <a:lstStyle>
            <a:lvl1pPr marL="177792" indent="-171442">
              <a:tabLst/>
              <a:defRPr sz="900">
                <a:solidFill>
                  <a:schemeClr val="accent1"/>
                </a:solidFill>
              </a:defRPr>
            </a:lvl1pPr>
            <a:lvl2pPr marL="177792" indent="0" algn="just">
              <a:buNone/>
              <a:tabLst/>
              <a:defRPr sz="700">
                <a:solidFill>
                  <a:srgbClr val="005483"/>
                </a:solidFill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cxnSp>
        <p:nvCxnSpPr>
          <p:cNvPr id="11" name="Connecteur droit 8">
            <a:extLst>
              <a:ext uri="{FF2B5EF4-FFF2-40B4-BE49-F238E27FC236}">
                <a16:creationId xmlns:a16="http://schemas.microsoft.com/office/drawing/2014/main" id="{3BE4DFD2-6DFC-B643-8CAE-041166C8F85E}"/>
              </a:ext>
            </a:extLst>
          </p:cNvPr>
          <p:cNvCxnSpPr/>
          <p:nvPr userDrawn="1"/>
        </p:nvCxnSpPr>
        <p:spPr>
          <a:xfrm>
            <a:off x="607686" y="4856400"/>
            <a:ext cx="0" cy="882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Graphique 65">
            <a:extLst>
              <a:ext uri="{FF2B5EF4-FFF2-40B4-BE49-F238E27FC236}">
                <a16:creationId xmlns:a16="http://schemas.microsoft.com/office/drawing/2014/main" id="{E27504F6-F048-B328-2091-6D2AE93D206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56324" y="4588072"/>
            <a:ext cx="759600" cy="335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47944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28399" y="428400"/>
            <a:ext cx="8287200" cy="349671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8399" y="1040401"/>
            <a:ext cx="8287200" cy="334439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117" y="4845600"/>
            <a:ext cx="5212196" cy="135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700" spc="31" baseline="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title  l  00 month 0000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8399" y="4845600"/>
            <a:ext cx="180001" cy="135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fld id="{2B1C6FFC-D040-034F-8B69-20295064E64D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13" name="Rectangle 12"/>
          <p:cNvSpPr/>
          <p:nvPr/>
        </p:nvSpPr>
        <p:spPr>
          <a:xfrm>
            <a:off x="428400" y="4671000"/>
            <a:ext cx="360000" cy="27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/>
          </a:p>
        </p:txBody>
      </p:sp>
      <p:cxnSp>
        <p:nvCxnSpPr>
          <p:cNvPr id="11" name="Connecteur droit 8">
            <a:extLst>
              <a:ext uri="{FF2B5EF4-FFF2-40B4-BE49-F238E27FC236}">
                <a16:creationId xmlns:a16="http://schemas.microsoft.com/office/drawing/2014/main" id="{7F710BDB-A926-7747-A609-83D680A864E1}"/>
              </a:ext>
            </a:extLst>
          </p:cNvPr>
          <p:cNvCxnSpPr/>
          <p:nvPr userDrawn="1"/>
        </p:nvCxnSpPr>
        <p:spPr>
          <a:xfrm>
            <a:off x="607686" y="4856400"/>
            <a:ext cx="0" cy="882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Graphique 65">
            <a:extLst>
              <a:ext uri="{FF2B5EF4-FFF2-40B4-BE49-F238E27FC236}">
                <a16:creationId xmlns:a16="http://schemas.microsoft.com/office/drawing/2014/main" id="{598061B9-6267-F86B-2291-00A64568130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956324" y="4588072"/>
            <a:ext cx="759600" cy="335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13623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</p:sldLayoutIdLst>
  <p:hf hdr="0" dt="0"/>
  <p:txStyles>
    <p:titleStyle>
      <a:lvl1pPr algn="l" defTabSz="914355" rtl="0" eaLnBrk="1" latinLnBrk="0" hangingPunct="1">
        <a:lnSpc>
          <a:spcPct val="90000"/>
        </a:lnSpc>
        <a:spcBef>
          <a:spcPct val="0"/>
        </a:spcBef>
        <a:buNone/>
        <a:defRPr sz="2100" b="1" kern="1200" spc="51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5263" indent="-188913" algn="l" defTabSz="914355" rtl="0" eaLnBrk="1" latinLnBrk="0" hangingPunct="1">
        <a:lnSpc>
          <a:spcPct val="100000"/>
        </a:lnSpc>
        <a:spcBef>
          <a:spcPts val="1000"/>
        </a:spcBef>
        <a:buClr>
          <a:schemeClr val="accent1"/>
        </a:buClr>
        <a:buSzPct val="130000"/>
        <a:buFont typeface="CambriaMath" charset="0"/>
        <a:buChar char="⎯"/>
        <a:tabLst/>
        <a:defRPr sz="1400" kern="1200">
          <a:solidFill>
            <a:srgbClr val="001C4B"/>
          </a:solidFill>
          <a:latin typeface="+mn-lt"/>
          <a:ea typeface="+mn-ea"/>
          <a:cs typeface="+mn-cs"/>
        </a:defRPr>
      </a:lvl1pPr>
      <a:lvl2pPr marL="365125" indent="-141288" algn="l" defTabSz="914355" rtl="0" eaLnBrk="1" latinLnBrk="0" hangingPunct="1">
        <a:lnSpc>
          <a:spcPct val="100000"/>
        </a:lnSpc>
        <a:spcBef>
          <a:spcPts val="500"/>
        </a:spcBef>
        <a:buClr>
          <a:schemeClr val="accent2"/>
        </a:buClr>
        <a:buFont typeface="CambriaMath" charset="0"/>
        <a:buChar char="⎯"/>
        <a:tabLst/>
        <a:defRPr sz="1200" kern="1200">
          <a:solidFill>
            <a:schemeClr val="bg2">
              <a:lumMod val="10000"/>
            </a:schemeClr>
          </a:solidFill>
          <a:latin typeface="+mn-lt"/>
          <a:ea typeface="+mn-ea"/>
          <a:cs typeface="+mn-cs"/>
        </a:defRPr>
      </a:lvl2pPr>
      <a:lvl3pPr marL="536575" indent="-125413" algn="l" defTabSz="914355" rtl="0" eaLnBrk="1" latinLnBrk="0" hangingPunct="1">
        <a:lnSpc>
          <a:spcPct val="100000"/>
        </a:lnSpc>
        <a:spcBef>
          <a:spcPts val="500"/>
        </a:spcBef>
        <a:buClr>
          <a:schemeClr val="accent2"/>
        </a:buClr>
        <a:buFont typeface="LucidaGrande-Bold" charset="0"/>
        <a:buChar char="⁃"/>
        <a:tabLst/>
        <a:defRPr sz="1000" kern="1200">
          <a:solidFill>
            <a:schemeClr val="bg2">
              <a:lumMod val="10000"/>
            </a:schemeClr>
          </a:solidFill>
          <a:latin typeface="+mn-lt"/>
          <a:ea typeface="+mn-ea"/>
          <a:cs typeface="+mn-cs"/>
        </a:defRPr>
      </a:lvl3pPr>
      <a:lvl4pPr marL="7938" indent="0" algn="l" defTabSz="914355" rtl="0" eaLnBrk="1" latinLnBrk="0" hangingPunct="1">
        <a:lnSpc>
          <a:spcPct val="100000"/>
        </a:lnSpc>
        <a:spcBef>
          <a:spcPts val="500"/>
        </a:spcBef>
        <a:buFont typeface="Arial" charset="0"/>
        <a:buNone/>
        <a:tabLst/>
        <a:defRPr sz="1000" kern="1200">
          <a:solidFill>
            <a:schemeClr val="accent4"/>
          </a:solidFill>
          <a:latin typeface="+mn-lt"/>
          <a:ea typeface="+mn-ea"/>
          <a:cs typeface="+mn-cs"/>
        </a:defRPr>
      </a:lvl4pPr>
      <a:lvl5pPr marL="7938" indent="0" algn="l" defTabSz="914355" rtl="0" eaLnBrk="1" latinLnBrk="0" hangingPunct="1">
        <a:lnSpc>
          <a:spcPct val="100000"/>
        </a:lnSpc>
        <a:spcBef>
          <a:spcPts val="500"/>
        </a:spcBef>
        <a:buFont typeface="Arial" charset="0"/>
        <a:buNone/>
        <a:tabLst/>
        <a:defRPr sz="10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2514476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3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31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8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5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3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10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8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4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3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20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Pricing Illiquidity in Strategic Asset Allocation: A Calibration Framework for Practitioners  l  September 2026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C6FFC-D040-034F-8B69-20295064E64D}" type="slidenum">
              <a:rPr lang="fr-FR" smtClean="0"/>
              <a:t>1</a:t>
            </a:fld>
            <a:endParaRPr lang="fr-FR"/>
          </a:p>
        </p:txBody>
      </p:sp>
      <p:sp>
        <p:nvSpPr>
          <p:cNvPr id="17" name="Titre 1">
            <a:extLst>
              <a:ext uri="{FF2B5EF4-FFF2-40B4-BE49-F238E27FC236}">
                <a16:creationId xmlns:a16="http://schemas.microsoft.com/office/drawing/2014/main" id="{B1CD623C-9502-BF74-5914-640DB7FBE7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399" y="428400"/>
            <a:ext cx="8287200" cy="291600"/>
          </a:xfrm>
        </p:spPr>
        <p:txBody>
          <a:bodyPr anchor="ctr">
            <a:noAutofit/>
          </a:bodyPr>
          <a:lstStyle/>
          <a:p>
            <a:r>
              <a:rPr lang="en-GB" sz="1600" dirty="0"/>
              <a:t>Pricing Illiquidity in Strategic Asset Allocation:</a:t>
            </a:r>
            <a:br>
              <a:rPr lang="en-GB" sz="1600" dirty="0"/>
            </a:br>
            <a:r>
              <a:rPr lang="en-GB" sz="1600" dirty="0"/>
              <a:t>A Calibration Framework for Practitioners</a:t>
            </a:r>
            <a:endParaRPr lang="en-GB" sz="1600" noProof="0" dirty="0"/>
          </a:p>
        </p:txBody>
      </p:sp>
      <p:sp>
        <p:nvSpPr>
          <p:cNvPr id="18" name="Content Placeholder 5">
            <a:extLst>
              <a:ext uri="{FF2B5EF4-FFF2-40B4-BE49-F238E27FC236}">
                <a16:creationId xmlns:a16="http://schemas.microsoft.com/office/drawing/2014/main" id="{3200B13C-F1ED-8F20-4D57-07C40435F2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28398" y="1173446"/>
            <a:ext cx="8287200" cy="1301294"/>
          </a:xfrm>
        </p:spPr>
        <p:txBody>
          <a:bodyPr/>
          <a:lstStyle/>
          <a:p>
            <a:pPr marL="6350" indent="0">
              <a:buNone/>
            </a:pPr>
            <a:r>
              <a:rPr lang="en-US" sz="1000" dirty="0">
                <a:solidFill>
                  <a:schemeClr val="accent1"/>
                </a:solidFill>
              </a:rPr>
              <a:t>Highlights</a:t>
            </a:r>
            <a:endParaRPr lang="en-US" sz="900" dirty="0">
              <a:solidFill>
                <a:schemeClr val="accent1"/>
              </a:solidFill>
            </a:endParaRPr>
          </a:p>
          <a:p>
            <a:pPr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GB" sz="800" b="1" dirty="0"/>
              <a:t>Challenge</a:t>
            </a:r>
            <a:r>
              <a:rPr lang="en-GB" sz="800" dirty="0"/>
              <a:t>:  Standard </a:t>
            </a:r>
            <a:r>
              <a:rPr lang="en-GB" sz="800" u="sng" dirty="0"/>
              <a:t>mean-variance optimization treats liquid and illiquid asset classes symmetrically</a:t>
            </a:r>
            <a:r>
              <a:rPr lang="en-GB" sz="800" dirty="0"/>
              <a:t>, ignoring the return drag and portfolio constraints that locking up capital imposes. These costs grow non-linearly with portfolio illiquidity and are investor-specific, yet no systematic tool exists to quantify and integrate them into the allocation process.</a:t>
            </a:r>
          </a:p>
          <a:p>
            <a:pPr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GB" sz="800" b="1" dirty="0"/>
              <a:t>Contribution</a:t>
            </a:r>
            <a:r>
              <a:rPr lang="en-GB" sz="800" dirty="0"/>
              <a:t>:  The paper proposes a </a:t>
            </a:r>
            <a:r>
              <a:rPr lang="en-GB" sz="800" u="sng" dirty="0"/>
              <a:t>simulation-based methodology</a:t>
            </a:r>
            <a:r>
              <a:rPr lang="en-GB" sz="800" dirty="0"/>
              <a:t> to identify the illiquidity penalty curve empirically, </a:t>
            </a:r>
            <a:r>
              <a:rPr lang="en-GB" sz="800" u="sng" dirty="0"/>
              <a:t>measuring the return drag across illiquidity levels</a:t>
            </a:r>
            <a:r>
              <a:rPr lang="en-GB" sz="800" dirty="0"/>
              <a:t> and fitting a parametric cost function to the results. Subjective assessment is replaced by a transparent, replicable process grounded in portfolio dynamics.</a:t>
            </a:r>
          </a:p>
          <a:p>
            <a:pPr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GB" sz="800" b="1" dirty="0"/>
              <a:t>Output</a:t>
            </a:r>
            <a:r>
              <a:rPr lang="en-GB" sz="800" dirty="0"/>
              <a:t>:  </a:t>
            </a:r>
            <a:r>
              <a:rPr lang="en-GB" sz="800" u="sng" dirty="0"/>
              <a:t>Investor-specific penalty</a:t>
            </a:r>
            <a:r>
              <a:rPr lang="en-GB" sz="800" dirty="0"/>
              <a:t> curves calibrated on Amundi's Capital Market Assumptions (CMAs) across different archetypes, </a:t>
            </a:r>
            <a:r>
              <a:rPr lang="en-GB" sz="800" u="sng" dirty="0"/>
              <a:t>feeding directly into the penalized mean-variance optimization</a:t>
            </a:r>
            <a:r>
              <a:rPr lang="en-GB" sz="800" dirty="0"/>
              <a:t> and producing allocations that reflect each investor's true liquidity preferences..</a:t>
            </a:r>
          </a:p>
        </p:txBody>
      </p:sp>
      <p:sp>
        <p:nvSpPr>
          <p:cNvPr id="20" name="Text Placeholder 13">
            <a:extLst>
              <a:ext uri="{FF2B5EF4-FFF2-40B4-BE49-F238E27FC236}">
                <a16:creationId xmlns:a16="http://schemas.microsoft.com/office/drawing/2014/main" id="{4A7B21FF-0293-6317-2C0D-00CEF2C8888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8398" y="816450"/>
            <a:ext cx="8287200" cy="229500"/>
          </a:xfrm>
        </p:spPr>
        <p:txBody>
          <a:bodyPr>
            <a:normAutofit/>
          </a:bodyPr>
          <a:lstStyle/>
          <a:p>
            <a:r>
              <a:rPr lang="en-GB" sz="1200" dirty="0"/>
              <a:t>Replacing</a:t>
            </a:r>
            <a:r>
              <a:rPr lang="en-GB" sz="1100" dirty="0"/>
              <a:t> subjective judgement with a simulation-based calibration methodology </a:t>
            </a:r>
            <a:r>
              <a:rPr lang="en-US" sz="1100" dirty="0"/>
              <a:t>– Solutions (Gisimundo, Zanetti, Meloncelli)</a:t>
            </a:r>
            <a:endParaRPr lang="fr-FR" sz="1100" dirty="0"/>
          </a:p>
        </p:txBody>
      </p:sp>
      <p:sp>
        <p:nvSpPr>
          <p:cNvPr id="21" name="Content Placeholder 5">
            <a:extLst>
              <a:ext uri="{FF2B5EF4-FFF2-40B4-BE49-F238E27FC236}">
                <a16:creationId xmlns:a16="http://schemas.microsoft.com/office/drawing/2014/main" id="{6BDD76A7-4456-5E36-36C5-90A07C8F5F8D}"/>
              </a:ext>
            </a:extLst>
          </p:cNvPr>
          <p:cNvSpPr txBox="1">
            <a:spLocks/>
          </p:cNvSpPr>
          <p:nvPr/>
        </p:nvSpPr>
        <p:spPr>
          <a:xfrm>
            <a:off x="428403" y="2474808"/>
            <a:ext cx="4068000" cy="130129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195263" indent="-188913" algn="l" defTabSz="914355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1"/>
              </a:buClr>
              <a:buSzPct val="130000"/>
              <a:buFont typeface="CambriaMath" charset="0"/>
              <a:buChar char="⎯"/>
              <a:tabLst/>
              <a:defRPr sz="1400" kern="1200">
                <a:solidFill>
                  <a:srgbClr val="001C4B"/>
                </a:solidFill>
                <a:latin typeface="+mn-lt"/>
                <a:ea typeface="+mn-ea"/>
                <a:cs typeface="+mn-cs"/>
              </a:defRPr>
            </a:lvl1pPr>
            <a:lvl2pPr marL="365125" indent="-141288" algn="l" defTabSz="914355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CambriaMath" charset="0"/>
              <a:buChar char="⎯"/>
              <a:tabLst/>
              <a:defRPr sz="12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36575" indent="-125413" algn="l" defTabSz="914355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LucidaGrande-Bold" charset="0"/>
              <a:buChar char="⁃"/>
              <a:tabLst/>
              <a:defRPr sz="10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938" indent="0" algn="l" defTabSz="914355" rtl="0" eaLnBrk="1" latinLnBrk="0" hangingPunct="1">
              <a:lnSpc>
                <a:spcPct val="100000"/>
              </a:lnSpc>
              <a:spcBef>
                <a:spcPts val="500"/>
              </a:spcBef>
              <a:buFont typeface="Arial" charset="0"/>
              <a:buNone/>
              <a:tabLst/>
              <a:defRPr sz="1000" kern="1200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4pPr>
            <a:lvl5pPr marL="7938" indent="0" algn="l" defTabSz="914355" rtl="0" eaLnBrk="1" latinLnBrk="0" hangingPunct="1">
              <a:lnSpc>
                <a:spcPct val="100000"/>
              </a:lnSpc>
              <a:spcBef>
                <a:spcPts val="500"/>
              </a:spcBef>
              <a:buFont typeface="Arial" charset="0"/>
              <a:buNone/>
              <a:tabLst/>
              <a:defRPr sz="1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2514476" indent="-228588" algn="l" defTabSz="91435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3" indent="-228588" algn="l" defTabSz="91435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31" indent="-228588" algn="l" defTabSz="91435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8" indent="-228588" algn="l" defTabSz="91435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350" indent="0">
              <a:buFont typeface="CambriaMath" charset="0"/>
              <a:buNone/>
            </a:pPr>
            <a:r>
              <a:rPr lang="en-US" sz="1000" dirty="0">
                <a:solidFill>
                  <a:schemeClr val="accent1"/>
                </a:solidFill>
              </a:rPr>
              <a:t>How it works</a:t>
            </a:r>
          </a:p>
          <a:p>
            <a:pPr marL="6350" indent="0">
              <a:spcBef>
                <a:spcPts val="0"/>
              </a:spcBef>
              <a:spcAft>
                <a:spcPts val="400"/>
              </a:spcAft>
              <a:buNone/>
            </a:pPr>
            <a:r>
              <a:rPr lang="en-GB" sz="800" u="sng" dirty="0"/>
              <a:t>The simulation compares</a:t>
            </a:r>
            <a:r>
              <a:rPr lang="en-GB" sz="800" dirty="0"/>
              <a:t> two portfolios sharing the same target weights, payout obligations, and minimum liquidity buffer, calibrated to Amundi's Capital Market Assumptions: </a:t>
            </a:r>
            <a:r>
              <a:rPr lang="en-GB" sz="800" u="sng" dirty="0"/>
              <a:t>a constrained real portfolio</a:t>
            </a:r>
            <a:r>
              <a:rPr lang="en-GB" sz="800" b="1" dirty="0"/>
              <a:t> </a:t>
            </a:r>
            <a:r>
              <a:rPr lang="en-GB" sz="800" dirty="0"/>
              <a:t>subject to asset-specific lock-up periods, </a:t>
            </a:r>
            <a:r>
              <a:rPr lang="en-GB" sz="800" u="sng" dirty="0"/>
              <a:t>and a frictionless liquid benchmark</a:t>
            </a:r>
            <a:r>
              <a:rPr lang="en-GB" sz="800" b="1" dirty="0"/>
              <a:t> </a:t>
            </a:r>
            <a:r>
              <a:rPr lang="en-GB" sz="800" dirty="0"/>
              <a:t>that rebalances freely at no cost.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GB" sz="800" b="1" dirty="0"/>
              <a:t>Rebalancing gap</a:t>
            </a:r>
            <a:r>
              <a:rPr lang="en-GB" sz="800" dirty="0"/>
              <a:t>:  lock-up constraints prevent free rebalancing, generating a persistent return drag relative to the benchmark.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GB" sz="800" b="1" dirty="0"/>
              <a:t>Buffer restoration haircuts</a:t>
            </a:r>
            <a:r>
              <a:rPr lang="en-GB" sz="800" dirty="0"/>
              <a:t>:  when liquid assets fall below the minimum buffer, illiquid positions are sold on the secondary market at a discount.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lang="en-GB" sz="800" b="1" dirty="0"/>
              <a:t>Payout haircuts</a:t>
            </a:r>
            <a:r>
              <a:rPr lang="en-GB" sz="800" dirty="0"/>
              <a:t>:  locked positions liquidated to meet annual distributions incur secondary market discounts, amplified when payouts spike during market downturns.</a:t>
            </a:r>
          </a:p>
          <a:p>
            <a:pPr marL="6350" indent="0">
              <a:spcBef>
                <a:spcPts val="0"/>
              </a:spcBef>
              <a:buNone/>
            </a:pPr>
            <a:r>
              <a:rPr lang="en-GB" sz="800" u="sng" dirty="0"/>
              <a:t>The average return drag</a:t>
            </a:r>
            <a:r>
              <a:rPr lang="en-GB" sz="800" dirty="0"/>
              <a:t> across scenarios and years </a:t>
            </a:r>
            <a:r>
              <a:rPr lang="en-GB" sz="800" u="sng" dirty="0"/>
              <a:t>is estimated at each illiquidity level and fitted to a parametric penalty function</a:t>
            </a:r>
            <a:r>
              <a:rPr lang="en-GB" sz="800" dirty="0"/>
              <a:t>, recovering a calibrated marginal cost curve ready for use in the penalized mean-variance optimization.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65F58126-4426-DB3F-9166-3129CA29251C}"/>
              </a:ext>
            </a:extLst>
          </p:cNvPr>
          <p:cNvSpPr txBox="1">
            <a:spLocks/>
          </p:cNvSpPr>
          <p:nvPr/>
        </p:nvSpPr>
        <p:spPr>
          <a:xfrm>
            <a:off x="4647597" y="2474808"/>
            <a:ext cx="4068000" cy="130129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195263" indent="-188913" algn="l" defTabSz="914355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1"/>
              </a:buClr>
              <a:buSzPct val="130000"/>
              <a:buFont typeface="CambriaMath" charset="0"/>
              <a:buChar char="⎯"/>
              <a:tabLst/>
              <a:defRPr sz="1400" kern="1200">
                <a:solidFill>
                  <a:srgbClr val="001C4B"/>
                </a:solidFill>
                <a:latin typeface="+mn-lt"/>
                <a:ea typeface="+mn-ea"/>
                <a:cs typeface="+mn-cs"/>
              </a:defRPr>
            </a:lvl1pPr>
            <a:lvl2pPr marL="365125" indent="-141288" algn="l" defTabSz="914355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CambriaMath" charset="0"/>
              <a:buChar char="⎯"/>
              <a:tabLst/>
              <a:defRPr sz="12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36575" indent="-125413" algn="l" defTabSz="914355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LucidaGrande-Bold" charset="0"/>
              <a:buChar char="⁃"/>
              <a:tabLst/>
              <a:defRPr sz="10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938" indent="0" algn="l" defTabSz="914355" rtl="0" eaLnBrk="1" latinLnBrk="0" hangingPunct="1">
              <a:lnSpc>
                <a:spcPct val="100000"/>
              </a:lnSpc>
              <a:spcBef>
                <a:spcPts val="500"/>
              </a:spcBef>
              <a:buFont typeface="Arial" charset="0"/>
              <a:buNone/>
              <a:tabLst/>
              <a:defRPr sz="1000" kern="1200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4pPr>
            <a:lvl5pPr marL="7938" indent="0" algn="l" defTabSz="914355" rtl="0" eaLnBrk="1" latinLnBrk="0" hangingPunct="1">
              <a:lnSpc>
                <a:spcPct val="100000"/>
              </a:lnSpc>
              <a:spcBef>
                <a:spcPts val="500"/>
              </a:spcBef>
              <a:buFont typeface="Arial" charset="0"/>
              <a:buNone/>
              <a:tabLst/>
              <a:defRPr sz="1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2514476" indent="-228588" algn="l" defTabSz="91435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3" indent="-228588" algn="l" defTabSz="91435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31" indent="-228588" algn="l" defTabSz="91435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8" indent="-228588" algn="l" defTabSz="91435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350" indent="0">
              <a:buNone/>
            </a:pPr>
            <a:r>
              <a:rPr lang="en-US" sz="1000" dirty="0">
                <a:solidFill>
                  <a:schemeClr val="accent1"/>
                </a:solidFill>
              </a:rPr>
              <a:t>Why it matters for Amundi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GB" sz="800" b="1" dirty="0"/>
              <a:t>Built on Amundi's own assumptions</a:t>
            </a:r>
            <a:r>
              <a:rPr lang="en-GB" sz="800" dirty="0"/>
              <a:t>:  Parametrised entirely on Amundi's CMAs, the framework is internally </a:t>
            </a:r>
            <a:r>
              <a:rPr lang="en-GB" sz="800" u="sng" dirty="0"/>
              <a:t>consistent with Amundi's forward-looking views</a:t>
            </a:r>
            <a:r>
              <a:rPr lang="en-GB" sz="800" dirty="0"/>
              <a:t> and directly usable in client-facing SAA mandates.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GB" sz="800" b="1" dirty="0"/>
              <a:t>Investor-specific</a:t>
            </a:r>
            <a:r>
              <a:rPr lang="en-GB" sz="800" dirty="0"/>
              <a:t>:  The methodology produces meaningfully different penalty curves across archetypes, reflecting genuine differences in payout dynamics and liability structure. </a:t>
            </a:r>
            <a:r>
              <a:rPr lang="en-GB" sz="800" u="sng" dirty="0"/>
              <a:t>A flexible tool for Amundi's full institutional client base</a:t>
            </a:r>
            <a:r>
              <a:rPr lang="en-GB" sz="800" dirty="0"/>
              <a:t>.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GB" sz="800" b="1" dirty="0"/>
              <a:t>Replicable and updatable</a:t>
            </a:r>
            <a:r>
              <a:rPr lang="en-GB" sz="800" dirty="0"/>
              <a:t>:  The calibration is transparent, auditable, and </a:t>
            </a:r>
            <a:r>
              <a:rPr lang="en-GB" sz="800" u="sng" dirty="0"/>
              <a:t>refreshable each time the CMAs are updated</a:t>
            </a:r>
            <a:r>
              <a:rPr lang="en-GB" sz="800" dirty="0"/>
              <a:t>, essential for integration into the SAA pipeline.</a:t>
            </a:r>
          </a:p>
          <a:p>
            <a:pPr>
              <a:spcBef>
                <a:spcPts val="0"/>
              </a:spcBef>
            </a:pPr>
            <a:r>
              <a:rPr lang="en-GB" sz="800" b="1" dirty="0"/>
              <a:t>A language investment committees understand</a:t>
            </a:r>
            <a:r>
              <a:rPr lang="en-GB" sz="800" dirty="0"/>
              <a:t>:  The penalized optimization expresses illiquidity costs as return premiums, making the framework </a:t>
            </a:r>
            <a:r>
              <a:rPr lang="en-GB" sz="800" u="sng" dirty="0"/>
              <a:t>accessible to non-quantitative stakeholders </a:t>
            </a:r>
            <a:r>
              <a:rPr lang="en-GB" sz="800" dirty="0"/>
              <a:t>without sacrificing analytical rigour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2945721216"/>
      </p:ext>
    </p:extLst>
  </p:cSld>
  <p:clrMapOvr>
    <a:masterClrMapping/>
  </p:clrMapOvr>
</p:sld>
</file>

<file path=ppt/theme/theme1.xml><?xml version="1.0" encoding="utf-8"?>
<a:theme xmlns:a="http://schemas.openxmlformats.org/drawingml/2006/main" name="ThemeAmundi">
  <a:themeElements>
    <a:clrScheme name="Amundi-theme_092020">
      <a:dk1>
        <a:srgbClr val="003C64"/>
      </a:dk1>
      <a:lt1>
        <a:srgbClr val="FFFFFF"/>
      </a:lt1>
      <a:dk2>
        <a:srgbClr val="646464"/>
      </a:dk2>
      <a:lt2>
        <a:srgbClr val="E7E6E6"/>
      </a:lt2>
      <a:accent1>
        <a:srgbClr val="009EE0"/>
      </a:accent1>
      <a:accent2>
        <a:srgbClr val="004F9F"/>
      </a:accent2>
      <a:accent3>
        <a:srgbClr val="38B2B6"/>
      </a:accent3>
      <a:accent4>
        <a:srgbClr val="E6325E"/>
      </a:accent4>
      <a:accent5>
        <a:srgbClr val="F07D00"/>
      </a:accent5>
      <a:accent6>
        <a:srgbClr val="C19134"/>
      </a:accent6>
      <a:hlink>
        <a:srgbClr val="00C2F0"/>
      </a:hlink>
      <a:folHlink>
        <a:srgbClr val="45719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EN_16-9_Business_Line.pptx" id="{9E8672BF-3683-442A-8518-A2B4176A6ED1}" vid="{39A12D80-DF91-458B-A4DA-B091BAD7FB87}"/>
    </a:ext>
  </a:extLst>
</a:theme>
</file>

<file path=ppt/theme/theme2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Bureau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Bureau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0</TotalTime>
  <Words>459</Words>
  <Application>Microsoft Office PowerPoint</Application>
  <PresentationFormat>On-screen Show (16:9)</PresentationFormat>
  <Paragraphs>19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CambriaMath</vt:lpstr>
      <vt:lpstr>LucidaGrande-Bold</vt:lpstr>
      <vt:lpstr>Noto Sans Med</vt:lpstr>
      <vt:lpstr>Arial</vt:lpstr>
      <vt:lpstr>Calibri</vt:lpstr>
      <vt:lpstr>Noto Sans</vt:lpstr>
      <vt:lpstr>ThemeAmundi</vt:lpstr>
      <vt:lpstr>Pricing Illiquidity in Strategic Asset Allocation: A Calibration Framework for Practitioners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Gisimundo Viviana (AMUNDI.ITA)</dc:creator>
  <cp:keywords/>
  <dc:description/>
  <cp:lastModifiedBy>Meloncelli Lorenzo (AMUNDI.ITA)</cp:lastModifiedBy>
  <cp:revision>4</cp:revision>
  <cp:lastPrinted>2017-06-09T17:47:41Z</cp:lastPrinted>
  <dcterms:created xsi:type="dcterms:W3CDTF">2025-11-26T17:30:48Z</dcterms:created>
  <dcterms:modified xsi:type="dcterms:W3CDTF">2026-09-17T08:51:59Z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NewReviewCycle">
    <vt:lpwstr/>
  </property>
  <property fmtid="{D5CDD505-2E9C-101B-9397-08002B2CF9AE}" pid="3" name="MSIP_Label_6ac45191-74e4-40a9-a4c5-ab5c9391e33a_Enabled">
    <vt:lpwstr>true</vt:lpwstr>
  </property>
  <property fmtid="{D5CDD505-2E9C-101B-9397-08002B2CF9AE}" pid="4" name="MSIP_Label_6ac45191-74e4-40a9-a4c5-ab5c9391e33a_SetDate">
    <vt:lpwstr>2023-04-06T16:01:28Z</vt:lpwstr>
  </property>
  <property fmtid="{D5CDD505-2E9C-101B-9397-08002B2CF9AE}" pid="5" name="MSIP_Label_6ac45191-74e4-40a9-a4c5-ab5c9391e33a_Method">
    <vt:lpwstr>Standard</vt:lpwstr>
  </property>
  <property fmtid="{D5CDD505-2E9C-101B-9397-08002B2CF9AE}" pid="6" name="MSIP_Label_6ac45191-74e4-40a9-a4c5-ab5c9391e33a_Name">
    <vt:lpwstr>Internal Data</vt:lpwstr>
  </property>
  <property fmtid="{D5CDD505-2E9C-101B-9397-08002B2CF9AE}" pid="7" name="MSIP_Label_6ac45191-74e4-40a9-a4c5-ab5c9391e33a_SiteId">
    <vt:lpwstr>a5c34232-eadc-4609-bff3-dd6fcdae3fe2</vt:lpwstr>
  </property>
  <property fmtid="{D5CDD505-2E9C-101B-9397-08002B2CF9AE}" pid="8" name="MSIP_Label_6ac45191-74e4-40a9-a4c5-ab5c9391e33a_ActionId">
    <vt:lpwstr>da6939bd-0ed1-46fc-b429-e412eb79254c</vt:lpwstr>
  </property>
  <property fmtid="{D5CDD505-2E9C-101B-9397-08002B2CF9AE}" pid="9" name="MSIP_Label_6ac45191-74e4-40a9-a4c5-ab5c9391e33a_ContentBits">
    <vt:lpwstr>0</vt:lpwstr>
  </property>
</Properties>
</file>