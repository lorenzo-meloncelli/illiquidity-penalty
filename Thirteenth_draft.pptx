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4" r:id="rId1"/>
  </p:sldMasterIdLst>
  <p:notesMasterIdLst>
    <p:notesMasterId r:id="rId17"/>
  </p:notesMasterIdLst>
  <p:handoutMasterIdLst>
    <p:handoutMasterId r:id="rId18"/>
  </p:handoutMasterIdLst>
  <p:sldIdLst>
    <p:sldId id="300" r:id="rId2"/>
    <p:sldId id="335" r:id="rId23"/>
    <p:sldId id="336" r:id="rId24"/>
    <p:sldId id="337" r:id="rId25"/>
    <p:sldId id="342" r:id="rId30"/>
    <p:sldId id="343" r:id="rId31"/>
    <p:sldId id="317" r:id="rId4"/>
    <p:sldId id="338" r:id="rId26"/>
    <p:sldId id="316" r:id="rId5"/>
    <p:sldId id="319" r:id="rId6"/>
    <p:sldId id="320" r:id="rId7"/>
    <p:sldId id="321" r:id="rId8"/>
    <p:sldId id="344" r:id="rId32"/>
    <p:sldId id="339" r:id="rId27"/>
    <p:sldId id="345" r:id="rId33"/>
    <p:sldId id="322" r:id="rId9"/>
    <p:sldId id="334" r:id="rId10"/>
    <p:sldId id="327" r:id="rId11"/>
    <p:sldId id="346" r:id="rId34"/>
    <p:sldId id="347" r:id="rId35"/>
    <p:sldId id="340" r:id="rId28"/>
    <p:sldId id="348" r:id="rId36"/>
    <p:sldId id="349" r:id="rId37"/>
    <p:sldId id="331" r:id="rId14"/>
    <p:sldId id="333" r:id="rId15"/>
    <p:sldId id="326" r:id="rId13"/>
    <p:sldId id="341" r:id="rId29"/>
    <p:sldId id="350" r:id="rId38"/>
    <p:sldId id="323" r:id="rId16"/>
    <p:sldId id="351" r:id="rId39"/>
  </p:sldIdLst>
  <p:sldSz cx="9144000" cy="5143500" type="screen16x9"/>
  <p:notesSz cx="6797675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6890B20-2C18-44F5-94A6-FFD02919CF3F}">
          <p14:sldIdLst>
            <p14:sldId id="300"/>
            <p14:sldId id="335"/>
            <p14:sldId id="336"/>
          </p14:sldIdLst>
        </p14:section>
        <p14:section name="01 Why illiquidity needs a price" id="{4EA76E91-96F0-4D45-96FB-CA710308DAE1}">
          <p14:sldIdLst>
            <p14:sldId id="337"/>
            <p14:sldId id="342"/>
            <p14:sldId id="343"/>
            <p14:sldId id="317"/>
          </p14:sldIdLst>
        </p14:section>
        <p14:section name="02 Penalized optimization" id="{E5251744-E5C5-4F87-886E-C3A1388286E8}">
          <p14:sldIdLst>
            <p14:sldId id="338"/>
            <p14:sldId id="316"/>
            <p14:sldId id="319"/>
            <p14:sldId id="320"/>
            <p14:sldId id="321"/>
            <p14:sldId id="344"/>
          </p14:sldIdLst>
        </p14:section>
        <p14:section name="03 Simulation-based calibration" id="{FFE31F97-1B2A-473F-96AC-997D62BFD8A3}">
          <p14:sldIdLst>
            <p14:sldId id="339"/>
            <p14:sldId id="345"/>
            <p14:sldId id="322"/>
            <p14:sldId id="334"/>
            <p14:sldId id="327"/>
            <p14:sldId id="346"/>
            <p14:sldId id="347"/>
          </p14:sldIdLst>
        </p14:section>
        <p14:section name="04 Portfolio implications" id="{EAEEABD8-A834-4219-85F9-39E476B849D0}">
          <p14:sldIdLst>
            <p14:sldId id="340"/>
            <p14:sldId id="348"/>
            <p14:sldId id="349"/>
            <p14:sldId id="331"/>
            <p14:sldId id="333"/>
            <p14:sldId id="326"/>
          </p14:sldIdLst>
        </p14:section>
        <p14:section name="05 From research to practice" id="{BECF9D2D-C43E-4882-BA09-F82D59913908}">
          <p14:sldIdLst>
            <p14:sldId id="341"/>
            <p14:sldId id="350"/>
            <p14:sldId id="323"/>
            <p14:sldId id="35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3A3"/>
    <a:srgbClr val="E2CED2"/>
    <a:srgbClr val="FCC2C6"/>
    <a:srgbClr val="EAFCE5"/>
    <a:srgbClr val="53CCFF"/>
    <a:srgbClr val="005483"/>
    <a:srgbClr val="F07D00"/>
    <a:srgbClr val="001C4B"/>
    <a:srgbClr val="102D69"/>
    <a:srgbClr val="009E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29" autoAdjust="0"/>
    <p:restoredTop sz="94694"/>
  </p:normalViewPr>
  <p:slideViewPr>
    <p:cSldViewPr snapToGrid="0" snapToObjects="1">
      <p:cViewPr>
        <p:scale>
          <a:sx n="150" d="100"/>
          <a:sy n="150" d="100"/>
        </p:scale>
        <p:origin x="60" y="-168"/>
      </p:cViewPr>
      <p:guideLst/>
    </p:cSldViewPr>
  </p:slideViewPr>
  <p:outlineViewPr>
    <p:cViewPr>
      <p:scale>
        <a:sx n="33" d="100"/>
        <a:sy n="33" d="100"/>
      </p:scale>
      <p:origin x="0" y="-4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C2663-9FAE-6346-9FDE-52ACD264882B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9F841-1EC4-7745-A2A1-241C3184D2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377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BE3DF-9B42-6F42-B595-8789B0F99C6A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CB9D9-8607-4446-80EE-4BEFE06B9B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9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2889D-3DDD-F187-BE7D-828633047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05740-5BBB-1DE8-C096-38D5D3331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69EF7-22AF-FAC8-106C-B5DFD87CA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Positioning: HPC (2015) gives the framework, we provide the calibration.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AA01F-1706-54DC-E0A5-FFA9145BB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7651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9C3E9-4823-D690-1FC0-B852A534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AEACC-77AB-0614-2A90-F88BD9CB0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D4FE4-CBC3-0FBD-C934-C51385E93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56E39-2484-1DDB-F5AC-A36441D64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8735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5D80-EEAC-94C0-4837-22693DBA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7C9DA-BA5A-3919-E661-0D1EEBB11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28977-681D-CAC5-004E-1128F2777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78A79-2B7E-D742-89FB-9545503D5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167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51A7-4967-3963-FAC9-BDD51307B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B386A-3A3F-AB39-AA8F-154C5CC38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DEC0E-05FE-2B0A-620A-406C38A49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6122E-EB09-1C0B-DCBB-A9851C599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978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E1EF-A447-026F-088D-DB510EEF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872E0-F256-8A9A-7D3D-F69E5B51A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36C1C-4E9B-6E44-F3BA-747FCCAF3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D7776-0D07-4729-DC1B-4E8BFEA34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7430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56CF-DED3-66BB-8C5D-B76F59392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6B346-B1F9-BE9B-A895-0851BF73B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AD66E-F4C7-4A0B-4F25-7122B57F7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E82D2-F966-6D84-E9E9-0C828FF3C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3217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881C-713B-B328-EE3C-CA9D614D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144B6-D987-10D2-98B5-E87F409AC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51559-7C7F-0598-07BC-213FCACC3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CFC87-A2C2-4E47-2D64-F1AF7CCBB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9844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5FB4-FB2C-F798-19B3-7C563AAD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1C231-7D53-4C17-1558-6195B8552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87CF4-1068-6EDA-BA72-5B1A2224C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  <a:p/>
          <a:p>
            <a:r>
              <a:t>[Technical]</a:t>
            </a:r>
          </a:p>
          <a:p>
            <a:r>
              <a:t>Section 6.5 of the thesis. Steps A-D form the annual loop; step E runs once on the averaged costs.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6ECF6-2168-BA31-9019-97C0E8220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2953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FE15-A8BF-D9FE-B387-2A5CCB2A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B97A0-D008-0D68-4121-DA0355DEB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79DAE-1B97-77E2-3912-27C48B8E3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Figures 11-13 of the thesis (Section 7.1). Read the bottom row: the unpenalized net return turns hump-shaped for the pension fund and the endowment, while the family office frontiers coincide.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749B0-6ECF-678F-17FA-FC86BE2FE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8267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60A2-5E18-D93F-1F56-FC32FBE8C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FE2BF-3057-2B35-4DB8-B7B7461FB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6C09D-3279-7034-7F19-EDE12F061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  <a:p>
            <a:r>
              <a:t>Figure 9 and Figure 15 of the thesis.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7EB2D-AFF9-5B31-ADE9-137A18137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9773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B9EE8-9949-965F-766D-3A479FCF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1040A-7013-67E7-4047-C713A4F7F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7DE33-7587-36F1-B37E-1718270A1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  <a:p>
            <a:r>
              <a:t>Figure 10 and Figure 16 of the thesis.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BB928-9464-041C-680D-01DAB53E5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6952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5666-3802-B371-EDDD-EA826EFC2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59028-0268-5A9F-32E6-FDC601A92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3DC40-BFCF-EA31-C5C8-1D28EA739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Section 8.2 limitations and future 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D0765-884A-6DA7-EB0D-F9548A9C5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3776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Cover. Always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The whole paper in one page: problem, contribution, output. Close on the bottom line (&gt;150 bp net-return gap for the pension fund at ~12% volatility, Section 7.1).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Agenda. Hide the chapters you do not need for a given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Chapter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Chapter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Chapter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Chapter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Chapter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Frame the problem: MVO prices risk and return, but not the constraints of locked capital. The first three costs are exactly what the simulation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[Technical]</a:t>
            </a:r>
          </a:p>
          <a:p>
            <a:r>
              <a:t>Literature positioning (Sections 1.2-1.3).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Equations (6)-(8) of the thesis. A liquid asset is untouched; private equity bears the full average penalty.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Section 6 without equations. Two portfolios see the same world; the only difference is the lock-up.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Tables 4 and 5 of the thesis. Negative correlation: payouts rise when equity 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Table 6 (simulated) and Section 5.3 (subjective). R² between 0.987 and 0.997. Message: judgement overstates the cost of moderate illiquidity; the data concentrate it where forced selling becomes frequent.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Sections 6.8 and 7.1-7.2. For the family office the two frontiers are almost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[Technical]</a:t>
            </a:r>
          </a:p>
          <a:p>
            <a:r>
              <a:t>Figure 8 and Figure 14 of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From the ARA editorial committee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Disclaimer text to be validated by Compliance before external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199" y="2358221"/>
            <a:ext cx="5975835" cy="72482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00" y="3270572"/>
            <a:ext cx="5975836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rgbClr val="001C4B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FD43DB-60F0-69E5-0E6E-39DAC8F580D6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211952-6EFD-1268-B0D8-5D1EA9A036D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286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92B6F-9A39-8FF4-F99C-3D45A9DDD8CC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B1B74D-F7A7-427F-4C42-2E65F73D513D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8570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0BEFD-109F-37DE-ED0B-3CC93589B2D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28561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1C3FFE-4231-78CA-D32E-0CB00040402B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171422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FB0309-AAC2-B57E-8D00-2D7697DD14A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21428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40B5A4-42DE-8A14-36D6-AFB428B9B1C1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25712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orme libre 20">
            <a:extLst>
              <a:ext uri="{FF2B5EF4-FFF2-40B4-BE49-F238E27FC236}">
                <a16:creationId xmlns:a16="http://schemas.microsoft.com/office/drawing/2014/main" id="{372BBFFA-319C-27E5-D42D-1FE7E80D5E92}"/>
              </a:ext>
            </a:extLst>
          </p:cNvPr>
          <p:cNvSpPr/>
          <p:nvPr userDrawn="1"/>
        </p:nvSpPr>
        <p:spPr>
          <a:xfrm>
            <a:off x="828810" y="760377"/>
            <a:ext cx="597583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2" name="Forme libre 21">
            <a:extLst>
              <a:ext uri="{FF2B5EF4-FFF2-40B4-BE49-F238E27FC236}">
                <a16:creationId xmlns:a16="http://schemas.microsoft.com/office/drawing/2014/main" id="{0512D8CC-A62A-40A3-3FFA-BD1F87DE1522}"/>
              </a:ext>
            </a:extLst>
          </p:cNvPr>
          <p:cNvSpPr/>
          <p:nvPr userDrawn="1"/>
        </p:nvSpPr>
        <p:spPr>
          <a:xfrm rot="16200000">
            <a:off x="-1383079" y="2903623"/>
            <a:ext cx="4383124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3" name="Espace réservé du texte 81">
            <a:extLst>
              <a:ext uri="{FF2B5EF4-FFF2-40B4-BE49-F238E27FC236}">
                <a16:creationId xmlns:a16="http://schemas.microsoft.com/office/drawing/2014/main" id="{DAF0EE13-BA48-3E03-FCE8-668ACB135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5200" y="4486634"/>
            <a:ext cx="759483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24" name="Espace réservé du texte 81">
            <a:extLst>
              <a:ext uri="{FF2B5EF4-FFF2-40B4-BE49-F238E27FC236}">
                <a16:creationId xmlns:a16="http://schemas.microsoft.com/office/drawing/2014/main" id="{6783BFA2-A7E6-4F84-84BA-D5976D2695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683" y="4486634"/>
            <a:ext cx="3026141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D9F045A-86C6-0812-3813-D4C61BA803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22861" y="284400"/>
            <a:ext cx="1443600" cy="78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3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199" y="2358221"/>
            <a:ext cx="5975835" cy="72482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00" y="3270572"/>
            <a:ext cx="5975836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rgbClr val="001C4B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81B07C38-783E-E35D-F550-E67A8A92F3BE}"/>
              </a:ext>
            </a:extLst>
          </p:cNvPr>
          <p:cNvSpPr/>
          <p:nvPr userDrawn="1"/>
        </p:nvSpPr>
        <p:spPr>
          <a:xfrm rot="16200000">
            <a:off x="-1217195" y="2737739"/>
            <a:ext cx="4051355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" name="Espace réservé du texte 81">
            <a:extLst>
              <a:ext uri="{FF2B5EF4-FFF2-40B4-BE49-F238E27FC236}">
                <a16:creationId xmlns:a16="http://schemas.microsoft.com/office/drawing/2014/main" id="{7F0A05DB-6FAF-E48E-84E6-8F4459DB4C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85200" y="4045576"/>
            <a:ext cx="759483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7" name="Espace réservé du texte 81">
            <a:extLst>
              <a:ext uri="{FF2B5EF4-FFF2-40B4-BE49-F238E27FC236}">
                <a16:creationId xmlns:a16="http://schemas.microsoft.com/office/drawing/2014/main" id="{24E26F61-B61B-FAF2-6F9C-11CE2EC192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4683" y="4045576"/>
            <a:ext cx="3026141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B87305F2-AFBE-EBE0-195B-9DE232764CEB}"/>
              </a:ext>
            </a:extLst>
          </p:cNvPr>
          <p:cNvSpPr/>
          <p:nvPr userDrawn="1"/>
        </p:nvSpPr>
        <p:spPr>
          <a:xfrm>
            <a:off x="815975" y="760377"/>
            <a:ext cx="5563225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3F3A0A57-DE05-97CD-6FD6-08C2F6615A12}"/>
              </a:ext>
            </a:extLst>
          </p:cNvPr>
          <p:cNvSpPr/>
          <p:nvPr userDrawn="1"/>
        </p:nvSpPr>
        <p:spPr>
          <a:xfrm>
            <a:off x="8059928" y="760264"/>
            <a:ext cx="1083954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1A40575B-E146-3BD8-AFB2-E8717B190F83}"/>
              </a:ext>
            </a:extLst>
          </p:cNvPr>
          <p:cNvSpPr/>
          <p:nvPr userDrawn="1"/>
        </p:nvSpPr>
        <p:spPr>
          <a:xfrm>
            <a:off x="815975" y="4715100"/>
            <a:ext cx="832790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FD43DB-60F0-69E5-0E6E-39DAC8F580D6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211952-6EFD-1268-B0D8-5D1EA9A036D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286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92B6F-9A39-8FF4-F99C-3D45A9DDD8CC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B1B74D-F7A7-427F-4C42-2E65F73D513D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8570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0BEFD-109F-37DE-ED0B-3CC93589B2D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28561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1C3FFE-4231-78CA-D32E-0CB00040402B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171422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FB0309-AAC2-B57E-8D00-2D7697DD14A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21428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40B5A4-42DE-8A14-36D6-AFB428B9B1C1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25712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40879F-6B1C-6975-11B0-534AD280C77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299984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9CAD4E1-CE8D-D68A-F8EF-E72FA15695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6199" y="284400"/>
            <a:ext cx="1443600" cy="78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3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CC0E64A8-1760-18C4-A4A9-561107482C09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-2" y="0"/>
            <a:ext cx="9144000" cy="5143500"/>
          </a:xfrm>
          <a:prstGeom prst="rect">
            <a:avLst/>
          </a:prstGeom>
        </p:spPr>
      </p:pic>
      <p:sp>
        <p:nvSpPr>
          <p:cNvPr id="10" name="Forme libre 9">
            <a:extLst>
              <a:ext uri="{FF2B5EF4-FFF2-40B4-BE49-F238E27FC236}">
                <a16:creationId xmlns:a16="http://schemas.microsoft.com/office/drawing/2014/main" id="{890CC80E-BA80-6CF4-B639-E7BB94813E41}"/>
              </a:ext>
            </a:extLst>
          </p:cNvPr>
          <p:cNvSpPr/>
          <p:nvPr userDrawn="1"/>
        </p:nvSpPr>
        <p:spPr>
          <a:xfrm>
            <a:off x="331767" y="4715100"/>
            <a:ext cx="844075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8D91661-BB6B-8D42-C429-8A35850E86AA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>
            <a:off x="0" y="3600"/>
            <a:ext cx="9144000" cy="5135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6801" y="1876926"/>
            <a:ext cx="3744000" cy="1158905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6799" y="3394615"/>
            <a:ext cx="3744000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chemeClr val="bg1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0" name="Forme libre 69">
            <a:extLst>
              <a:ext uri="{FF2B5EF4-FFF2-40B4-BE49-F238E27FC236}">
                <a16:creationId xmlns:a16="http://schemas.microsoft.com/office/drawing/2014/main" id="{D62011F9-E62E-CF7B-CDC0-8CE01CA7E752}"/>
              </a:ext>
            </a:extLst>
          </p:cNvPr>
          <p:cNvSpPr/>
          <p:nvPr userDrawn="1"/>
        </p:nvSpPr>
        <p:spPr>
          <a:xfrm>
            <a:off x="331767" y="760377"/>
            <a:ext cx="6047433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591809" y="2724590"/>
            <a:ext cx="394378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8" name="Espace réservé du texte 81">
            <a:extLst>
              <a:ext uri="{FF2B5EF4-FFF2-40B4-BE49-F238E27FC236}">
                <a16:creationId xmlns:a16="http://schemas.microsoft.com/office/drawing/2014/main" id="{CEB533F0-4A85-F96D-8736-FC987D221A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7600" y="4055749"/>
            <a:ext cx="3026141" cy="250900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FF49AF96-EB84-99CE-22EA-A99929C53BC8}"/>
              </a:ext>
            </a:extLst>
          </p:cNvPr>
          <p:cNvSpPr/>
          <p:nvPr userDrawn="1"/>
        </p:nvSpPr>
        <p:spPr>
          <a:xfrm>
            <a:off x="8059928" y="760264"/>
            <a:ext cx="712597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D86FC8AD-B83A-D1BC-C2DE-F09474A82F7F}"/>
              </a:ext>
            </a:extLst>
          </p:cNvPr>
          <p:cNvSpPr/>
          <p:nvPr userDrawn="1"/>
        </p:nvSpPr>
        <p:spPr>
          <a:xfrm rot="16200000">
            <a:off x="6738065" y="2737682"/>
            <a:ext cx="4051467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7" name="Espace réservé du texte 81">
            <a:extLst>
              <a:ext uri="{FF2B5EF4-FFF2-40B4-BE49-F238E27FC236}">
                <a16:creationId xmlns:a16="http://schemas.microsoft.com/office/drawing/2014/main" id="{A71CEE15-A6C7-0712-282F-A785EC1E03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6801" y="4048484"/>
            <a:ext cx="730798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27FED3-B555-0F89-7F36-BE59B33FA636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FE08B-A19B-B932-0C1F-A5C2590729D3}"/>
              </a:ext>
            </a:extLst>
          </p:cNvPr>
          <p:cNvSpPr>
            <a:spLocks noChangeAspect="1"/>
          </p:cNvSpPr>
          <p:nvPr userDrawn="1"/>
        </p:nvSpPr>
        <p:spPr>
          <a:xfrm>
            <a:off x="428397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08805-D6FB-1072-B4D3-2D05C07DBB24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8D7AB57-A301-D1B4-5B1D-345F327FF3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96199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1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Image 136" descr="Une image contenant ciel, Visage humain, personne, plein air&#10;&#10;Description générée automatiquement">
            <a:extLst>
              <a:ext uri="{FF2B5EF4-FFF2-40B4-BE49-F238E27FC236}">
                <a16:creationId xmlns:a16="http://schemas.microsoft.com/office/drawing/2014/main" id="{720FCE97-FD77-8FD9-73F7-3ABB40603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810" y="2355035"/>
            <a:ext cx="4895070" cy="73117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810" y="3273736"/>
            <a:ext cx="4895071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rgbClr val="001C4B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0" name="Forme libre 69">
            <a:extLst>
              <a:ext uri="{FF2B5EF4-FFF2-40B4-BE49-F238E27FC236}">
                <a16:creationId xmlns:a16="http://schemas.microsoft.com/office/drawing/2014/main" id="{D62011F9-E62E-CF7B-CDC0-8CE01CA7E752}"/>
              </a:ext>
            </a:extLst>
          </p:cNvPr>
          <p:cNvSpPr/>
          <p:nvPr userDrawn="1"/>
        </p:nvSpPr>
        <p:spPr>
          <a:xfrm>
            <a:off x="331768" y="760377"/>
            <a:ext cx="647287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791160" y="2923941"/>
            <a:ext cx="434248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7" name="Espace réservé du texte 81">
            <a:extLst>
              <a:ext uri="{FF2B5EF4-FFF2-40B4-BE49-F238E27FC236}">
                <a16:creationId xmlns:a16="http://schemas.microsoft.com/office/drawing/2014/main" id="{A71CEE15-A6C7-0712-282F-A785EC1E03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810" y="4486634"/>
            <a:ext cx="759483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78" name="Espace réservé du texte 81">
            <a:extLst>
              <a:ext uri="{FF2B5EF4-FFF2-40B4-BE49-F238E27FC236}">
                <a16:creationId xmlns:a16="http://schemas.microsoft.com/office/drawing/2014/main" id="{CEB533F0-4A85-F96D-8736-FC987D221A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8293" y="4486634"/>
            <a:ext cx="3026141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0B6729-9DC1-9D8F-6A3A-F520E1168BCC}"/>
              </a:ext>
            </a:extLst>
          </p:cNvPr>
          <p:cNvSpPr>
            <a:spLocks noChangeAspect="1"/>
          </p:cNvSpPr>
          <p:nvPr userDrawn="1"/>
        </p:nvSpPr>
        <p:spPr>
          <a:xfrm>
            <a:off x="428397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495CB-1A2C-7E68-1B8C-4DE7875DB132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02E4C7B-8D5E-B9D2-D8F6-B3BC785327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21061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4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CC0E64A8-1760-18C4-A4A9-561107482C09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-2" y="4044"/>
            <a:ext cx="9144000" cy="5135880"/>
          </a:xfrm>
          <a:prstGeom prst="rect">
            <a:avLst/>
          </a:prstGeom>
        </p:spPr>
      </p:pic>
      <p:sp>
        <p:nvSpPr>
          <p:cNvPr id="64" name="Forme libre 63">
            <a:extLst>
              <a:ext uri="{FF2B5EF4-FFF2-40B4-BE49-F238E27FC236}">
                <a16:creationId xmlns:a16="http://schemas.microsoft.com/office/drawing/2014/main" id="{F27D0632-0BA3-7E34-0DD8-02D49E22297A}"/>
              </a:ext>
            </a:extLst>
          </p:cNvPr>
          <p:cNvSpPr/>
          <p:nvPr userDrawn="1"/>
        </p:nvSpPr>
        <p:spPr>
          <a:xfrm>
            <a:off x="760164" y="760377"/>
            <a:ext cx="6044482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90CC80E-BA80-6CF4-B639-E7BB94813E41}"/>
              </a:ext>
            </a:extLst>
          </p:cNvPr>
          <p:cNvSpPr/>
          <p:nvPr userDrawn="1"/>
        </p:nvSpPr>
        <p:spPr>
          <a:xfrm>
            <a:off x="760164" y="4715100"/>
            <a:ext cx="8383833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799" y="1748886"/>
            <a:ext cx="3780000" cy="128694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798" y="3394615"/>
            <a:ext cx="3780000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chemeClr val="bg1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163412" y="2724590"/>
            <a:ext cx="394378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8" name="Espace réservé du texte 81">
            <a:extLst>
              <a:ext uri="{FF2B5EF4-FFF2-40B4-BE49-F238E27FC236}">
                <a16:creationId xmlns:a16="http://schemas.microsoft.com/office/drawing/2014/main" id="{CEB533F0-4A85-F96D-8736-FC987D221A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23595" y="4286490"/>
            <a:ext cx="3026141" cy="149241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FF49AF96-EB84-99CE-22EA-A99929C53BC8}"/>
              </a:ext>
            </a:extLst>
          </p:cNvPr>
          <p:cNvSpPr/>
          <p:nvPr userDrawn="1"/>
        </p:nvSpPr>
        <p:spPr>
          <a:xfrm>
            <a:off x="8484111" y="760264"/>
            <a:ext cx="659890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7" name="Espace réservé du texte 81">
            <a:extLst>
              <a:ext uri="{FF2B5EF4-FFF2-40B4-BE49-F238E27FC236}">
                <a16:creationId xmlns:a16="http://schemas.microsoft.com/office/drawing/2014/main" id="{A71CEE15-A6C7-0712-282F-A785EC1E03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1799" y="4177566"/>
            <a:ext cx="741794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338C511-9884-8CFC-D291-656E2284D004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BD4B1EA-B810-F1B6-BD5F-87E518D49A1B}"/>
              </a:ext>
            </a:extLst>
          </p:cNvPr>
          <p:cNvSpPr>
            <a:spLocks noChangeAspect="1"/>
          </p:cNvSpPr>
          <p:nvPr userDrawn="1"/>
        </p:nvSpPr>
        <p:spPr>
          <a:xfrm>
            <a:off x="428397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48F566D-0CD2-8ED0-5A64-E4AEA1536A41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C98F8E-C622-6DB7-163C-066B74BCE3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21061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4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2D9C3C22-E1F9-66F7-0BBE-2901FF18D331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sp>
        <p:nvSpPr>
          <p:cNvPr id="10" name="Forme libre 9">
            <a:extLst>
              <a:ext uri="{FF2B5EF4-FFF2-40B4-BE49-F238E27FC236}">
                <a16:creationId xmlns:a16="http://schemas.microsoft.com/office/drawing/2014/main" id="{890CC80E-BA80-6CF4-B639-E7BB94813E41}"/>
              </a:ext>
            </a:extLst>
          </p:cNvPr>
          <p:cNvSpPr/>
          <p:nvPr userDrawn="1"/>
        </p:nvSpPr>
        <p:spPr>
          <a:xfrm>
            <a:off x="331767" y="4715100"/>
            <a:ext cx="844075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0" name="Forme libre 69">
            <a:extLst>
              <a:ext uri="{FF2B5EF4-FFF2-40B4-BE49-F238E27FC236}">
                <a16:creationId xmlns:a16="http://schemas.microsoft.com/office/drawing/2014/main" id="{D62011F9-E62E-CF7B-CDC0-8CE01CA7E752}"/>
              </a:ext>
            </a:extLst>
          </p:cNvPr>
          <p:cNvSpPr/>
          <p:nvPr userDrawn="1"/>
        </p:nvSpPr>
        <p:spPr>
          <a:xfrm>
            <a:off x="331767" y="760377"/>
            <a:ext cx="6047433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591809" y="2724590"/>
            <a:ext cx="394378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032D6A9-38F9-AF23-1034-C2F4CF806540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>
            <a:off x="0" y="4260"/>
            <a:ext cx="9144000" cy="5135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4640" y="1380197"/>
            <a:ext cx="3960000" cy="1014522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4640" y="2539255"/>
            <a:ext cx="3960000" cy="378197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chemeClr val="bg1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FF49AF96-EB84-99CE-22EA-A99929C53BC8}"/>
              </a:ext>
            </a:extLst>
          </p:cNvPr>
          <p:cNvSpPr/>
          <p:nvPr userDrawn="1"/>
        </p:nvSpPr>
        <p:spPr>
          <a:xfrm>
            <a:off x="8059928" y="760264"/>
            <a:ext cx="712597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D86FC8AD-B83A-D1BC-C2DE-F09474A82F7F}"/>
              </a:ext>
            </a:extLst>
          </p:cNvPr>
          <p:cNvSpPr/>
          <p:nvPr userDrawn="1"/>
        </p:nvSpPr>
        <p:spPr>
          <a:xfrm rot="16200000">
            <a:off x="6738065" y="2737682"/>
            <a:ext cx="4051467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4" name="Espace réservé du texte 81">
            <a:extLst>
              <a:ext uri="{FF2B5EF4-FFF2-40B4-BE49-F238E27FC236}">
                <a16:creationId xmlns:a16="http://schemas.microsoft.com/office/drawing/2014/main" id="{C0267CE8-86F1-4DD1-F836-7EA656218E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4640" y="4217977"/>
            <a:ext cx="3026141" cy="149241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5" name="Espace réservé du texte 81">
            <a:extLst>
              <a:ext uri="{FF2B5EF4-FFF2-40B4-BE49-F238E27FC236}">
                <a16:creationId xmlns:a16="http://schemas.microsoft.com/office/drawing/2014/main" id="{88387400-4586-2124-2906-E420FAC8A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4640" y="2994251"/>
            <a:ext cx="1042593" cy="258165"/>
          </a:xfrm>
        </p:spPr>
        <p:txBody>
          <a:bodyPr anchor="t" anchorCtr="0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2804DD-DD1B-2F3D-5F63-FBF13AD32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96199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0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and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652" y="428400"/>
            <a:ext cx="8287200" cy="290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48" y="1119600"/>
            <a:ext cx="8287200" cy="2997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28648" y="759018"/>
            <a:ext cx="8287200" cy="22836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73A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4"/>
          </p:nvPr>
        </p:nvSpPr>
        <p:spPr>
          <a:xfrm>
            <a:off x="428399" y="4095900"/>
            <a:ext cx="8287200" cy="459000"/>
          </a:xfrm>
        </p:spPr>
        <p:txBody>
          <a:bodyPr anchor="b">
            <a:noAutofit/>
          </a:bodyPr>
          <a:lstStyle>
            <a:lvl1pPr marL="6351" indent="0" algn="just">
              <a:buNone/>
              <a:defRPr sz="700">
                <a:solidFill>
                  <a:srgbClr val="00548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008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99" y="428400"/>
            <a:ext cx="8287200" cy="290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28400" y="759018"/>
            <a:ext cx="8287200" cy="22836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73A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051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/>
          <p:cNvSpPr>
            <a:spLocks noGrp="1"/>
          </p:cNvSpPr>
          <p:nvPr>
            <p:ph type="body" sz="quarter" idx="13"/>
          </p:nvPr>
        </p:nvSpPr>
        <p:spPr>
          <a:xfrm>
            <a:off x="900000" y="1148400"/>
            <a:ext cx="7772089" cy="1084983"/>
          </a:xfrm>
        </p:spPr>
        <p:txBody>
          <a:bodyPr>
            <a:noAutofit/>
          </a:bodyPr>
          <a:lstStyle>
            <a:lvl1pPr marL="0" indent="0">
              <a:buNone/>
              <a:defRPr sz="7200">
                <a:solidFill>
                  <a:srgbClr val="00B4E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27EB70-D448-DE46-90B8-D45BE7C8F1B0}"/>
              </a:ext>
            </a:extLst>
          </p:cNvPr>
          <p:cNvSpPr/>
          <p:nvPr userDrawn="1"/>
        </p:nvSpPr>
        <p:spPr>
          <a:xfrm>
            <a:off x="1" y="2408400"/>
            <a:ext cx="9144000" cy="1922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7500"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800" y="2624400"/>
            <a:ext cx="7772089" cy="376743"/>
          </a:xfrm>
        </p:spPr>
        <p:txBody>
          <a:bodyPr anchor="t" anchorCtr="0">
            <a:noAutofit/>
          </a:bodyPr>
          <a:lstStyle>
            <a:lvl1pPr>
              <a:defRPr sz="29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800" y="3034800"/>
            <a:ext cx="7772089" cy="999141"/>
          </a:xfrm>
        </p:spPr>
        <p:txBody>
          <a:bodyPr>
            <a:normAutofit/>
          </a:bodyPr>
          <a:lstStyle>
            <a:lvl1pPr marL="0" indent="0">
              <a:buNone/>
              <a:defRPr sz="2100" spc="80" baseline="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28400" y="46710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fr-FR" sz="180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928800" y="3981600"/>
            <a:ext cx="7772089" cy="218870"/>
          </a:xfrm>
        </p:spPr>
        <p:txBody>
          <a:bodyPr>
            <a:normAutofit/>
          </a:bodyPr>
          <a:lstStyle>
            <a:lvl1pPr marL="0" indent="0">
              <a:buNone/>
              <a:defRPr sz="1100" spc="51" baseline="0">
                <a:solidFill>
                  <a:srgbClr val="00548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necteur droit 8">
            <a:extLst>
              <a:ext uri="{FF2B5EF4-FFF2-40B4-BE49-F238E27FC236}">
                <a16:creationId xmlns:a16="http://schemas.microsoft.com/office/drawing/2014/main" id="{373BB06B-E64D-7E43-B3D3-0BCA63FAD594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que 65">
            <a:extLst>
              <a:ext uri="{FF2B5EF4-FFF2-40B4-BE49-F238E27FC236}">
                <a16:creationId xmlns:a16="http://schemas.microsoft.com/office/drawing/2014/main" id="{3D920BCD-A9EB-616C-316D-6E74141210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30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1C33DA7-2BBD-3B4B-9C40-8699CB5B8861}"/>
              </a:ext>
            </a:extLst>
          </p:cNvPr>
          <p:cNvSpPr/>
          <p:nvPr userDrawn="1"/>
        </p:nvSpPr>
        <p:spPr>
          <a:xfrm>
            <a:off x="1" y="1390650"/>
            <a:ext cx="9144000" cy="296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7500"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0000" y="813600"/>
            <a:ext cx="7775998" cy="349671"/>
          </a:xfrm>
        </p:spPr>
        <p:txBody>
          <a:bodyPr>
            <a:noAutofit/>
          </a:bodyPr>
          <a:lstStyle>
            <a:lvl1pPr>
              <a:defRPr sz="3000" b="0">
                <a:solidFill>
                  <a:srgbClr val="00B4E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28400" y="46710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fr-FR" sz="180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2"/>
          </p:nvPr>
        </p:nvSpPr>
        <p:spPr>
          <a:xfrm>
            <a:off x="900000" y="1576800"/>
            <a:ext cx="7703884" cy="2589301"/>
          </a:xfrm>
        </p:spPr>
        <p:txBody>
          <a:bodyPr/>
          <a:lstStyle>
            <a:lvl1pPr marL="269862" indent="-263513">
              <a:spcBef>
                <a:spcPts val="1200"/>
              </a:spcBef>
              <a:buClr>
                <a:schemeClr val="accent1"/>
              </a:buClr>
              <a:buSzPct val="100000"/>
              <a:buFont typeface="+mj-lt"/>
              <a:buAutoNum type="arabicPeriod"/>
              <a:tabLst/>
              <a:defRPr sz="1300" b="1">
                <a:solidFill>
                  <a:schemeClr val="tx1"/>
                </a:solidFill>
              </a:defRPr>
            </a:lvl1pPr>
            <a:lvl2pPr marL="536548" indent="-133344">
              <a:spcBef>
                <a:spcPts val="800"/>
              </a:spcBef>
              <a:tabLst/>
              <a:defRPr sz="1100"/>
            </a:lvl2pPr>
            <a:lvl3pPr marL="269986" indent="-265101">
              <a:spcBef>
                <a:spcPts val="1200"/>
              </a:spcBef>
              <a:buClr>
                <a:schemeClr val="tx2">
                  <a:lumMod val="60000"/>
                  <a:lumOff val="40000"/>
                </a:schemeClr>
              </a:buClr>
              <a:buFont typeface="+mj-lt"/>
              <a:buAutoNum type="arabicPeriod"/>
              <a:tabLst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0" name="Connecteur droit 8">
            <a:extLst>
              <a:ext uri="{FF2B5EF4-FFF2-40B4-BE49-F238E27FC236}">
                <a16:creationId xmlns:a16="http://schemas.microsoft.com/office/drawing/2014/main" id="{B9558D40-008F-FF4A-AEC7-37BA545CF479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que 65">
            <a:extLst>
              <a:ext uri="{FF2B5EF4-FFF2-40B4-BE49-F238E27FC236}">
                <a16:creationId xmlns:a16="http://schemas.microsoft.com/office/drawing/2014/main" id="{57C8E3F8-B86D-740E-039B-9C8DBEBA4B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17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99" y="428400"/>
            <a:ext cx="8287200" cy="29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399" y="1119600"/>
            <a:ext cx="4068000" cy="29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7598" y="1119600"/>
            <a:ext cx="4068000" cy="29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428398" y="759018"/>
            <a:ext cx="8287200" cy="2295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73A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4"/>
          </p:nvPr>
        </p:nvSpPr>
        <p:spPr>
          <a:xfrm>
            <a:off x="428398" y="4095752"/>
            <a:ext cx="8287200" cy="466725"/>
          </a:xfrm>
        </p:spPr>
        <p:txBody>
          <a:bodyPr anchor="b"/>
          <a:lstStyle>
            <a:lvl1pPr marL="6351" indent="0" algn="just">
              <a:buNone/>
              <a:defRPr sz="700">
                <a:solidFill>
                  <a:srgbClr val="00548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6828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8400" y="46683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2"/>
          </p:nvPr>
        </p:nvSpPr>
        <p:spPr>
          <a:xfrm>
            <a:off x="428400" y="1026042"/>
            <a:ext cx="8287199" cy="3346984"/>
          </a:xfrm>
        </p:spPr>
        <p:txBody>
          <a:bodyPr anchor="b"/>
          <a:lstStyle>
            <a:lvl1pPr marL="177792" indent="-171442">
              <a:tabLst/>
              <a:defRPr sz="900">
                <a:solidFill>
                  <a:schemeClr val="accent1"/>
                </a:solidFill>
              </a:defRPr>
            </a:lvl1pPr>
            <a:lvl2pPr marL="177792" indent="0" algn="just">
              <a:buNone/>
              <a:tabLst/>
              <a:defRPr sz="700">
                <a:solidFill>
                  <a:srgbClr val="005483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1" name="Connecteur droit 8">
            <a:extLst>
              <a:ext uri="{FF2B5EF4-FFF2-40B4-BE49-F238E27FC236}">
                <a16:creationId xmlns:a16="http://schemas.microsoft.com/office/drawing/2014/main" id="{3BE4DFD2-6DFC-B643-8CAE-041166C8F85E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que 65">
            <a:extLst>
              <a:ext uri="{FF2B5EF4-FFF2-40B4-BE49-F238E27FC236}">
                <a16:creationId xmlns:a16="http://schemas.microsoft.com/office/drawing/2014/main" id="{E27504F6-F048-B328-2091-6D2AE93D2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94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399" y="428400"/>
            <a:ext cx="8287200" cy="34967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399" y="1040401"/>
            <a:ext cx="8287200" cy="33443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117" y="4845600"/>
            <a:ext cx="5212196" cy="135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 spc="31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Fixed Income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399" y="4845600"/>
            <a:ext cx="180001" cy="135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B1C6FFC-D040-034F-8B69-20295064E64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428400" y="46710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cxnSp>
        <p:nvCxnSpPr>
          <p:cNvPr id="11" name="Connecteur droit 8">
            <a:extLst>
              <a:ext uri="{FF2B5EF4-FFF2-40B4-BE49-F238E27FC236}">
                <a16:creationId xmlns:a16="http://schemas.microsoft.com/office/drawing/2014/main" id="{7F710BDB-A926-7747-A609-83D680A864E1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que 65">
            <a:extLst>
              <a:ext uri="{FF2B5EF4-FFF2-40B4-BE49-F238E27FC236}">
                <a16:creationId xmlns:a16="http://schemas.microsoft.com/office/drawing/2014/main" id="{598061B9-6267-F86B-2291-00A6456813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6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2100" b="1" kern="1200" spc="5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263" indent="-188913" algn="l" defTabSz="914355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130000"/>
        <a:buFont typeface="CambriaMath" charset="0"/>
        <a:buChar char="⎯"/>
        <a:tabLst/>
        <a:defRPr sz="1400" kern="1200">
          <a:solidFill>
            <a:srgbClr val="001C4B"/>
          </a:solidFill>
          <a:latin typeface="+mn-lt"/>
          <a:ea typeface="+mn-ea"/>
          <a:cs typeface="+mn-cs"/>
        </a:defRPr>
      </a:lvl1pPr>
      <a:lvl2pPr marL="365125" indent="-141288" algn="l" defTabSz="914355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CambriaMath" charset="0"/>
        <a:buChar char="⎯"/>
        <a:tabLst/>
        <a:defRPr sz="12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536575" indent="-125413" algn="l" defTabSz="914355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LucidaGrande-Bold" charset="0"/>
        <a:buChar char="⁃"/>
        <a:tabLst/>
        <a:defRPr sz="1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7938" indent="0" algn="l" defTabSz="914355" rtl="0" eaLnBrk="1" latinLnBrk="0" hangingPunct="1">
        <a:lnSpc>
          <a:spcPct val="100000"/>
        </a:lnSpc>
        <a:spcBef>
          <a:spcPts val="500"/>
        </a:spcBef>
        <a:buFont typeface="Arial" charset="0"/>
        <a:buNone/>
        <a:tabLst/>
        <a:defRPr sz="10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7938" indent="0" algn="l" defTabSz="914355" rtl="0" eaLnBrk="1" latinLnBrk="0" hangingPunct="1">
        <a:lnSpc>
          <a:spcPct val="100000"/>
        </a:lnSpc>
        <a:spcBef>
          <a:spcPts val="500"/>
        </a:spcBef>
        <a:buFont typeface="Arial" charset="0"/>
        <a:buNone/>
        <a:tabLst/>
        <a:defRPr sz="1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47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3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31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8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2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50.png"/><Relationship Id="rId7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0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90F12D2-2DB7-6F66-3467-BD68F96AC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4" y="2011680"/>
            <a:ext cx="6675120" cy="914400"/>
          </a:xfrm>
        </p:spPr>
        <p:txBody>
          <a:bodyPr/>
          <a:lstStyle/>
          <a:p>
            <a:r>
              <a:rPr lang="en-US" dirty="0"/>
              <a:t>Pricing Illiquidity in Strategic Asset Allocation: A Calibration Framework for Practitioners</a:t>
            </a:r>
            <a:br>
              <a:rPr lang="en-US" dirty="0"/>
            </a:br>
            <a:endParaRPr lang="en-GB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548C2807-CF2F-456A-6EB6-E4B60A78D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9304" y="3063240"/>
            <a:ext cx="6675120" cy="731520"/>
          </a:xfrm>
        </p:spPr>
        <p:txBody>
          <a:bodyPr/>
          <a:lstStyle/>
          <a:p>
            <a:r>
              <a:t>Replacing subjective judgement with a simulation-based calibration methodology</a:t>
            </a:r>
          </a:p>
          <a:p>
            <a:r>
              <a:rPr sz="1100">
                <a:solidFill>
                  <a:srgbClr val="646464"/>
                </a:solidFill>
              </a:rPr>
              <a:t>Amundi Quant Solutions  |  V. Gisimundo, N. Zanetti, L. Meloncelli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A91FC5-90C5-AB3C-FDEA-956D96860F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OCTOBER 2026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770BE3-CFEB-206A-F50A-40022A712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73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2612-3053-AED9-DCC5-46F3E964D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0C9A3-A72A-A7D0-EB55-EA246BC9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The Penalty Cost Approach</a:t>
            </a:r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25435DD-0119-72C7-EF8D-4D1A65796F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Hayes, Primbs &amp; Chiquoine (2015): a marginal penalty curve inside the MVO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9C5319-A8EF-EFBF-8F4E-FA70CE8B61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329" b="3168"/>
          <a:stretch>
            <a:fillRect/>
          </a:stretch>
        </p:blipFill>
        <p:spPr>
          <a:xfrm>
            <a:off x="4434840" y="1371600"/>
            <a:ext cx="4279392" cy="2752344"/>
          </a:xfrm>
          <a:prstGeom prst="rect">
            <a:avLst/>
          </a:prstGeom>
        </p:spPr>
      </p:pic>
      <p:sp>
        <p:nvSpPr>
          <p:cNvPr id="9" name="Numeral 01"/>
          <p:cNvSpPr txBox="1"/>
          <p:nvPr/>
        </p:nvSpPr>
        <p:spPr>
          <a:xfrm>
            <a:off x="429768" y="116128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0" name="Row 1"/>
          <p:cNvSpPr txBox="1"/>
          <p:nvPr/>
        </p:nvSpPr>
        <p:spPr>
          <a:xfrm>
            <a:off x="1069848" y="1143000"/>
            <a:ext cx="3017520" cy="1005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The framework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The MVO objective is reduced by an accumulated illiquidity penalty T(L), the area under a marginal penalty curve c(L) that rises with the portfolio's illiquidity level.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2157984"/>
            <a:ext cx="36576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eral 02"/>
          <p:cNvSpPr txBox="1"/>
          <p:nvPr/>
        </p:nvSpPr>
        <p:spPr>
          <a:xfrm>
            <a:off x="429768" y="221284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3" name="Row 2"/>
          <p:cNvSpPr txBox="1"/>
          <p:nvPr/>
        </p:nvSpPr>
        <p:spPr>
          <a:xfrm>
            <a:off x="1069848" y="2194560"/>
            <a:ext cx="3017520" cy="1005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The open question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The original paper leaves the identification of c(L) to subjective judgement: how can it be estimated from portfolio fundamentals?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3209544"/>
            <a:ext cx="36576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umeral 03"/>
          <p:cNvSpPr txBox="1"/>
          <p:nvPr/>
        </p:nvSpPr>
        <p:spPr>
          <a:xfrm>
            <a:off x="429768" y="326440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6" name="Row 3"/>
          <p:cNvSpPr txBox="1"/>
          <p:nvPr/>
        </p:nvSpPr>
        <p:spPr>
          <a:xfrm>
            <a:off x="1069848" y="3246120"/>
            <a:ext cx="3017520" cy="1005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Our approach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Simulate realistic portfolio dynamics under lock-ups, payouts and rebalancing constraints, then fit c(L) directly from the simulated costs.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4434840" y="1143000"/>
            <a:ext cx="427939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Marginal illiquidity penalty curves for different investor types</a:t>
            </a:r>
          </a:p>
        </p:txBody>
      </p:sp>
      <p:sp>
        <p:nvSpPr>
          <p:cNvPr id="18" name="Source"/>
          <p:cNvSpPr txBox="1"/>
          <p:nvPr/>
        </p:nvSpPr>
        <p:spPr>
          <a:xfrm>
            <a:off x="4434840" y="4206240"/>
            <a:ext cx="427939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>Source: Hayes, Primbs &amp; Chiquoine (2015). At L = 45% the endowment's marginal penalty is about 3%.</a:t>
            </a:r>
          </a:p>
        </p:txBody>
      </p:sp>
      <p:sp>
        <p:nvSpPr>
          <p:cNvPr id="19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009EE0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Why illiquidity needs a price</a:t>
            </a:r>
          </a:p>
        </p:txBody>
      </p:sp>
    </p:spTree>
    <p:extLst>
      <p:ext uri="{BB962C8B-B14F-4D97-AF65-F5344CB8AC3E}">
        <p14:creationId xmlns:p14="http://schemas.microsoft.com/office/powerpoint/2010/main" val="41591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75226-AE87-3B8F-21EB-3283725A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710239-71E1-DC26-EFC4-4EF4F76E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Asset Classes &amp; Illiquidity Levels</a:t>
            </a:r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4941FD6-6BC2-0B2A-9111-5746AD56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B018DA-A5D6-8C2E-5408-4C134DCF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4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D7D8F65-0B45-53C0-249D-88AE8E93A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Six asset classes spanning the full liquidity spectrum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8E2258-3085-B7CB-99D1-A283EDB8D8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00"/>
          <a:stretch>
            <a:fillRect/>
          </a:stretch>
        </p:blipFill>
        <p:spPr>
          <a:xfrm>
            <a:off x="594360" y="1325880"/>
            <a:ext cx="7955279" cy="20075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29768" y="1097280"/>
            <a:ext cx="8284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Risk-return space  ·  Illiquidity indices lᵢ  ·  Correlation matrix</a:t>
            </a:r>
          </a:p>
        </p:txBody>
      </p:sp>
      <p:sp>
        <p:nvSpPr>
          <p:cNvPr id="10" name="Numeral 01"/>
          <p:cNvSpPr txBox="1"/>
          <p:nvPr/>
        </p:nvSpPr>
        <p:spPr>
          <a:xfrm>
            <a:off x="429768" y="3443146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43146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3C64"/>
                </a:solidFill>
              </a:rPr>
              <a:t>Illiquidity index lᵢ ∈ [0, 1]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003C64"/>
                </a:solidFill>
              </a:rPr>
              <a:t>Raw liquidity scores normalised to the unit interval: 0 for money market, 1 for private equity.</a:t>
            </a:r>
          </a:p>
        </p:txBody>
      </p:sp>
      <p:sp>
        <p:nvSpPr>
          <p:cNvPr id="12" name="Numeral 02"/>
          <p:cNvSpPr txBox="1"/>
          <p:nvPr/>
        </p:nvSpPr>
        <p:spPr>
          <a:xfrm>
            <a:off x="4663440" y="3443146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3443146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3C64"/>
                </a:solidFill>
              </a:rPr>
              <a:t>Portfolio illiquidity level L = Σ wᵢ · lᵢ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003C64"/>
                </a:solidFill>
              </a:rPr>
              <a:t>A continuous, portfolio-level measure: the share of the portfolio that is illiquid.</a:t>
            </a:r>
          </a:p>
        </p:txBody>
      </p:sp>
      <p:sp>
        <p:nvSpPr>
          <p:cNvPr id="14" name="Key takeaway"/>
          <p:cNvSpPr/>
          <p:nvPr/>
        </p:nvSpPr>
        <p:spPr>
          <a:xfrm>
            <a:off x="429768" y="4087368"/>
            <a:ext cx="8284464" cy="41148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4F9F"/>
                </a:solidFill>
              </a:rPr>
              <a:t>Key takeaway  </a:t>
            </a:r>
            <a:r>
              <a:rPr sz="1100" b="0" i="0">
                <a:solidFill>
                  <a:srgbClr val="003C64"/>
                </a:solidFill>
              </a:rPr>
              <a:t>GLOB_EQ, HF_FOF and GLOB_PE are near-perfect substitutes (ρ ≈ 0.86–0.87): without a penalty, private equity (9.80%) captures the equity allocation.</a:t>
            </a:r>
          </a:p>
        </p:txBody>
      </p:sp>
      <p:sp>
        <p:nvSpPr>
          <p:cNvPr id="15" name="Source"/>
          <p:cNvSpPr txBox="1"/>
          <p:nvPr/>
        </p:nvSpPr>
        <p:spPr>
          <a:xfrm>
            <a:off x="429768" y="4526280"/>
            <a:ext cx="8284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/>
            </a:r>
          </a:p>
        </p:txBody>
      </p:sp>
      <p:sp>
        <p:nvSpPr>
          <p:cNvPr id="16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The penalized optimization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147152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20FAA-A8E4-20F7-D51B-A3FA5A3E3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70C69-1476-F026-ABB2-808E0559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Marginal Penalty Function</a:t>
            </a:r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82006A-D65E-594B-43B4-9A34C5FE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CB2F4B-56A5-669B-3622-E5424FB4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5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11DF95BC-76EC-7EA9-9484-23D1BA285E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Three functional forms compared with identical parameters (α = 0.05, β = 1.6)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FB6A39-AB3A-8761-B6BF-FA1F9C3981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00"/>
          <a:stretch>
            <a:fillRect/>
          </a:stretch>
        </p:blipFill>
        <p:spPr>
          <a:xfrm>
            <a:off x="4297680" y="1325880"/>
            <a:ext cx="4328220" cy="2961902"/>
          </a:xfrm>
          <a:prstGeom prst="rect">
            <a:avLst/>
          </a:prstGeom>
        </p:spPr>
      </p:pic>
      <p:sp>
        <p:nvSpPr>
          <p:cNvPr id="9" name="Numeral 01"/>
          <p:cNvSpPr txBox="1"/>
          <p:nvPr/>
        </p:nvSpPr>
        <p:spPr>
          <a:xfrm>
            <a:off x="429768" y="116128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0" name="Row 1"/>
          <p:cNvSpPr txBox="1"/>
          <p:nvPr/>
        </p:nvSpPr>
        <p:spPr>
          <a:xfrm>
            <a:off x="1069848" y="1143000"/>
            <a:ext cx="2971800" cy="7955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Three candidate forms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Power c(L) = α·L^β;  quadratic c(L) = α·L + β·L²;  exponential c(L) = α·e^(βL).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1947672"/>
            <a:ext cx="36118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eral 02"/>
          <p:cNvSpPr txBox="1"/>
          <p:nvPr/>
        </p:nvSpPr>
        <p:spPr>
          <a:xfrm>
            <a:off x="429768" y="2002536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3" name="Row 2"/>
          <p:cNvSpPr txBox="1"/>
          <p:nvPr/>
        </p:nvSpPr>
        <p:spPr>
          <a:xfrm>
            <a:off x="1069848" y="1984248"/>
            <a:ext cx="2971800" cy="7955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Desirable properties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Zero cost for a fully liquid portfolio, increasing and convex in L. The exponential fails c(0) = 0.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2788920"/>
            <a:ext cx="36118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umeral 03"/>
          <p:cNvSpPr txBox="1"/>
          <p:nvPr/>
        </p:nvSpPr>
        <p:spPr>
          <a:xfrm>
            <a:off x="429768" y="2843784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6" name="Row 3"/>
          <p:cNvSpPr txBox="1"/>
          <p:nvPr/>
        </p:nvSpPr>
        <p:spPr>
          <a:xfrm>
            <a:off x="1069848" y="2825496"/>
            <a:ext cx="2971800" cy="7955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Reading the power form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α sets the level of the penalty (secondary-market costs); β its curvature (the liability side).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4297680" y="109728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Marginal penalty, accumulated penalty, average cost and stability diagnostic</a:t>
            </a:r>
          </a:p>
        </p:txBody>
      </p:sp>
      <p:sp>
        <p:nvSpPr>
          <p:cNvPr id="18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The penalized optimization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3126893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9851C-3BC0-7FD1-BF16-4B7C206A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18BC53-63C1-1CD5-495A-5A8EBA9E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Portfolio Optimization with Illiquidity</a:t>
            </a:r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0465A1-860F-21D3-7CDB-47FE133B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610B34-413E-1070-370F-E5DA5752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6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DDDEB541-368A-DF6B-8D56-B8586EA6EA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Net efficient frontiers under the three penalties (α = 0.05, β = 1.6)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3817AC-B1B8-8439-BBC8-C9ADF7903D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200"/>
          <a:stretch>
            <a:fillRect/>
          </a:stretch>
        </p:blipFill>
        <p:spPr>
          <a:xfrm>
            <a:off x="4297680" y="1325880"/>
            <a:ext cx="4416552" cy="2349177"/>
          </a:xfrm>
          <a:prstGeom prst="rect">
            <a:avLst/>
          </a:prstGeom>
        </p:spPr>
      </p:pic>
      <p:sp>
        <p:nvSpPr>
          <p:cNvPr id="9" name="Objective panel"/>
          <p:cNvSpPr/>
          <p:nvPr/>
        </p:nvSpPr>
        <p:spPr>
          <a:xfrm>
            <a:off x="429768" y="1143000"/>
            <a:ext cx="3611880" cy="77724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612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03C64"/>
                </a:solidFill>
              </a:rPr>
              <a:t>max  w′μ − (γ/2)·w′Σw − T(L(w))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58191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646464"/>
                </a:solidFill>
              </a:rPr>
              <a:t>L(w) = Σ wᵢ lᵢ ,   T(L) = ∫₀ᴸ c(x) dx</a:t>
            </a:r>
          </a:p>
        </p:txBody>
      </p:sp>
      <p:sp>
        <p:nvSpPr>
          <p:cNvPr id="12" name="Numeral 01"/>
          <p:cNvSpPr txBox="1"/>
          <p:nvPr/>
        </p:nvSpPr>
        <p:spPr>
          <a:xfrm>
            <a:off x="429768" y="212140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3" name="Row 1"/>
          <p:cNvSpPr txBox="1"/>
          <p:nvPr/>
        </p:nvSpPr>
        <p:spPr>
          <a:xfrm>
            <a:off x="1069848" y="210312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A third trade-off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Return, variance and illiquidity cost: the penalty discourages illiquid concentration without hard constraints.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2980944"/>
            <a:ext cx="36118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umeral 02"/>
          <p:cNvSpPr txBox="1"/>
          <p:nvPr/>
        </p:nvSpPr>
        <p:spPr>
          <a:xfrm>
            <a:off x="429768" y="303580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6" name="Row 2"/>
          <p:cNvSpPr txBox="1"/>
          <p:nvPr/>
        </p:nvSpPr>
        <p:spPr>
          <a:xfrm>
            <a:off x="1069848" y="301752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The γ → 0 limit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The optimizer maximises return net of the penalty and stops there: the more aggressive the penalty, the earlier it stops.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4297680" y="109728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Net return μ − T(L) along the efficient frontier</a:t>
            </a:r>
          </a:p>
        </p:txBody>
      </p:sp>
      <p:sp>
        <p:nvSpPr>
          <p:cNvPr id="18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The penalized optimization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240735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7869-401F-F546-3A71-86DC9BD0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5BA765-1A35-A3BA-AEB7-67903551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52" y="435600"/>
            <a:ext cx="8287200" cy="290620"/>
          </a:xfrm>
        </p:spPr>
        <p:txBody>
          <a:bodyPr/>
          <a:lstStyle/>
          <a:p>
            <a:r>
              <a:rPr lang="it-IT" dirty="0" err="1"/>
              <a:t>Efficient Frontiers &amp; Portfolio Composition</a:t>
            </a:r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9D9CF0-3172-237B-1F72-5056A21A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71663D4-C2A5-1E25-C54C-75519064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7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F18001E5-45E7-0F86-E9C6-A4ED96C8E3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Portfolio composition along the frontier (α = 0.05, β = 1.6)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D71D3-3709-D906-9ACA-51B5075B78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00"/>
          <a:stretch>
            <a:fillRect/>
          </a:stretch>
        </p:blipFill>
        <p:spPr>
          <a:xfrm>
            <a:off x="429768" y="1307592"/>
            <a:ext cx="4663440" cy="316846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29768" y="109728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Unpenalized  ·  Exponential  ·  Power  ·  Quadratic</a:t>
            </a:r>
          </a:p>
        </p:txBody>
      </p:sp>
      <p:sp>
        <p:nvSpPr>
          <p:cNvPr id="9" name="Numeral 01"/>
          <p:cNvSpPr txBox="1"/>
          <p:nvPr/>
        </p:nvSpPr>
        <p:spPr>
          <a:xfrm>
            <a:off x="5440680" y="116128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0" name="Row 1"/>
          <p:cNvSpPr txBox="1"/>
          <p:nvPr/>
        </p:nvSpPr>
        <p:spPr>
          <a:xfrm>
            <a:off x="6080760" y="1143000"/>
            <a:ext cx="2633472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The penalty reshapes the allocation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PE is reduced and the return range compressed; GLOB_EQ becomes the liquid substitute (ρ = 0.87 with PE).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0680" y="2340864"/>
            <a:ext cx="3273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eral 02"/>
          <p:cNvSpPr txBox="1"/>
          <p:nvPr/>
        </p:nvSpPr>
        <p:spPr>
          <a:xfrm>
            <a:off x="5440680" y="23957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3" name="Row 2"/>
          <p:cNvSpPr txBox="1"/>
          <p:nvPr/>
        </p:nvSpPr>
        <p:spPr>
          <a:xfrm>
            <a:off x="6080760" y="2377440"/>
            <a:ext cx="2633472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Only the power form is stable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The exponential collapses the frontier to a narrow range; the quadratic shows erratic composition spikes.</a:t>
            </a:r>
          </a:p>
        </p:txBody>
      </p:sp>
      <p:sp>
        <p:nvSpPr>
          <p:cNvPr id="14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The penalized optimization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806896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5C018-060B-6221-BD5A-2E6E05BB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A66260-79E2-9971-3AB8-544F97ED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Simulation Design: Stochastic Dynamics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A304B80-6580-B344-F358-80CBD29B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14F486-4A84-9490-AABF-9224CF73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8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14020F2-97D6-F870-049A-5A1CC817C9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/>
              <a:t>Correlated asset returns and a countercyclical payout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8284464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For each target illiquidity level L we run </a:t>
            </a:r>
            <a:r>
              <a:rPr sz="1050" b="1" i="0">
                <a:solidFill>
                  <a:srgbClr val="003C64"/>
                </a:solidFill>
              </a:rPr>
              <a:t>N = 1,000</a:t>
            </a:r>
            <a:r>
              <a:rPr sz="1050" b="0" i="0">
                <a:solidFill>
                  <a:srgbClr val="003C64"/>
                </a:solidFill>
              </a:rPr>
              <a:t> Monte Carlo scenarios over a </a:t>
            </a:r>
            <a:r>
              <a:rPr sz="1050" b="1" i="0">
                <a:solidFill>
                  <a:srgbClr val="003C64"/>
                </a:solidFill>
              </a:rPr>
              <a:t>20-year horizon</a:t>
            </a:r>
            <a:r>
              <a:rPr sz="1050" b="0" i="0">
                <a:solidFill>
                  <a:srgbClr val="003C64"/>
                </a:solidFill>
              </a:rPr>
              <a:t> and measure the average annual return foregone by operating under lock-up constraints, relative to an unconstrained benchmark.</a:t>
            </a:r>
          </a:p>
        </p:txBody>
      </p:sp>
      <p:sp>
        <p:nvSpPr>
          <p:cNvPr id="8" name="Numeral 01"/>
          <p:cNvSpPr txBox="1"/>
          <p:nvPr/>
        </p:nvSpPr>
        <p:spPr>
          <a:xfrm>
            <a:off x="429768" y="171907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71907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03C64"/>
                </a:solidFill>
              </a:rPr>
              <a:t>Asset returns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646464"/>
                </a:solidFill>
              </a:rPr>
              <a:t>Multivariate normal on Amundi's CMA</a:t>
            </a:r>
          </a:p>
        </p:txBody>
      </p:sp>
      <p:sp>
        <p:nvSpPr>
          <p:cNvPr id="10" name="Asset returns formula panel"/>
          <p:cNvSpPr/>
          <p:nvPr/>
        </p:nvSpPr>
        <p:spPr>
          <a:xfrm>
            <a:off x="429768" y="2286000"/>
            <a:ext cx="4050791" cy="566928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sset returns formula"/>
          <p:cNvSpPr txBox="1"/>
          <p:nvPr/>
        </p:nvSpPr>
        <p:spPr>
          <a:xfrm>
            <a:off x="429768" y="2286000"/>
            <a:ext cx="4050791" cy="566928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003C64"/>
                </a:solidFill>
              </a:rPr>
              <a:t>r</a:t>
            </a:r>
            <a:r>
              <a:rPr sz="1200" b="0" i="0" baseline="-25000">
                <a:solidFill>
                  <a:srgbClr val="003C64"/>
                </a:solidFill>
              </a:rPr>
              <a:t>t</a:t>
            </a:r>
            <a:r>
              <a:rPr sz="1200" b="0" i="0">
                <a:solidFill>
                  <a:srgbClr val="003C64"/>
                </a:solidFill>
              </a:rPr>
              <a:t>  =  μ + C · z</a:t>
            </a:r>
            <a:r>
              <a:rPr sz="1200" b="0" i="0" baseline="-25000">
                <a:solidFill>
                  <a:srgbClr val="003C64"/>
                </a:solidFill>
              </a:rPr>
              <a:t>t</a:t>
            </a:r>
            <a:r>
              <a:rPr sz="1200" b="0" i="0">
                <a:solidFill>
                  <a:srgbClr val="003C64"/>
                </a:solidFill>
              </a:rPr>
              <a:t> ,     z</a:t>
            </a:r>
            <a:r>
              <a:rPr sz="1200" b="0" i="0" baseline="-25000">
                <a:solidFill>
                  <a:srgbClr val="003C64"/>
                </a:solidFill>
              </a:rPr>
              <a:t>t</a:t>
            </a:r>
            <a:r>
              <a:rPr sz="1200" b="0" i="0">
                <a:solidFill>
                  <a:srgbClr val="003C64"/>
                </a:solidFill>
              </a:rPr>
              <a:t>  ~  N(0, 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017520"/>
            <a:ext cx="4050791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3C64"/>
                </a:solidFill>
              </a:rPr>
              <a:t>C is the Cholesky factor of Σ: cross-asset correlations are preserved exactly.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3C64"/>
                </a:solidFill>
              </a:rPr>
              <a:t>μ contains the expected returns from Amundi's Capital Market Assumptions.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3C64"/>
                </a:solidFill>
              </a:rPr>
              <a:t>Benchmark and real portfolio share the same draw: any return gap is due to illiquidity alone.</a:t>
            </a:r>
          </a:p>
        </p:txBody>
      </p:sp>
      <p:sp>
        <p:nvSpPr>
          <p:cNvPr id="13" name="Numeral 02"/>
          <p:cNvSpPr txBox="1"/>
          <p:nvPr/>
        </p:nvSpPr>
        <p:spPr>
          <a:xfrm>
            <a:off x="4663440" y="171907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71907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03C64"/>
                </a:solidFill>
              </a:rPr>
              <a:t>Annual payout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646464"/>
                </a:solidFill>
              </a:rPr>
              <a:t>Mean-reverting AR(1), correlated with equity</a:t>
            </a:r>
          </a:p>
        </p:txBody>
      </p:sp>
      <p:sp>
        <p:nvSpPr>
          <p:cNvPr id="15" name="Annual payout formula panel"/>
          <p:cNvSpPr/>
          <p:nvPr/>
        </p:nvSpPr>
        <p:spPr>
          <a:xfrm>
            <a:off x="4663440" y="2286000"/>
            <a:ext cx="4050791" cy="566928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nnual payout formula"/>
          <p:cNvSpPr txBox="1"/>
          <p:nvPr/>
        </p:nvSpPr>
        <p:spPr>
          <a:xfrm>
            <a:off x="4663440" y="2286000"/>
            <a:ext cx="4050791" cy="566928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003C64"/>
                </a:solidFill>
              </a:rPr>
              <a:t>δ</a:t>
            </a:r>
            <a:r>
              <a:rPr sz="1200" b="0" i="0" baseline="-25000">
                <a:solidFill>
                  <a:srgbClr val="003C64"/>
                </a:solidFill>
              </a:rPr>
              <a:t>t</a:t>
            </a:r>
            <a:r>
              <a:rPr sz="1200" b="0" i="0">
                <a:solidFill>
                  <a:srgbClr val="003C64"/>
                </a:solidFill>
              </a:rPr>
              <a:t> = δ</a:t>
            </a:r>
            <a:r>
              <a:rPr sz="1200" b="0" i="0" baseline="-25000">
                <a:solidFill>
                  <a:srgbClr val="003C64"/>
                </a:solidFill>
              </a:rPr>
              <a:t>LR</a:t>
            </a:r>
            <a:r>
              <a:rPr sz="1200" b="0" i="0">
                <a:solidFill>
                  <a:srgbClr val="003C64"/>
                </a:solidFill>
              </a:rPr>
              <a:t> + ρ</a:t>
            </a:r>
            <a:r>
              <a:rPr sz="1200" b="0" i="0" baseline="-25000">
                <a:solidFill>
                  <a:srgbClr val="003C64"/>
                </a:solidFill>
              </a:rPr>
              <a:t>AR</a:t>
            </a:r>
            <a:r>
              <a:rPr sz="1200" b="0" i="0">
                <a:solidFill>
                  <a:srgbClr val="003C64"/>
                </a:solidFill>
              </a:rPr>
              <a:t>(δ</a:t>
            </a:r>
            <a:r>
              <a:rPr sz="1200" b="0" i="0" baseline="-25000">
                <a:solidFill>
                  <a:srgbClr val="003C64"/>
                </a:solidFill>
              </a:rPr>
              <a:t>t−1</a:t>
            </a:r>
            <a:r>
              <a:rPr sz="1200" b="0" i="0">
                <a:solidFill>
                  <a:srgbClr val="003C64"/>
                </a:solidFill>
              </a:rPr>
              <a:t> − δ</a:t>
            </a:r>
            <a:r>
              <a:rPr sz="1200" b="0" i="0" baseline="-25000">
                <a:solidFill>
                  <a:srgbClr val="003C64"/>
                </a:solidFill>
              </a:rPr>
              <a:t>LR</a:t>
            </a:r>
            <a:r>
              <a:rPr sz="1200" b="0" i="0">
                <a:solidFill>
                  <a:srgbClr val="003C64"/>
                </a:solidFill>
              </a:rPr>
              <a:t>) + σ</a:t>
            </a:r>
            <a:r>
              <a:rPr sz="1200" b="0" i="0" baseline="-25000">
                <a:solidFill>
                  <a:srgbClr val="003C64"/>
                </a:solidFill>
              </a:rPr>
              <a:t>δ</a:t>
            </a:r>
            <a:r>
              <a:rPr sz="1200" b="0" i="0">
                <a:solidFill>
                  <a:srgbClr val="003C64"/>
                </a:solidFill>
              </a:rPr>
              <a:t>(ρ·z</a:t>
            </a:r>
            <a:r>
              <a:rPr sz="1200" b="0" i="0" baseline="-25000">
                <a:solidFill>
                  <a:srgbClr val="003C64"/>
                </a:solidFill>
              </a:rPr>
              <a:t>t</a:t>
            </a:r>
            <a:r>
              <a:rPr sz="1200" b="0" i="0" baseline="30000">
                <a:solidFill>
                  <a:srgbClr val="003C64"/>
                </a:solidFill>
              </a:rPr>
              <a:t>EQ</a:t>
            </a:r>
            <a:r>
              <a:rPr sz="1200" b="0" i="0">
                <a:solidFill>
                  <a:srgbClr val="003C64"/>
                </a:solidFill>
              </a:rPr>
              <a:t> + √(1−ρ²)·ε</a:t>
            </a:r>
            <a:r>
              <a:rPr sz="1200" b="0" i="0" baseline="-25000">
                <a:solidFill>
                  <a:srgbClr val="003C64"/>
                </a:solidFill>
              </a:rPr>
              <a:t>t</a:t>
            </a:r>
            <a:r>
              <a:rPr sz="1200" b="0" i="0">
                <a:solidFill>
                  <a:srgbClr val="003C64"/>
                </a:solidFill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17520"/>
            <a:ext cx="4050791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3C64"/>
                </a:solidFill>
              </a:rPr>
              <a:t>δ</a:t>
            </a:r>
            <a:r>
              <a:rPr sz="1000" b="0" i="0" baseline="-25000">
                <a:solidFill>
                  <a:srgbClr val="003C64"/>
                </a:solidFill>
              </a:rPr>
              <a:t>LR</a:t>
            </a:r>
            <a:r>
              <a:rPr sz="1000" b="0" i="0">
                <a:solidFill>
                  <a:srgbClr val="003C64"/>
                </a:solidFill>
              </a:rPr>
              <a:t> is the long-run mean payout rate, ρ</a:t>
            </a:r>
            <a:r>
              <a:rPr sz="1000" b="0" i="0" baseline="-25000">
                <a:solidFill>
                  <a:srgbClr val="003C64"/>
                </a:solidFill>
              </a:rPr>
              <a:t>AR</a:t>
            </a:r>
            <a:r>
              <a:rPr sz="1000" b="0" i="0">
                <a:solidFill>
                  <a:srgbClr val="003C64"/>
                </a:solidFill>
              </a:rPr>
              <a:t> its persistence: spending rules adjust slowly.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00" b="0" i="0">
                <a:solidFill>
                  <a:srgbClr val="003C64"/>
                </a:solidFill>
              </a:rPr>
              <a:t>ρ is the correlation with the equity shock; ε is an idiosyncratic shock.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00" b="1" i="0">
                <a:solidFill>
                  <a:srgbClr val="003C64"/>
                </a:solidFill>
              </a:rPr>
              <a:t>ρ &lt; 0: </a:t>
            </a:r>
            <a:r>
              <a:rPr sz="1000" b="0" i="0">
                <a:solidFill>
                  <a:srgbClr val="003C64"/>
                </a:solidFill>
              </a:rPr>
              <a:t>payout pressure is highest precisely when markets fall.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1737360"/>
            <a:ext cx="0" cy="2606040"/>
          </a:xfrm>
          <a:prstGeom prst="line">
            <a:avLst/>
          </a:prstGeom>
          <a:ln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  <p:extLst>
      <p:ext uri="{BB962C8B-B14F-4D97-AF65-F5344CB8AC3E}">
        <p14:creationId xmlns:p14="http://schemas.microsoft.com/office/powerpoint/2010/main" val="387791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99C8-EDE4-212B-85E4-6B03313C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714C07-FEEB-6AFB-C898-5A0278A62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Simulation Design: Lock-ups, Haircuts &amp; Costs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BC3286A-8F01-ADD7-EC26-608535F7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660AE3-B14C-1ABB-D8AE-DED24D21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9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8833E0-B710-E06A-A1B6-1430693C03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/>
              <a:t>Tranche tracking and secondary-market frictions</a:t>
            </a:r>
          </a:p>
        </p:txBody>
      </p:sp>
      <p:sp>
        <p:nvSpPr>
          <p:cNvPr id="7" name="Numeral 01"/>
          <p:cNvSpPr txBox="1"/>
          <p:nvPr/>
        </p:nvSpPr>
        <p:spPr>
          <a:xfrm>
            <a:off x="429768" y="1115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1554480"/>
            <a:ext cx="2651760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" y="164592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Lock-up periods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HF_FOF is locked for 2 years, GLOB_RE for 5 and GLOB_PE for 8. A tranche-tracking system records the purchase date of each position.</a:t>
            </a:r>
          </a:p>
        </p:txBody>
      </p:sp>
      <p:sp>
        <p:nvSpPr>
          <p:cNvPr id="10" name="Numeral 02"/>
          <p:cNvSpPr txBox="1"/>
          <p:nvPr/>
        </p:nvSpPr>
        <p:spPr>
          <a:xfrm>
            <a:off x="3246120" y="1115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1554480"/>
            <a:ext cx="2651759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46120" y="164592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Haircuts on early exit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A locked position sold before expiry, to pay the payout or restore the minimum buffer, incurs an asset-specific haircut hᵢ, held constant over the simulation.</a:t>
            </a:r>
          </a:p>
        </p:txBody>
      </p:sp>
      <p:sp>
        <p:nvSpPr>
          <p:cNvPr id="13" name="Numeral 03"/>
          <p:cNvSpPr txBox="1"/>
          <p:nvPr/>
        </p:nvSpPr>
        <p:spPr>
          <a:xfrm>
            <a:off x="6062472" y="1115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62472" y="1554480"/>
            <a:ext cx="2651760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62472" y="164592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Three sources of friction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The rebalancing gap from lock-ups, plus the haircuts paid on buffer restoration and on the proportional payout. The resulting costs are used to fit T(L).</a:t>
            </a:r>
          </a:p>
        </p:txBody>
      </p:sp>
      <p:graphicFrame>
        <p:nvGraphicFramePr>
          <p:cNvPr id="16" name="Lock-up and haircut table"/>
          <p:cNvGraphicFramePr>
            <a:graphicFrameLocks noGrp="1"/>
          </p:cNvGraphicFramePr>
          <p:nvPr/>
        </p:nvGraphicFramePr>
        <p:xfrm>
          <a:off x="429768" y="2834640"/>
          <a:ext cx="8284464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25880"/>
                <a:gridCol w="1188720"/>
                <a:gridCol w="1097280"/>
                <a:gridCol w="3483864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Asset class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Illiquidity index lᵢ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Lock-up (years)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Haircut hᵢ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Calibration rationale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MM_US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0.00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0.05%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Institutional transaction costs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GLOB_AGG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0.11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0.10%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Institutional transaction costs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GLOB_EQ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0.13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0.50%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Institutional transaction costs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HF_FOF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0.38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6325E"/>
                          </a:solidFill>
                        </a:rPr>
                        <a:t>5.0%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Redemption gates and notice periods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GLOB_RE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0.50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5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6325E"/>
                          </a:solidFill>
                        </a:rPr>
                        <a:t>12.0%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RE fund secondaries, lower end of range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GLOB_PE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1.00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6325E"/>
                          </a:solidFill>
                        </a:rPr>
                        <a:t>20.0%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Avg. discount 13.8%, higher in stress (Nadauld et al.)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ource"/>
          <p:cNvSpPr txBox="1"/>
          <p:nvPr/>
        </p:nvSpPr>
        <p:spPr>
          <a:xfrm>
            <a:off x="429768" y="4315968"/>
            <a:ext cx="8284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>Source: Table 3 of the thesis.</a:t>
            </a:r>
          </a:p>
        </p:txBody>
      </p:sp>
      <p:sp>
        <p:nvSpPr>
          <p:cNvPr id="18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  <p:extLst>
      <p:ext uri="{BB962C8B-B14F-4D97-AF65-F5344CB8AC3E}">
        <p14:creationId xmlns:p14="http://schemas.microsoft.com/office/powerpoint/2010/main" val="2226656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54C4-8D2E-2DC1-25CB-150BAB50F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9C507-C04A-AF79-2DD7-79FA52D6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The Annual Simulation Cycle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778F393-3C54-07A7-0C84-59B3503B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13B00C-E561-312B-CF56-F8DADEDD3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10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F205DB0-8A1E-1453-A7C2-C1BC6F1769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Five steps from market returns to the fitted penalty</a:t>
            </a:r>
            <a:endParaRPr lang="it-IT" dirty="0"/>
          </a:p>
        </p:txBody>
      </p:sp>
      <p:sp>
        <p:nvSpPr>
          <p:cNvPr id="7" name="Step A"/>
          <p:cNvSpPr/>
          <p:nvPr/>
        </p:nvSpPr>
        <p:spPr>
          <a:xfrm>
            <a:off x="429768" y="1097280"/>
            <a:ext cx="1495958" cy="365760"/>
          </a:xfrm>
          <a:prstGeom prst="rect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EE0"/>
                </a:solidFill>
              </a:rPr>
              <a:t>A   </a:t>
            </a:r>
            <a:r>
              <a:rPr sz="1050" b="1" i="0">
                <a:solidFill>
                  <a:srgbClr val="FFFFFF"/>
                </a:solidFill>
              </a:rPr>
              <a:t>Market returns</a:t>
            </a:r>
          </a:p>
        </p:txBody>
      </p:sp>
      <p:sp>
        <p:nvSpPr>
          <p:cNvPr id="8" name="Step A formula panel"/>
          <p:cNvSpPr/>
          <p:nvPr/>
        </p:nvSpPr>
        <p:spPr>
          <a:xfrm>
            <a:off x="429768" y="1463040"/>
            <a:ext cx="1495958" cy="50292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1495958" cy="50292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C64"/>
                </a:solidFill>
              </a:rPr>
              <a:t>r</a:t>
            </a:r>
            <a:r>
              <a:rPr sz="950" b="1" i="0" baseline="-25000">
                <a:solidFill>
                  <a:srgbClr val="003C64"/>
                </a:solidFill>
              </a:rPr>
              <a:t>t</a:t>
            </a:r>
            <a:r>
              <a:rPr sz="950" b="1" i="0">
                <a:solidFill>
                  <a:srgbClr val="003C64"/>
                </a:solidFill>
              </a:rPr>
              <a:t> ~ N(μ, Σ)</a:t>
            </a:r>
          </a:p>
        </p:txBody>
      </p:sp>
      <p:sp>
        <p:nvSpPr>
          <p:cNvPr id="10" name="Step A body"/>
          <p:cNvSpPr/>
          <p:nvPr/>
        </p:nvSpPr>
        <p:spPr>
          <a:xfrm>
            <a:off x="429768" y="1965960"/>
            <a:ext cx="1495958" cy="167335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2029968"/>
            <a:ext cx="1367942" cy="158191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0" i="0">
                <a:solidFill>
                  <a:srgbClr val="003C64"/>
                </a:solidFill>
              </a:rPr>
              <a:t>Same realization shared by the benchmark and the real portfolio.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0" i="0">
                <a:solidFill>
                  <a:srgbClr val="003C64"/>
                </a:solidFill>
              </a:rPr>
              <a:t>Any return difference captures only the illiquidity constraints, not different market outcomes.</a:t>
            </a:r>
          </a:p>
        </p:txBody>
      </p:sp>
      <p:sp>
        <p:nvSpPr>
          <p:cNvPr id="12" name="Chevron 11"/>
          <p:cNvSpPr/>
          <p:nvPr/>
        </p:nvSpPr>
        <p:spPr>
          <a:xfrm>
            <a:off x="1962302" y="1188720"/>
            <a:ext cx="128016" cy="182880"/>
          </a:xfrm>
          <a:prstGeom prst="chevron">
            <a:avLst/>
          </a:prstGeom>
          <a:solidFill>
            <a:srgbClr val="009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 B"/>
          <p:cNvSpPr/>
          <p:nvPr/>
        </p:nvSpPr>
        <p:spPr>
          <a:xfrm>
            <a:off x="2126894" y="1097280"/>
            <a:ext cx="1495958" cy="365760"/>
          </a:xfrm>
          <a:prstGeom prst="rect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EE0"/>
                </a:solidFill>
              </a:rPr>
              <a:t>B   </a:t>
            </a:r>
            <a:r>
              <a:rPr sz="1050" b="1" i="0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14" name="Step B formula panel"/>
          <p:cNvSpPr/>
          <p:nvPr/>
        </p:nvSpPr>
        <p:spPr>
          <a:xfrm>
            <a:off x="2126894" y="1463040"/>
            <a:ext cx="1495958" cy="50292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6894" y="1463040"/>
            <a:ext cx="1495958" cy="50292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C64"/>
                </a:solidFill>
              </a:rPr>
              <a:t>r</a:t>
            </a:r>
            <a:r>
              <a:rPr sz="950" b="1" i="0" baseline="-25000">
                <a:solidFill>
                  <a:srgbClr val="003C64"/>
                </a:solidFill>
              </a:rPr>
              <a:t>bench</a:t>
            </a:r>
            <a:r>
              <a:rPr sz="950" b="1" i="0">
                <a:solidFill>
                  <a:srgbClr val="003C64"/>
                </a:solidFill>
              </a:rPr>
              <a:t> = w</a:t>
            </a:r>
            <a:r>
              <a:rPr sz="950" b="1" i="0" baseline="-25000">
                <a:solidFill>
                  <a:srgbClr val="003C64"/>
                </a:solidFill>
              </a:rPr>
              <a:t>bd</a:t>
            </a:r>
            <a:r>
              <a:rPr sz="950" b="1" i="0">
                <a:solidFill>
                  <a:srgbClr val="003C64"/>
                </a:solidFill>
              </a:rPr>
              <a:t> · r</a:t>
            </a:r>
            <a:r>
              <a:rPr sz="950" b="1" i="0" baseline="-25000">
                <a:solidFill>
                  <a:srgbClr val="003C64"/>
                </a:solidFill>
              </a:rPr>
              <a:t>t</a:t>
            </a:r>
          </a:p>
        </p:txBody>
      </p:sp>
      <p:sp>
        <p:nvSpPr>
          <p:cNvPr id="16" name="Step B body"/>
          <p:cNvSpPr/>
          <p:nvPr/>
        </p:nvSpPr>
        <p:spPr>
          <a:xfrm>
            <a:off x="2126894" y="1965960"/>
            <a:ext cx="1495958" cy="167335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0902" y="2029968"/>
            <a:ext cx="1367942" cy="158191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0" i="0">
                <a:solidFill>
                  <a:srgbClr val="003C64"/>
                </a:solidFill>
              </a:rPr>
              <a:t>No illiquidity constraints: resets to w</a:t>
            </a:r>
            <a:r>
              <a:rPr sz="850" b="0" i="0" baseline="30000">
                <a:solidFill>
                  <a:srgbClr val="003C64"/>
                </a:solidFill>
              </a:rPr>
              <a:t>target</a:t>
            </a:r>
            <a:r>
              <a:rPr sz="850" b="0" i="0">
                <a:solidFill>
                  <a:srgbClr val="003C64"/>
                </a:solidFill>
              </a:rPr>
              <a:t> every year.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0" i="0">
                <a:solidFill>
                  <a:srgbClr val="003C64"/>
                </a:solidFill>
              </a:rPr>
              <a:t>Weights drift with the market: w</a:t>
            </a:r>
            <a:r>
              <a:rPr sz="850" b="0" i="0" baseline="-25000">
                <a:solidFill>
                  <a:srgbClr val="003C64"/>
                </a:solidFill>
              </a:rPr>
              <a:t>bd,i</a:t>
            </a:r>
            <a:r>
              <a:rPr sz="850" b="0" i="0">
                <a:solidFill>
                  <a:srgbClr val="003C64"/>
                </a:solidFill>
              </a:rPr>
              <a:t> = w</a:t>
            </a:r>
            <a:r>
              <a:rPr sz="850" b="0" i="0" baseline="-25000">
                <a:solidFill>
                  <a:srgbClr val="003C64"/>
                </a:solidFill>
              </a:rPr>
              <a:t>i</a:t>
            </a:r>
            <a:r>
              <a:rPr sz="850" b="0" i="0" baseline="30000">
                <a:solidFill>
                  <a:srgbClr val="003C64"/>
                </a:solidFill>
              </a:rPr>
              <a:t>target</a:t>
            </a:r>
            <a:r>
              <a:rPr sz="850" b="0" i="0">
                <a:solidFill>
                  <a:srgbClr val="003C64"/>
                </a:solidFill>
              </a:rPr>
              <a:t>(1+r</a:t>
            </a:r>
            <a:r>
              <a:rPr sz="850" b="0" i="0" baseline="-25000">
                <a:solidFill>
                  <a:srgbClr val="003C64"/>
                </a:solidFill>
              </a:rPr>
              <a:t>i</a:t>
            </a:r>
            <a:r>
              <a:rPr sz="850" b="0" i="0">
                <a:solidFill>
                  <a:srgbClr val="003C64"/>
                </a:solidFill>
              </a:rPr>
              <a:t>) / Σ</a:t>
            </a:r>
            <a:r>
              <a:rPr sz="850" b="0" i="0" baseline="-25000">
                <a:solidFill>
                  <a:srgbClr val="003C64"/>
                </a:solidFill>
              </a:rPr>
              <a:t>j</a:t>
            </a:r>
            <a:r>
              <a:rPr sz="850" b="0" i="0">
                <a:solidFill>
                  <a:srgbClr val="003C64"/>
                </a:solidFill>
              </a:rPr>
              <a:t> w</a:t>
            </a:r>
            <a:r>
              <a:rPr sz="850" b="0" i="0" baseline="-25000">
                <a:solidFill>
                  <a:srgbClr val="003C64"/>
                </a:solidFill>
              </a:rPr>
              <a:t>j</a:t>
            </a:r>
            <a:r>
              <a:rPr sz="850" b="0" i="0" baseline="30000">
                <a:solidFill>
                  <a:srgbClr val="003C64"/>
                </a:solidFill>
              </a:rPr>
              <a:t>target</a:t>
            </a:r>
            <a:r>
              <a:rPr sz="850" b="0" i="0">
                <a:solidFill>
                  <a:srgbClr val="003C64"/>
                </a:solidFill>
              </a:rPr>
              <a:t>(1+r</a:t>
            </a:r>
            <a:r>
              <a:rPr sz="850" b="0" i="0" baseline="-25000">
                <a:solidFill>
                  <a:srgbClr val="003C64"/>
                </a:solidFill>
              </a:rPr>
              <a:t>j</a:t>
            </a:r>
            <a:r>
              <a:rPr sz="850" b="0" i="0">
                <a:solidFill>
                  <a:srgbClr val="003C64"/>
                </a:solidFill>
              </a:rPr>
              <a:t>).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0" i="0">
                <a:solidFill>
                  <a:srgbClr val="003C64"/>
                </a:solidFill>
              </a:rPr>
              <a:t>Return computed on the post-drift weights.</a:t>
            </a:r>
          </a:p>
        </p:txBody>
      </p:sp>
      <p:sp>
        <p:nvSpPr>
          <p:cNvPr id="18" name="Chevron 17"/>
          <p:cNvSpPr/>
          <p:nvPr/>
        </p:nvSpPr>
        <p:spPr>
          <a:xfrm>
            <a:off x="3659428" y="1188720"/>
            <a:ext cx="128016" cy="182880"/>
          </a:xfrm>
          <a:prstGeom prst="chevron">
            <a:avLst/>
          </a:prstGeom>
          <a:solidFill>
            <a:srgbClr val="009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 C"/>
          <p:cNvSpPr/>
          <p:nvPr/>
        </p:nvSpPr>
        <p:spPr>
          <a:xfrm>
            <a:off x="3824020" y="1097280"/>
            <a:ext cx="1495958" cy="365760"/>
          </a:xfrm>
          <a:prstGeom prst="rect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EE0"/>
                </a:solidFill>
              </a:rPr>
              <a:t>C   </a:t>
            </a:r>
            <a:r>
              <a:rPr sz="1050" b="1" i="0">
                <a:solidFill>
                  <a:srgbClr val="FFFFFF"/>
                </a:solidFill>
              </a:rPr>
              <a:t>Real portfolio</a:t>
            </a:r>
          </a:p>
        </p:txBody>
      </p:sp>
      <p:sp>
        <p:nvSpPr>
          <p:cNvPr id="20" name="Step C formula panel"/>
          <p:cNvSpPr/>
          <p:nvPr/>
        </p:nvSpPr>
        <p:spPr>
          <a:xfrm>
            <a:off x="3824020" y="1463040"/>
            <a:ext cx="1495958" cy="50292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4020" y="1463040"/>
            <a:ext cx="1495958" cy="50292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C64"/>
                </a:solidFill>
              </a:rPr>
              <a:t>drift → payout → buffer</a:t>
            </a:r>
          </a:p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C64"/>
                </a:solidFill>
              </a:rPr>
              <a:t>→ rebalance</a:t>
            </a:r>
          </a:p>
        </p:txBody>
      </p:sp>
      <p:sp>
        <p:nvSpPr>
          <p:cNvPr id="22" name="Step C body"/>
          <p:cNvSpPr/>
          <p:nvPr/>
        </p:nvSpPr>
        <p:spPr>
          <a:xfrm>
            <a:off x="3824020" y="1965960"/>
            <a:ext cx="1495958" cy="167335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8028" y="2029968"/>
            <a:ext cx="1367942" cy="158191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1" i="0">
                <a:solidFill>
                  <a:srgbClr val="003C64"/>
                </a:solidFill>
              </a:rPr>
              <a:t>Payout δ</a:t>
            </a:r>
            <a:r>
              <a:rPr sz="850" b="1" i="0" baseline="-25000">
                <a:solidFill>
                  <a:srgbClr val="003C64"/>
                </a:solidFill>
              </a:rPr>
              <a:t>t</a:t>
            </a:r>
            <a:r>
              <a:rPr sz="850" b="1" i="0">
                <a:solidFill>
                  <a:srgbClr val="003C64"/>
                </a:solidFill>
              </a:rPr>
              <a:t>: </a:t>
            </a:r>
            <a:r>
              <a:rPr sz="850" b="0" i="0">
                <a:solidFill>
                  <a:srgbClr val="003C64"/>
                </a:solidFill>
              </a:rPr>
              <a:t>free assets sold directly, locked assets at a secondary-market haircut.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1" i="0">
                <a:solidFill>
                  <a:srgbClr val="003C64"/>
                </a:solidFill>
              </a:rPr>
              <a:t>Buffer restore: </a:t>
            </a:r>
            <a:r>
              <a:rPr sz="850" b="0" i="0">
                <a:solidFill>
                  <a:srgbClr val="003C64"/>
                </a:solidFill>
              </a:rPr>
              <a:t>unlocked illiquid assets first (no haircut), then locked ones (with haircut).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1" i="0">
                <a:solidFill>
                  <a:srgbClr val="003C64"/>
                </a:solidFill>
              </a:rPr>
              <a:t>Rebalancing: </a:t>
            </a:r>
            <a:r>
              <a:rPr sz="850" b="0" i="0">
                <a:solidFill>
                  <a:srgbClr val="003C64"/>
                </a:solidFill>
              </a:rPr>
              <a:t>min Σ(w</a:t>
            </a:r>
            <a:r>
              <a:rPr sz="850" b="0" i="0" baseline="-25000">
                <a:solidFill>
                  <a:srgbClr val="003C64"/>
                </a:solidFill>
              </a:rPr>
              <a:t>i</a:t>
            </a:r>
            <a:r>
              <a:rPr sz="850" b="0" i="0">
                <a:solidFill>
                  <a:srgbClr val="003C64"/>
                </a:solidFill>
              </a:rPr>
              <a:t> − w</a:t>
            </a:r>
            <a:r>
              <a:rPr sz="850" b="0" i="0" baseline="-25000">
                <a:solidFill>
                  <a:srgbClr val="003C64"/>
                </a:solidFill>
              </a:rPr>
              <a:t>i</a:t>
            </a:r>
            <a:r>
              <a:rPr sz="850" b="0" i="0" baseline="30000">
                <a:solidFill>
                  <a:srgbClr val="003C64"/>
                </a:solidFill>
              </a:rPr>
              <a:t>target</a:t>
            </a:r>
            <a:r>
              <a:rPr sz="850" b="0" i="0">
                <a:solidFill>
                  <a:srgbClr val="003C64"/>
                </a:solidFill>
              </a:rPr>
              <a:t>)²  s.t.  w</a:t>
            </a:r>
            <a:r>
              <a:rPr sz="850" b="0" i="0" baseline="-25000">
                <a:solidFill>
                  <a:srgbClr val="003C64"/>
                </a:solidFill>
              </a:rPr>
              <a:t>i</a:t>
            </a:r>
            <a:r>
              <a:rPr sz="850" b="0" i="0">
                <a:solidFill>
                  <a:srgbClr val="003C64"/>
                </a:solidFill>
              </a:rPr>
              <a:t> ≥ w</a:t>
            </a:r>
            <a:r>
              <a:rPr sz="850" b="0" i="0" baseline="-25000">
                <a:solidFill>
                  <a:srgbClr val="003C64"/>
                </a:solidFill>
              </a:rPr>
              <a:t>i</a:t>
            </a:r>
            <a:r>
              <a:rPr sz="850" b="0" i="0" baseline="30000">
                <a:solidFill>
                  <a:srgbClr val="003C64"/>
                </a:solidFill>
              </a:rPr>
              <a:t>locked</a:t>
            </a:r>
            <a:r>
              <a:rPr sz="850" b="0" i="0">
                <a:solidFill>
                  <a:srgbClr val="003C64"/>
                </a:solidFill>
              </a:rPr>
              <a:t>.</a:t>
            </a:r>
          </a:p>
        </p:txBody>
      </p:sp>
      <p:sp>
        <p:nvSpPr>
          <p:cNvPr id="24" name="Chevron 23"/>
          <p:cNvSpPr/>
          <p:nvPr/>
        </p:nvSpPr>
        <p:spPr>
          <a:xfrm>
            <a:off x="5356555" y="1188720"/>
            <a:ext cx="128016" cy="182880"/>
          </a:xfrm>
          <a:prstGeom prst="chevron">
            <a:avLst/>
          </a:prstGeom>
          <a:solidFill>
            <a:srgbClr val="009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ep D"/>
          <p:cNvSpPr/>
          <p:nvPr/>
        </p:nvSpPr>
        <p:spPr>
          <a:xfrm>
            <a:off x="5521147" y="1097280"/>
            <a:ext cx="1495958" cy="365760"/>
          </a:xfrm>
          <a:prstGeom prst="rect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EE0"/>
                </a:solidFill>
              </a:rPr>
              <a:t>D   </a:t>
            </a:r>
            <a:r>
              <a:rPr sz="1050" b="1" i="0">
                <a:solidFill>
                  <a:srgbClr val="FFFFFF"/>
                </a:solidFill>
              </a:rPr>
              <a:t>Annual cost</a:t>
            </a:r>
          </a:p>
        </p:txBody>
      </p:sp>
      <p:sp>
        <p:nvSpPr>
          <p:cNvPr id="26" name="Step D formula panel"/>
          <p:cNvSpPr/>
          <p:nvPr/>
        </p:nvSpPr>
        <p:spPr>
          <a:xfrm>
            <a:off x="5521147" y="1463040"/>
            <a:ext cx="1495958" cy="50292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1147" y="1463040"/>
            <a:ext cx="1495958" cy="50292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C64"/>
                </a:solidFill>
              </a:rPr>
              <a:t>cost</a:t>
            </a:r>
            <a:r>
              <a:rPr sz="950" b="1" i="0" baseline="-25000">
                <a:solidFill>
                  <a:srgbClr val="003C64"/>
                </a:solidFill>
              </a:rPr>
              <a:t>t</a:t>
            </a:r>
            <a:r>
              <a:rPr sz="950" b="1" i="0">
                <a:solidFill>
                  <a:srgbClr val="003C64"/>
                </a:solidFill>
              </a:rPr>
              <a:t> = (r</a:t>
            </a:r>
            <a:r>
              <a:rPr sz="950" b="1" i="0" baseline="-25000">
                <a:solidFill>
                  <a:srgbClr val="003C64"/>
                </a:solidFill>
              </a:rPr>
              <a:t>bench</a:t>
            </a:r>
            <a:r>
              <a:rPr sz="950" b="1" i="0">
                <a:solidFill>
                  <a:srgbClr val="003C64"/>
                </a:solidFill>
              </a:rPr>
              <a:t> − r</a:t>
            </a:r>
            <a:r>
              <a:rPr sz="950" b="1" i="0" baseline="-25000">
                <a:solidFill>
                  <a:srgbClr val="003C64"/>
                </a:solidFill>
              </a:rPr>
              <a:t>real</a:t>
            </a:r>
            <a:r>
              <a:rPr sz="950" b="1" i="0">
                <a:solidFill>
                  <a:srgbClr val="003C64"/>
                </a:solidFill>
              </a:rPr>
              <a:t>)</a:t>
            </a:r>
          </a:p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C64"/>
                </a:solidFill>
              </a:rPr>
              <a:t>+ cost</a:t>
            </a:r>
            <a:r>
              <a:rPr sz="950" b="1" i="0" baseline="-25000">
                <a:solidFill>
                  <a:srgbClr val="003C64"/>
                </a:solidFill>
              </a:rPr>
              <a:t>h</a:t>
            </a:r>
            <a:r>
              <a:rPr sz="950" b="1" i="0">
                <a:solidFill>
                  <a:srgbClr val="003C64"/>
                </a:solidFill>
              </a:rPr>
              <a:t> + cost</a:t>
            </a:r>
            <a:r>
              <a:rPr sz="950" b="1" i="0" baseline="-25000">
                <a:solidFill>
                  <a:srgbClr val="003C64"/>
                </a:solidFill>
              </a:rPr>
              <a:t>fp</a:t>
            </a:r>
            <a:r>
              <a:rPr sz="950" b="1" i="0">
                <a:solidFill>
                  <a:srgbClr val="003C64"/>
                </a:solidFill>
              </a:rPr>
              <a:t/>
            </a:r>
          </a:p>
        </p:txBody>
      </p:sp>
      <p:sp>
        <p:nvSpPr>
          <p:cNvPr id="28" name="Step D body"/>
          <p:cNvSpPr/>
          <p:nvPr/>
        </p:nvSpPr>
        <p:spPr>
          <a:xfrm>
            <a:off x="5521147" y="1965960"/>
            <a:ext cx="1495958" cy="167335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5155" y="2029968"/>
            <a:ext cx="1367942" cy="158191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0" i="0">
                <a:solidFill>
                  <a:srgbClr val="003C64"/>
                </a:solidFill>
              </a:rPr>
              <a:t>Measured on weights after drift, payout and restore, before year-end rebalancing.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0" i="0">
                <a:solidFill>
                  <a:srgbClr val="003C64"/>
                </a:solidFill>
              </a:rPr>
              <a:t>cost</a:t>
            </a:r>
            <a:r>
              <a:rPr sz="850" b="0" i="0" baseline="-25000">
                <a:solidFill>
                  <a:srgbClr val="003C64"/>
                </a:solidFill>
              </a:rPr>
              <a:t>h</a:t>
            </a:r>
            <a:r>
              <a:rPr sz="850" b="0" i="0">
                <a:solidFill>
                  <a:srgbClr val="003C64"/>
                </a:solidFill>
              </a:rPr>
              <a:t>: haircuts to restore the buffer;  cost</a:t>
            </a:r>
            <a:r>
              <a:rPr sz="850" b="0" i="0" baseline="-25000">
                <a:solidFill>
                  <a:srgbClr val="003C64"/>
                </a:solidFill>
              </a:rPr>
              <a:t>fp</a:t>
            </a:r>
            <a:r>
              <a:rPr sz="850" b="0" i="0">
                <a:solidFill>
                  <a:srgbClr val="003C64"/>
                </a:solidFill>
              </a:rPr>
              <a:t>: haircuts on payout sales.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3681" y="1188720"/>
            <a:ext cx="128016" cy="182880"/>
          </a:xfrm>
          <a:prstGeom prst="chevron">
            <a:avLst/>
          </a:prstGeom>
          <a:solidFill>
            <a:srgbClr val="00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ep E"/>
          <p:cNvSpPr/>
          <p:nvPr/>
        </p:nvSpPr>
        <p:spPr>
          <a:xfrm>
            <a:off x="7218273" y="1097280"/>
            <a:ext cx="1495958" cy="365760"/>
          </a:xfrm>
          <a:prstGeom prst="rect">
            <a:avLst/>
          </a:prstGeom>
          <a:solidFill>
            <a:srgbClr val="00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EE0"/>
                </a:solidFill>
              </a:rPr>
              <a:t>E   </a:t>
            </a:r>
            <a:r>
              <a:rPr sz="1050" b="1" i="0">
                <a:solidFill>
                  <a:srgbClr val="FFFFFF"/>
                </a:solidFill>
              </a:rPr>
              <a:t>Fitting</a:t>
            </a:r>
          </a:p>
        </p:txBody>
      </p:sp>
      <p:sp>
        <p:nvSpPr>
          <p:cNvPr id="32" name="Step E formula panel"/>
          <p:cNvSpPr/>
          <p:nvPr/>
        </p:nvSpPr>
        <p:spPr>
          <a:xfrm>
            <a:off x="7218273" y="1463040"/>
            <a:ext cx="1495958" cy="50292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18273" y="1463040"/>
            <a:ext cx="1495958" cy="50292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03C64"/>
                </a:solidFill>
              </a:rPr>
              <a:t>T̂(L) = A · L</a:t>
            </a:r>
            <a:r>
              <a:rPr sz="950" b="1" i="0" baseline="30000">
                <a:solidFill>
                  <a:srgbClr val="003C64"/>
                </a:solidFill>
              </a:rPr>
              <a:t>B</a:t>
            </a:r>
          </a:p>
        </p:txBody>
      </p:sp>
      <p:sp>
        <p:nvSpPr>
          <p:cNvPr id="34" name="Step E body"/>
          <p:cNvSpPr/>
          <p:nvPr/>
        </p:nvSpPr>
        <p:spPr>
          <a:xfrm>
            <a:off x="7218273" y="1965960"/>
            <a:ext cx="1495958" cy="167335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82281" y="2029968"/>
            <a:ext cx="1367942" cy="158191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0" i="0">
                <a:solidFill>
                  <a:srgbClr val="003C64"/>
                </a:solidFill>
              </a:rPr>
              <a:t>Average annual cost at each illiquidity level L, across years and scenarios.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0" i="0">
                <a:solidFill>
                  <a:srgbClr val="003C64"/>
                </a:solidFill>
              </a:rPr>
              <a:t>Non-linear OLS fit of the accumulated penalty.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850" b="0" i="0">
                <a:solidFill>
                  <a:srgbClr val="003C64"/>
                </a:solidFill>
              </a:rPr>
              <a:t>Recovered analytically: β = B − 1,  α = A · B.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269126" y="3639312"/>
            <a:ext cx="0" cy="365760"/>
          </a:xfrm>
          <a:prstGeom prst="line">
            <a:avLst/>
          </a:prstGeom>
          <a:ln w="2222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177747" y="4005072"/>
            <a:ext cx="5091379" cy="0"/>
          </a:xfrm>
          <a:prstGeom prst="line">
            <a:avLst/>
          </a:prstGeom>
          <a:ln w="2222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77747" y="3657600"/>
            <a:ext cx="0" cy="347472"/>
          </a:xfrm>
          <a:prstGeom prst="line">
            <a:avLst/>
          </a:prstGeom>
          <a:ln w="22225">
            <a:solidFill>
              <a:srgbClr val="009E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oop label"/>
          <p:cNvSpPr/>
          <p:nvPr/>
        </p:nvSpPr>
        <p:spPr>
          <a:xfrm>
            <a:off x="1497787" y="3877056"/>
            <a:ext cx="445129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Next year t + 1</a:t>
            </a:r>
            <a:r>
              <a:rPr sz="900" b="0" i="0">
                <a:solidFill>
                  <a:srgbClr val="003C64"/>
                </a:solidFill>
              </a:rPr>
              <a:t>  ·  loop over T = 20 years × N = 1,000 scenarios, at every L</a:t>
            </a:r>
          </a:p>
        </p:txBody>
      </p:sp>
      <p:sp>
        <p:nvSpPr>
          <p:cNvPr id="40" name="Step E note"/>
          <p:cNvSpPr txBox="1"/>
          <p:nvPr/>
        </p:nvSpPr>
        <p:spPr>
          <a:xfrm>
            <a:off x="7218273" y="3749039"/>
            <a:ext cx="149595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3C64"/>
                </a:solidFill>
              </a:rPr>
              <a:t>Once the loop is complete: </a:t>
            </a:r>
            <a:r>
              <a:rPr sz="850" b="0" i="0">
                <a:solidFill>
                  <a:srgbClr val="003C64"/>
                </a:solidFill>
              </a:rPr>
              <a:t>one point per L, one curve per archetype</a:t>
            </a:r>
          </a:p>
        </p:txBody>
      </p:sp>
      <p:sp>
        <p:nvSpPr>
          <p:cNvPr id="41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  <p:extLst>
      <p:ext uri="{BB962C8B-B14F-4D97-AF65-F5344CB8AC3E}">
        <p14:creationId xmlns:p14="http://schemas.microsoft.com/office/powerpoint/2010/main" val="253787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E14DC-E81C-4003-C6DF-E36BC107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B1D38-921B-2270-720C-33A0BD46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Gross vs Net Frontiers Across Archetypes</a:t>
            </a:r>
            <a:endParaRPr lang="it-IT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5ED2229-7264-68EE-24F4-9784D657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9B9EB5-A5A9-4EDC-7E6E-0897BA37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12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7FA61643-BBD3-7EFD-D483-AF3F03AE0B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Penalized (red) versus unpenalized (dashed) efficient frontier with the calibrated curves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078992"/>
            <a:ext cx="213055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Pension Fund</a:t>
            </a:r>
            <a:r>
              <a:rPr sz="850" b="0" i="0">
                <a:solidFill>
                  <a:srgbClr val="646464"/>
                </a:solidFill>
              </a:rPr>
              <a:t>   α = 0.13, β = 2.64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7320" y="1316736"/>
            <a:ext cx="213055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fr_pf.png"/>
          <p:cNvPicPr>
            <a:picLocks noChangeAspect="1"/>
          </p:cNvPicPr>
          <p:nvPr/>
        </p:nvPicPr>
        <p:blipFill>
          <a:blip r:embed="rId6"/>
          <a:srcRect t="18000" r="50000"/>
          <a:stretch>
            <a:fillRect/>
          </a:stretch>
        </p:blipFill>
        <p:spPr>
          <a:xfrm>
            <a:off x="1417320" y="1371600"/>
            <a:ext cx="2130552" cy="1302414"/>
          </a:xfrm>
          <a:prstGeom prst="rect">
            <a:avLst/>
          </a:prstGeom>
        </p:spPr>
      </p:pic>
      <p:pic>
        <p:nvPicPr>
          <p:cNvPr id="10" name="Picture 9" descr="fr_pf.png"/>
          <p:cNvPicPr>
            <a:picLocks noChangeAspect="1"/>
          </p:cNvPicPr>
          <p:nvPr/>
        </p:nvPicPr>
        <p:blipFill>
          <a:blip r:embed="rId6"/>
          <a:srcRect t="18000" l="50000"/>
          <a:stretch>
            <a:fillRect/>
          </a:stretch>
        </p:blipFill>
        <p:spPr>
          <a:xfrm>
            <a:off x="1417320" y="2728878"/>
            <a:ext cx="2130552" cy="13024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9624" y="1078992"/>
            <a:ext cx="213055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Endowment</a:t>
            </a:r>
            <a:r>
              <a:rPr sz="850" b="0" i="0">
                <a:solidFill>
                  <a:srgbClr val="646464"/>
                </a:solidFill>
              </a:rPr>
              <a:t>   α = 0.15, β = 4.16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9624" y="1316736"/>
            <a:ext cx="213055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fr_en.png"/>
          <p:cNvPicPr>
            <a:picLocks noChangeAspect="1"/>
          </p:cNvPicPr>
          <p:nvPr/>
        </p:nvPicPr>
        <p:blipFill>
          <a:blip r:embed="rId7"/>
          <a:srcRect t="18000" r="50000"/>
          <a:stretch>
            <a:fillRect/>
          </a:stretch>
        </p:blipFill>
        <p:spPr>
          <a:xfrm>
            <a:off x="3849624" y="1371600"/>
            <a:ext cx="2130552" cy="1302414"/>
          </a:xfrm>
          <a:prstGeom prst="rect">
            <a:avLst/>
          </a:prstGeom>
        </p:spPr>
      </p:pic>
      <p:pic>
        <p:nvPicPr>
          <p:cNvPr id="14" name="Picture 13" descr="fr_en.png"/>
          <p:cNvPicPr>
            <a:picLocks noChangeAspect="1"/>
          </p:cNvPicPr>
          <p:nvPr/>
        </p:nvPicPr>
        <p:blipFill>
          <a:blip r:embed="rId7"/>
          <a:srcRect t="18000" l="50000"/>
          <a:stretch>
            <a:fillRect/>
          </a:stretch>
        </p:blipFill>
        <p:spPr>
          <a:xfrm>
            <a:off x="3849624" y="2728878"/>
            <a:ext cx="2130552" cy="13024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81928" y="1078992"/>
            <a:ext cx="213055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Family Office</a:t>
            </a:r>
            <a:r>
              <a:rPr sz="850" b="0" i="0">
                <a:solidFill>
                  <a:srgbClr val="646464"/>
                </a:solidFill>
              </a:rPr>
              <a:t>   α = 0.015, β = 1.73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81928" y="1316736"/>
            <a:ext cx="213055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fr_fo.png"/>
          <p:cNvPicPr>
            <a:picLocks noChangeAspect="1"/>
          </p:cNvPicPr>
          <p:nvPr/>
        </p:nvPicPr>
        <p:blipFill>
          <a:blip r:embed="rId8"/>
          <a:srcRect t="18000" r="50000"/>
          <a:stretch>
            <a:fillRect/>
          </a:stretch>
        </p:blipFill>
        <p:spPr>
          <a:xfrm>
            <a:off x="6281928" y="1371600"/>
            <a:ext cx="2130552" cy="1302414"/>
          </a:xfrm>
          <a:prstGeom prst="rect">
            <a:avLst/>
          </a:prstGeom>
        </p:spPr>
      </p:pic>
      <p:pic>
        <p:nvPicPr>
          <p:cNvPr id="18" name="Picture 17" descr="fr_fo.png"/>
          <p:cNvPicPr>
            <a:picLocks noChangeAspect="1"/>
          </p:cNvPicPr>
          <p:nvPr/>
        </p:nvPicPr>
        <p:blipFill>
          <a:blip r:embed="rId8"/>
          <a:srcRect t="18000" l="50000"/>
          <a:stretch>
            <a:fillRect/>
          </a:stretch>
        </p:blipFill>
        <p:spPr>
          <a:xfrm>
            <a:off x="6281928" y="2728878"/>
            <a:ext cx="2130552" cy="13024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9768" y="1371600"/>
            <a:ext cx="822960" cy="13024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4F9F"/>
                </a:solidFill>
              </a:rPr>
              <a:t>Gross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4F9F"/>
                </a:solidFill>
              </a:rPr>
              <a:t>expected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2728878"/>
            <a:ext cx="822960" cy="13024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4F9F"/>
                </a:solidFill>
              </a:rPr>
              <a:t>Net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4F9F"/>
                </a:solidFill>
              </a:rPr>
              <a:t>return μ − T(L)</a:t>
            </a:r>
          </a:p>
        </p:txBody>
      </p:sp>
      <p:sp>
        <p:nvSpPr>
          <p:cNvPr id="21" name="Key takeaway"/>
          <p:cNvSpPr/>
          <p:nvPr/>
        </p:nvSpPr>
        <p:spPr>
          <a:xfrm>
            <a:off x="429768" y="4160520"/>
            <a:ext cx="8284464" cy="36576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4F9F"/>
                </a:solidFill>
              </a:rPr>
              <a:t>Key takeaway  </a:t>
            </a:r>
            <a:r>
              <a:rPr sz="1100" b="0" i="0">
                <a:solidFill>
                  <a:srgbClr val="003C64"/>
                </a:solidFill>
              </a:rPr>
              <a:t>net of the penalty the penalized frontier dominates: &gt;150 bp for the pension fund, a high-volatility gap for the endowment, virtually none for the family office.</a:t>
            </a:r>
          </a:p>
        </p:txBody>
      </p:sp>
      <p:sp>
        <p:nvSpPr>
          <p:cNvPr id="22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Implications for portfolio construction</a:t>
            </a:r>
          </a:p>
        </p:txBody>
      </p:sp>
    </p:spTree>
    <p:extLst>
      <p:ext uri="{BB962C8B-B14F-4D97-AF65-F5344CB8AC3E}">
        <p14:creationId xmlns:p14="http://schemas.microsoft.com/office/powerpoint/2010/main" val="2935203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8D60-FEB1-148E-ACE7-4E146BDE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592E3-2BC7-560B-B181-409FF86B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Endowment: Calibrated Curve and Allocation</a:t>
            </a:r>
            <a:endParaRPr lang="it-IT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77B77B-8248-9084-69AC-339FD38E7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8967EB-DFE4-41E7-D98A-3AECB90F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13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0CC3D855-983B-78AA-D644-42E35201F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Intermediate profile with the most convex cost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α = 0.15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Level of the marginal penalty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" y="172821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68" y="17830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β = 4.16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1488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Curvature of the marginal penalty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9768" y="236829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768" y="242316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R² = 0.987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788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Fit quality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" y="3008375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akeaways"/>
          <p:cNvSpPr txBox="1"/>
          <p:nvPr/>
        </p:nvSpPr>
        <p:spPr>
          <a:xfrm>
            <a:off x="429768" y="3108959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Costs negligible at low illiquidity, then accelerating sharply above a threshold.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Below the threshold, penalized and unpenalized allocations are nearly identical.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Above it, GLOB_EQ appears abruptly and displaces GLOB_PE.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3739896" y="1097280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Simulated cost and fitted curve  ·  Target portfolios by illiquidity level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rcRect t="14000"/>
          <a:stretch>
            <a:fillRect/>
          </a:stretch>
        </p:blipFill>
        <p:spPr>
          <a:xfrm>
            <a:off x="3739896" y="1307592"/>
            <a:ext cx="4343400" cy="1485773"/>
          </a:xfrm>
          <a:prstGeom prst="rect">
            <a:avLst/>
          </a:prstGeom>
        </p:spPr>
      </p:pic>
      <p:sp>
        <p:nvSpPr>
          <p:cNvPr id="19" name="Caption"/>
          <p:cNvSpPr txBox="1"/>
          <p:nvPr/>
        </p:nvSpPr>
        <p:spPr>
          <a:xfrm>
            <a:off x="3739896" y="2848229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Portfolio composition along the frontier: unpenalized vs penalized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rcRect t="8500"/>
          <a:stretch>
            <a:fillRect/>
          </a:stretch>
        </p:blipFill>
        <p:spPr>
          <a:xfrm>
            <a:off x="3739896" y="3049397"/>
            <a:ext cx="4343400" cy="1532647"/>
          </a:xfrm>
          <a:prstGeom prst="rect">
            <a:avLst/>
          </a:prstGeom>
        </p:spPr>
      </p:pic>
      <p:sp>
        <p:nvSpPr>
          <p:cNvPr id="21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Implications for portfolio construction</a:t>
            </a:r>
          </a:p>
        </p:txBody>
      </p:sp>
    </p:spTree>
    <p:extLst>
      <p:ext uri="{BB962C8B-B14F-4D97-AF65-F5344CB8AC3E}">
        <p14:creationId xmlns:p14="http://schemas.microsoft.com/office/powerpoint/2010/main" val="325173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C2D3-9D18-C66F-65B8-E99B79F3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B23005-DDC6-DB0F-8298-E7FA4DDE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Family Office: Calibrated Curve and Allocation</a:t>
            </a:r>
            <a:endParaRPr lang="it-IT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D1C752-901B-D0BA-07EE-DEBC2B49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39F79E6-591F-3D9F-F343-231A52C4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14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C7F48FB6-D265-8401-D8EC-5B92EC71F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The least constrained archetype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α = 0.015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Level of the marginal penalty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" y="172821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68" y="17830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β = 1.73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1488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Curvature of the marginal penalty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9768" y="236829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768" y="242316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R² = 0.997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788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Fit quality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" y="3008375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akeaways"/>
          <p:cNvSpPr txBox="1"/>
          <p:nvPr/>
        </p:nvSpPr>
        <p:spPr>
          <a:xfrm>
            <a:off x="429768" y="3108959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Mildest and most gradually accumulating penalty.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GLOB_PE dominates at high return levels in both cases.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For this investor the unpenalized MVO is a close approximation.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3739896" y="1097280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Simulated cost and fitted curve  ·  Target portfolios by illiquidity level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rcRect t="14000"/>
          <a:stretch>
            <a:fillRect/>
          </a:stretch>
        </p:blipFill>
        <p:spPr>
          <a:xfrm>
            <a:off x="3739896" y="1307592"/>
            <a:ext cx="4343400" cy="1485773"/>
          </a:xfrm>
          <a:prstGeom prst="rect">
            <a:avLst/>
          </a:prstGeom>
        </p:spPr>
      </p:pic>
      <p:sp>
        <p:nvSpPr>
          <p:cNvPr id="19" name="Caption"/>
          <p:cNvSpPr txBox="1"/>
          <p:nvPr/>
        </p:nvSpPr>
        <p:spPr>
          <a:xfrm>
            <a:off x="3739896" y="2848229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Portfolio composition along the frontier: unpenalized vs penalized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rcRect t="8500"/>
          <a:stretch>
            <a:fillRect/>
          </a:stretch>
        </p:blipFill>
        <p:spPr>
          <a:xfrm>
            <a:off x="3739896" y="3049397"/>
            <a:ext cx="4343400" cy="1532647"/>
          </a:xfrm>
          <a:prstGeom prst="rect">
            <a:avLst/>
          </a:prstGeom>
        </p:spPr>
      </p:pic>
      <p:sp>
        <p:nvSpPr>
          <p:cNvPr id="21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Implications for portfolio construction</a:t>
            </a:r>
          </a:p>
        </p:txBody>
      </p:sp>
    </p:spTree>
    <p:extLst>
      <p:ext uri="{BB962C8B-B14F-4D97-AF65-F5344CB8AC3E}">
        <p14:creationId xmlns:p14="http://schemas.microsoft.com/office/powerpoint/2010/main" val="1496715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42BB-2F88-818F-27A5-44050609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6E98C5-44F2-D556-4D4E-40085055D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What’s</a:t>
            </a:r>
            <a:r>
              <a:rPr lang="it-IT" dirty="0"/>
              <a:t> </a:t>
            </a:r>
            <a:r>
              <a:rPr lang="it-IT" dirty="0" err="1"/>
              <a:t>next</a:t>
            </a:r>
            <a:r>
              <a:rPr lang="it-IT" dirty="0"/>
              <a:t>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5F7830-494B-476D-537E-5AFF29DC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A6D783D-BE69-1B88-33AE-85005C3E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15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054BCD4-95D2-9602-DB95-2EB9292B7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Towards a More Realistic and Investor-Specific Calibration Framework</a:t>
            </a:r>
          </a:p>
          <a:p>
            <a:endParaRPr lang="it-IT" dirty="0"/>
          </a:p>
        </p:txBody>
      </p:sp>
      <p:sp>
        <p:nvSpPr>
          <p:cNvPr id="7" name="Numeral 01"/>
          <p:cNvSpPr txBox="1"/>
          <p:nvPr/>
        </p:nvSpPr>
        <p:spPr>
          <a:xfrm>
            <a:off x="429768" y="114300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1600200"/>
            <a:ext cx="2651760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" y="1719072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Richer return dynamics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Replace the multivariate normal with regime-switching or stochastic-volatility models, to capture fat tails and the stress scenarios where forced selling is most costly.</a:t>
            </a:r>
          </a:p>
        </p:txBody>
      </p:sp>
      <p:sp>
        <p:nvSpPr>
          <p:cNvPr id="10" name="Numeral 02"/>
          <p:cNvSpPr txBox="1"/>
          <p:nvPr/>
        </p:nvSpPr>
        <p:spPr>
          <a:xfrm>
            <a:off x="3246120" y="114300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1600200"/>
            <a:ext cx="2651759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46120" y="1719072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Liability-aware calibration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Model the asset-liability structure explicitly: payouts driven by liability duration and funding ratio, so the curve depends on the investor's balance sheet.</a:t>
            </a:r>
          </a:p>
        </p:txBody>
      </p:sp>
      <p:sp>
        <p:nvSpPr>
          <p:cNvPr id="13" name="Numeral 03"/>
          <p:cNvSpPr txBox="1"/>
          <p:nvPr/>
        </p:nvSpPr>
        <p:spPr>
          <a:xfrm>
            <a:off x="6062472" y="114300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62472" y="1600200"/>
            <a:ext cx="2651760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62472" y="1719072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Market-implied curve fitting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As data on illiquidity costs become available, estimate c(L) directly from observed costs and secondary-market records, validating the simulation.</a:t>
            </a:r>
          </a:p>
        </p:txBody>
      </p:sp>
      <p:sp>
        <p:nvSpPr>
          <p:cNvPr id="16" name="Key takeaway"/>
          <p:cNvSpPr/>
          <p:nvPr/>
        </p:nvSpPr>
        <p:spPr>
          <a:xfrm>
            <a:off x="429768" y="3383280"/>
            <a:ext cx="8284464" cy="59436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4F9F"/>
                </a:solidFill>
              </a:rPr>
              <a:t>Towards production  </a:t>
            </a:r>
            <a:r>
              <a:rPr sz="1100" b="0" i="0">
                <a:solidFill>
                  <a:srgbClr val="003C64"/>
                </a:solidFill>
              </a:rPr>
              <a:t>integrate the calibration into the SAA pipeline, refresh the curves at each CMA update, and calibrate client-specific parameters for institutional mandates.</a:t>
            </a:r>
          </a:p>
        </p:txBody>
      </p:sp>
      <p:sp>
        <p:nvSpPr>
          <p:cNvPr id="17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From research to practice</a:t>
            </a:r>
          </a:p>
        </p:txBody>
      </p:sp>
    </p:spTree>
    <p:extLst>
      <p:ext uri="{BB962C8B-B14F-4D97-AF65-F5344CB8AC3E}">
        <p14:creationId xmlns:p14="http://schemas.microsoft.com/office/powerpoint/2010/main" val="506158177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Replacing subjective judgement with a simulation-based calibration methodology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Numeral 01"/>
          <p:cNvSpPr txBox="1"/>
          <p:nvPr/>
        </p:nvSpPr>
        <p:spPr>
          <a:xfrm>
            <a:off x="429768" y="116128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7" name="Row 1"/>
          <p:cNvSpPr txBox="1"/>
          <p:nvPr/>
        </p:nvSpPr>
        <p:spPr>
          <a:xfrm>
            <a:off x="1069848" y="1143000"/>
            <a:ext cx="7644384" cy="10332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C64"/>
                </a:solidFill>
              </a:rPr>
              <a:t>The challenge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3C64"/>
                </a:solidFill>
              </a:rPr>
              <a:t>Standard mean-variance optimization treats liquid and illiquid assets symmetrically, ignoring the return drag that locking up capital imposes. These costs grow non-linearly with portfolio illiquidity and are investor-specific, yet no systematic tool exists to quantify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2185415"/>
            <a:ext cx="8284464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Numeral 02"/>
          <p:cNvSpPr txBox="1"/>
          <p:nvPr/>
        </p:nvSpPr>
        <p:spPr>
          <a:xfrm>
            <a:off x="429768" y="2240279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0" name="Row 2"/>
          <p:cNvSpPr txBox="1"/>
          <p:nvPr/>
        </p:nvSpPr>
        <p:spPr>
          <a:xfrm>
            <a:off x="1069848" y="2221991"/>
            <a:ext cx="7644384" cy="10332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C64"/>
                </a:solidFill>
              </a:rPr>
              <a:t>Our contribution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3C64"/>
                </a:solidFill>
              </a:rPr>
              <a:t>A Monte Carlo simulation measures the return drag across illiquidity levels and fits a parametric penalty curve: subjective judgement is replaced by a transparent, replicable process grounded in portfolio dynamics.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3264407"/>
            <a:ext cx="8284464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eral 03"/>
          <p:cNvSpPr txBox="1"/>
          <p:nvPr/>
        </p:nvSpPr>
        <p:spPr>
          <a:xfrm>
            <a:off x="429768" y="3319271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3" name="Row 3"/>
          <p:cNvSpPr txBox="1"/>
          <p:nvPr/>
        </p:nvSpPr>
        <p:spPr>
          <a:xfrm>
            <a:off x="1069848" y="3300983"/>
            <a:ext cx="7644384" cy="10332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C64"/>
                </a:solidFill>
              </a:rPr>
              <a:t>The output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3C64"/>
                </a:solidFill>
              </a:rPr>
              <a:t>Investor-specific penalty curves calibrated on Amundi's Capital Market Assumptions for three institutional archetypes, feeding directly into a penalized mean-variance optimization.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t>Why illiquidity needs a price</a:t>
            </a:r>
          </a:p>
          <a:p>
            <a:pPr>
              <a:spcAft>
                <a:spcPts val="1000"/>
              </a:spcAft>
            </a:pPr>
            <a:r>
              <a:t>The penalized optimization framework</a:t>
            </a:r>
          </a:p>
          <a:p>
            <a:pPr>
              <a:spcAft>
                <a:spcPts val="1000"/>
              </a:spcAft>
            </a:pPr>
            <a:r>
              <a:t>Calibrating the penalty curve by simulation</a:t>
            </a:r>
          </a:p>
          <a:p>
            <a:pPr>
              <a:spcAft>
                <a:spcPts val="1000"/>
              </a:spcAft>
            </a:pPr>
            <a:r>
              <a:t>Implications for portfolio construction</a:t>
            </a:r>
          </a:p>
          <a:p>
            <a:pPr>
              <a:spcAft>
                <a:spcPts val="1000"/>
              </a:spcAft>
            </a:pPr>
            <a:r>
              <a:t>From research to practice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illiquidity needs a price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costs of locking up capital that mean-variance optimization does not see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penalized optimization framework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Extending Markowitz with a portfolio-level illiquidity penalty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Calibrating the penalty curve by simulation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subjective judgement to a curve grounded in portfolio dynamics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 for portfolio construction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changes in efficient frontiers and allocations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research to practice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Using the framework in Amundi's SAA work, and extending it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Illiquidity Needs a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hidden costs that mean-variance optimization ignores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Numeral 01"/>
          <p:cNvSpPr txBox="1"/>
          <p:nvPr/>
        </p:nvSpPr>
        <p:spPr>
          <a:xfrm>
            <a:off x="429768" y="11704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609344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Rebalancing gap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Lock-up periods prevent the portfolio from returning to its target weights, creating a persistent return drag.</a:t>
            </a:r>
          </a:p>
        </p:txBody>
      </p:sp>
      <p:sp>
        <p:nvSpPr>
          <p:cNvPr id="8" name="Numeral 02"/>
          <p:cNvSpPr txBox="1"/>
          <p:nvPr/>
        </p:nvSpPr>
        <p:spPr>
          <a:xfrm>
            <a:off x="3081528" y="11704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1609344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Forced sales at a discount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When liquid assets fall below the minimum buffer, illiquid positions must be sold on the secondary market at a haircut.</a:t>
            </a:r>
          </a:p>
        </p:txBody>
      </p:sp>
      <p:sp>
        <p:nvSpPr>
          <p:cNvPr id="10" name="Numeral 03"/>
          <p:cNvSpPr txBox="1"/>
          <p:nvPr/>
        </p:nvSpPr>
        <p:spPr>
          <a:xfrm>
            <a:off x="429768" y="265176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090672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Payout pressure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Distributions must be met even when assets are locked, and payouts tend to spike precisely when markets fall.</a:t>
            </a:r>
          </a:p>
        </p:txBody>
      </p:sp>
      <p:sp>
        <p:nvSpPr>
          <p:cNvPr id="12" name="Numeral 04"/>
          <p:cNvSpPr txBox="1"/>
          <p:nvPr/>
        </p:nvSpPr>
        <p:spPr>
          <a:xfrm>
            <a:off x="3081528" y="265176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090672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Lost flexibility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Locked capital cannot be redeployed when new investment opportunities arise.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2578608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Why now card"/>
          <p:cNvSpPr/>
          <p:nvPr/>
        </p:nvSpPr>
        <p:spPr>
          <a:xfrm>
            <a:off x="5742432" y="1143000"/>
            <a:ext cx="2971800" cy="2880360"/>
          </a:xfrm>
          <a:prstGeom prst="rect">
            <a:avLst/>
          </a:prstGeom>
          <a:solidFill>
            <a:srgbClr val="00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hy now text"/>
          <p:cNvSpPr txBox="1"/>
          <p:nvPr/>
        </p:nvSpPr>
        <p:spPr>
          <a:xfrm>
            <a:off x="5897880" y="1252728"/>
            <a:ext cx="2697480" cy="2697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09EE0"/>
                </a:solidFill>
              </a:rPr>
              <a:t>Why it matters now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</a:rPr>
              <a:t>Private markets are now a central component of institutional portfolios: endowments hold the largest share of alternatives of any investor segment, and private pensions increased their allocations between 2020 and 2024 (Preqin, 2025).</a:t>
            </a:r>
          </a:p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FFFFFF"/>
                </a:solidFill>
              </a:rPr>
              <a:t>These costs are not captured by the illiquidity premium</a:t>
            </a:r>
            <a:r>
              <a:rPr sz="1050" b="0" i="0">
                <a:solidFill>
                  <a:srgbClr val="FFFFFF"/>
                </a:solidFill>
              </a:rPr>
              <a:t>, grow non-linearly with portfolio illiquidity, and depend on each investor's liabilities.</a:t>
            </a:r>
          </a:p>
        </p:txBody>
      </p:sp>
      <p:sp>
        <p:nvSpPr>
          <p:cNvPr id="17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009EE0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Why illiquidity needs a price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Approaches and Their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Why the Hayes, Primbs &amp; Chiquoine (2015) framework is the right starting point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Multi-period stochastic programming"/>
          <p:cNvSpPr/>
          <p:nvPr/>
        </p:nvSpPr>
        <p:spPr>
          <a:xfrm>
            <a:off x="429768" y="1143000"/>
            <a:ext cx="1947672" cy="731520"/>
          </a:xfrm>
          <a:prstGeom prst="rect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</a:rPr>
              <a:t>Multi-period stochastic programming</a:t>
            </a:r>
          </a:p>
          <a:p>
            <a:pPr algn="l">
              <a:spcAft>
                <a:spcPts val="300"/>
              </a:spcAft>
            </a:pPr>
            <a:r>
              <a:rPr sz="850" b="0" i="1">
                <a:solidFill>
                  <a:srgbClr val="E5F5FC"/>
                </a:solidFill>
              </a:rPr>
              <a:t>Mulvey, Pauling &amp; Madey (2003)</a:t>
            </a:r>
          </a:p>
        </p:txBody>
      </p:sp>
      <p:sp>
        <p:nvSpPr>
          <p:cNvPr id="7" name="Multi-period stochastic programming body"/>
          <p:cNvSpPr/>
          <p:nvPr/>
        </p:nvSpPr>
        <p:spPr>
          <a:xfrm>
            <a:off x="429768" y="1874519"/>
            <a:ext cx="1947672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984248"/>
            <a:ext cx="172821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B2B6"/>
                </a:solidFill>
              </a:rPr>
              <a:t>Strength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Detailed cash-flow modelling of illiquid assets and liabilities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" y="3017520"/>
            <a:ext cx="1728216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9496" y="3127248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6325E"/>
                </a:solidFill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Computationally heavy and opaque for investment committees</a:t>
            </a:r>
          </a:p>
        </p:txBody>
      </p:sp>
      <p:sp>
        <p:nvSpPr>
          <p:cNvPr id="11" name="Mean-variance-liquidity frontier"/>
          <p:cNvSpPr/>
          <p:nvPr/>
        </p:nvSpPr>
        <p:spPr>
          <a:xfrm>
            <a:off x="2542032" y="1143000"/>
            <a:ext cx="1947672" cy="731520"/>
          </a:xfrm>
          <a:prstGeom prst="rect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</a:rPr>
              <a:t>Mean-variance-liquidity frontier</a:t>
            </a:r>
          </a:p>
          <a:p>
            <a:pPr algn="l">
              <a:spcAft>
                <a:spcPts val="300"/>
              </a:spcAft>
            </a:pPr>
            <a:r>
              <a:rPr sz="850" b="0" i="1">
                <a:solidFill>
                  <a:srgbClr val="E5F5FC"/>
                </a:solidFill>
              </a:rPr>
              <a:t>Lo, Petrov &amp; Wierzbicki (2003)</a:t>
            </a:r>
          </a:p>
        </p:txBody>
      </p:sp>
      <p:sp>
        <p:nvSpPr>
          <p:cNvPr id="12" name="Mean-variance-liquidity frontier body"/>
          <p:cNvSpPr/>
          <p:nvPr/>
        </p:nvSpPr>
        <p:spPr>
          <a:xfrm>
            <a:off x="2542032" y="1874519"/>
            <a:ext cx="1947672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984248"/>
            <a:ext cx="172821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B2B6"/>
                </a:solidFill>
              </a:rPr>
              <a:t>Strength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Tractable extension of the MVO objective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3017520"/>
            <a:ext cx="1728216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51760" y="3127248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6325E"/>
                </a:solidFill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Marginal cost of illiquidity treated as constant</a:t>
            </a:r>
          </a:p>
        </p:txBody>
      </p:sp>
      <p:sp>
        <p:nvSpPr>
          <p:cNvPr id="16" name="Shadow assets &amp; liabilities"/>
          <p:cNvSpPr/>
          <p:nvPr/>
        </p:nvSpPr>
        <p:spPr>
          <a:xfrm>
            <a:off x="4654296" y="1143000"/>
            <a:ext cx="1947672" cy="731520"/>
          </a:xfrm>
          <a:prstGeom prst="rect">
            <a:avLst/>
          </a:prstGeom>
          <a:solidFill>
            <a:srgbClr val="004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</a:rPr>
              <a:t>Shadow assets &amp; liabilities</a:t>
            </a:r>
          </a:p>
          <a:p>
            <a:pPr algn="l">
              <a:spcAft>
                <a:spcPts val="300"/>
              </a:spcAft>
            </a:pPr>
            <a:r>
              <a:rPr sz="850" b="0" i="1">
                <a:solidFill>
                  <a:srgbClr val="E5F5FC"/>
                </a:solidFill>
              </a:rPr>
              <a:t>Kinlaw, Kritzman &amp; Turkington (2013)</a:t>
            </a:r>
          </a:p>
        </p:txBody>
      </p:sp>
      <p:sp>
        <p:nvSpPr>
          <p:cNvPr id="17" name="Shadow assets &amp; liabilities body"/>
          <p:cNvSpPr/>
          <p:nvPr/>
        </p:nvSpPr>
        <p:spPr>
          <a:xfrm>
            <a:off x="4654296" y="1874519"/>
            <a:ext cx="1947672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4024" y="1984248"/>
            <a:ext cx="172821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B2B6"/>
                </a:solidFill>
              </a:rPr>
              <a:t>Strength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Captures rebalancing, market timing and capital calls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64024" y="3017520"/>
            <a:ext cx="1728216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64024" y="3127248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6325E"/>
                </a:solidFill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Constant marginal cost, not investor-specific</a:t>
            </a:r>
          </a:p>
        </p:txBody>
      </p:sp>
      <p:sp>
        <p:nvSpPr>
          <p:cNvPr id="21" name="Penalty cost approach"/>
          <p:cNvSpPr/>
          <p:nvPr/>
        </p:nvSpPr>
        <p:spPr>
          <a:xfrm>
            <a:off x="6766560" y="1143000"/>
            <a:ext cx="1947672" cy="731520"/>
          </a:xfrm>
          <a:prstGeom prst="rect">
            <a:avLst/>
          </a:prstGeom>
          <a:solidFill>
            <a:srgbClr val="00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</a:rPr>
              <a:t>Penalty cost approach</a:t>
            </a:r>
          </a:p>
          <a:p>
            <a:pPr algn="l">
              <a:spcAft>
                <a:spcPts val="300"/>
              </a:spcAft>
            </a:pPr>
            <a:r>
              <a:rPr sz="850" b="0" i="1">
                <a:solidFill>
                  <a:srgbClr val="E5F5FC"/>
                </a:solidFill>
              </a:rPr>
              <a:t>Hayes, Primbs &amp; Chiquoine (2015)</a:t>
            </a:r>
          </a:p>
        </p:txBody>
      </p:sp>
      <p:sp>
        <p:nvSpPr>
          <p:cNvPr id="22" name="Penalty cost approach body"/>
          <p:cNvSpPr/>
          <p:nvPr/>
        </p:nvSpPr>
        <p:spPr>
          <a:xfrm>
            <a:off x="6766560" y="1874519"/>
            <a:ext cx="1947672" cy="2148840"/>
          </a:xfrm>
          <a:prstGeom prst="rect">
            <a:avLst/>
          </a:prstGeom>
          <a:solidFill>
            <a:srgbClr val="E5F5FC"/>
          </a:solidFill>
          <a:ln w="12700">
            <a:solidFill>
              <a:srgbClr val="009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1984248"/>
            <a:ext cx="172821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B2B6"/>
                </a:solidFill>
              </a:rPr>
              <a:t>Strength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Convex, portfolio-level and investor-specific; return-based language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76288" y="3017520"/>
            <a:ext cx="1728216" cy="0"/>
          </a:xfrm>
          <a:prstGeom prst="line">
            <a:avLst/>
          </a:prstGeom>
          <a:ln w="952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76288" y="3127248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6325E"/>
                </a:solidFill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Penalty curve left to subjective judgement: the gap this paper fills</a:t>
            </a:r>
          </a:p>
        </p:txBody>
      </p:sp>
      <p:sp>
        <p:nvSpPr>
          <p:cNvPr id="26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009EE0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Why illiquidity needs a price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Illiquidity-Adjusted Expected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Speaking the language of investment committees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Formula panel"/>
          <p:cNvSpPr/>
          <p:nvPr/>
        </p:nvSpPr>
        <p:spPr>
          <a:xfrm>
            <a:off x="429768" y="1143000"/>
            <a:ext cx="3886200" cy="91440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rmula"/>
          <p:cNvSpPr txBox="1"/>
          <p:nvPr/>
        </p:nvSpPr>
        <p:spPr>
          <a:xfrm>
            <a:off x="429768" y="1143000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3C64"/>
                </a:solidFill>
              </a:rPr>
              <a:t>μ̂ᵢ = μᵢ − [ T(L) / L ] · lᵢ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673352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T(L) / L : average accumulated penalty per unit of portfolio illiquidity</a:t>
            </a:r>
          </a:p>
        </p:txBody>
      </p:sp>
      <p:sp>
        <p:nvSpPr>
          <p:cNvPr id="9" name="Numeral 01"/>
          <p:cNvSpPr txBox="1"/>
          <p:nvPr/>
        </p:nvSpPr>
        <p:spPr>
          <a:xfrm>
            <a:off x="429768" y="2258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0" name="Row 1"/>
          <p:cNvSpPr txBox="1"/>
          <p:nvPr/>
        </p:nvSpPr>
        <p:spPr>
          <a:xfrm>
            <a:off x="1069848" y="2240280"/>
            <a:ext cx="3246120" cy="758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3C64"/>
                </a:solidFill>
              </a:rPr>
              <a:t>A return hurdle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Each asset's expected return is reduced in proportion to its illiquidity index.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3008376"/>
            <a:ext cx="3886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eral 02"/>
          <p:cNvSpPr txBox="1"/>
          <p:nvPr/>
        </p:nvSpPr>
        <p:spPr>
          <a:xfrm>
            <a:off x="429768" y="306324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3" name="Row 2"/>
          <p:cNvSpPr txBox="1"/>
          <p:nvPr/>
        </p:nvSpPr>
        <p:spPr>
          <a:xfrm>
            <a:off x="1069848" y="3044952"/>
            <a:ext cx="3246120" cy="758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3C64"/>
                </a:solidFill>
              </a:rPr>
              <a:t>Same MVO, adjusted inputs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The penalized problem is a standard MVO on adjusted returns: no new risk concept to explain.</a:t>
            </a:r>
          </a:p>
        </p:txBody>
      </p:sp>
      <p:sp>
        <p:nvSpPr>
          <p:cNvPr id="14" name="Caption"/>
          <p:cNvSpPr txBox="1"/>
          <p:nvPr/>
        </p:nvSpPr>
        <p:spPr>
          <a:xfrm>
            <a:off x="4617720" y="1143000"/>
            <a:ext cx="409651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Who bears the penalty: each asset pays lᵢ × T(L)/L</a:t>
            </a:r>
          </a:p>
        </p:txBody>
      </p:sp>
      <p:graphicFrame>
        <p:nvGraphicFramePr>
          <p:cNvPr id="15" name="Penalty allocation table"/>
          <p:cNvGraphicFramePr>
            <a:graphicFrameLocks noGrp="1"/>
          </p:cNvGraphicFramePr>
          <p:nvPr/>
        </p:nvGraphicFramePr>
        <p:xfrm>
          <a:off x="4617720" y="1389888"/>
          <a:ext cx="409651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87552"/>
                <a:gridCol w="1024128"/>
                <a:gridCol w="1124712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class</a:t>
                      </a:r>
                    </a:p>
                  </a:txBody>
                  <a:tcPr marL="54864" marR="54864" anchor="ctr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Expected return μᵢ</a:t>
                      </a:r>
                    </a:p>
                  </a:txBody>
                  <a:tcPr marL="54864" marR="54864" anchor="ctr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Illiquidity index lᵢ</a:t>
                      </a:r>
                    </a:p>
                  </a:txBody>
                  <a:tcPr marL="54864" marR="54864" anchor="ctr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Share of T(L)/L borne</a:t>
                      </a:r>
                    </a:p>
                  </a:txBody>
                  <a:tcPr marL="54864" marR="54864" anchor="ctr">
                    <a:solidFill>
                      <a:srgbClr val="003C6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MM_US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3.24%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0.00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none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GLOB_AGG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4.59%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0.11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11%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GLOB_EQ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7.09%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0.13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13%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HF_FOF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5.18%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0.38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38%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GLOB_RE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5.48%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0.50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50%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GLOB_PE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9.80%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1.00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100%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ource"/>
          <p:cNvSpPr txBox="1"/>
          <p:nvPr/>
        </p:nvSpPr>
        <p:spPr>
          <a:xfrm>
            <a:off x="4617720" y="3749039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>Source: Amundi Investment Institute, CMA 2026 (Table 1 of the thesis).</a:t>
            </a:r>
          </a:p>
        </p:txBody>
      </p:sp>
      <p:sp>
        <p:nvSpPr>
          <p:cNvPr id="17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The penalized optimization framework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Calibration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 constrained real portfolio versus a frictionless liquid benchmark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Caption"/>
          <p:cNvSpPr txBox="1"/>
          <p:nvPr/>
        </p:nvSpPr>
        <p:spPr>
          <a:xfrm>
            <a:off x="429768" y="1115568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Two portfolios, same world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" y="1353312"/>
            <a:ext cx="2578608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ption"/>
          <p:cNvSpPr txBox="1"/>
          <p:nvPr/>
        </p:nvSpPr>
        <p:spPr>
          <a:xfrm>
            <a:off x="3282696" y="1115568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Three sources of return drag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82696" y="1353312"/>
            <a:ext cx="2578608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ption"/>
          <p:cNvSpPr txBox="1"/>
          <p:nvPr/>
        </p:nvSpPr>
        <p:spPr>
          <a:xfrm>
            <a:off x="6135624" y="1115568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One calibrated curve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35624" y="1353312"/>
            <a:ext cx="2578608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1463040"/>
            <a:ext cx="257860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Real portfolio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Asset-specific lock-ups: tranches cannot be sold before expiry, or only at a secondary-market haircut.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06040"/>
            <a:ext cx="2578608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697480"/>
            <a:ext cx="257860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Liquid benchmark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Frictionless: rebalances freely to target weights every year and meets payouts at fair value.</a:t>
            </a:r>
          </a:p>
        </p:txBody>
      </p:sp>
      <p:sp>
        <p:nvSpPr>
          <p:cNvPr id="15" name="Numeral 01"/>
          <p:cNvSpPr txBox="1"/>
          <p:nvPr/>
        </p:nvSpPr>
        <p:spPr>
          <a:xfrm>
            <a:off x="3282696" y="14813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6" name="Row 1"/>
          <p:cNvSpPr txBox="1"/>
          <p:nvPr/>
        </p:nvSpPr>
        <p:spPr>
          <a:xfrm>
            <a:off x="3922776" y="1463040"/>
            <a:ext cx="19385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Rebalancing gap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Lock-ups stop the portfolio from returning to target.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82696" y="2249424"/>
            <a:ext cx="2578608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Numeral 02"/>
          <p:cNvSpPr txBox="1"/>
          <p:nvPr/>
        </p:nvSpPr>
        <p:spPr>
          <a:xfrm>
            <a:off x="3282696" y="230428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9" name="Row 2"/>
          <p:cNvSpPr txBox="1"/>
          <p:nvPr/>
        </p:nvSpPr>
        <p:spPr>
          <a:xfrm>
            <a:off x="3922776" y="2286000"/>
            <a:ext cx="19385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Buffer restoration haircuts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Illiquid assets sold at a discount to restore the minimum buffer.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2696" y="3072384"/>
            <a:ext cx="2578608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umeral 03"/>
          <p:cNvSpPr txBox="1"/>
          <p:nvPr/>
        </p:nvSpPr>
        <p:spPr>
          <a:xfrm>
            <a:off x="3282696" y="312724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22" name="Row 3"/>
          <p:cNvSpPr txBox="1"/>
          <p:nvPr/>
        </p:nvSpPr>
        <p:spPr>
          <a:xfrm>
            <a:off x="3922776" y="3108960"/>
            <a:ext cx="19385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Payout haircuts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Locked positions liquidated to pay distributions, often in downturns.</a:t>
            </a:r>
          </a:p>
        </p:txBody>
      </p:sp>
      <p:sp>
        <p:nvSpPr>
          <p:cNvPr id="23" name="Output panel"/>
          <p:cNvSpPr/>
          <p:nvPr/>
        </p:nvSpPr>
        <p:spPr>
          <a:xfrm>
            <a:off x="6135624" y="1463040"/>
            <a:ext cx="2578608" cy="2487168"/>
          </a:xfrm>
          <a:prstGeom prst="rect">
            <a:avLst/>
          </a:prstGeom>
          <a:solidFill>
            <a:srgbClr val="00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1554480"/>
            <a:ext cx="2304288" cy="2331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Calibrated penalty curve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</a:rPr>
              <a:t>The average drag, measured at L = 10%…70%, is fitted with a power function: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09EE0"/>
                </a:solidFill>
              </a:rPr>
              <a:t>T(L) = A · L^B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09EE0"/>
                </a:solidFill>
              </a:rPr>
              <a:t>c(L) = α · L^β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</a:rPr>
              <a:t>Ready to plug into the penalized mean-variance optimization.</a:t>
            </a:r>
          </a:p>
        </p:txBody>
      </p:sp>
      <p:sp>
        <p:nvSpPr>
          <p:cNvPr id="25" name="Source"/>
          <p:cNvSpPr txBox="1"/>
          <p:nvPr/>
        </p:nvSpPr>
        <p:spPr>
          <a:xfrm>
            <a:off x="429768" y="4206240"/>
            <a:ext cx="8284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>1,000 scenarios × 20 years per illiquidity level, parametrised on Amundi's Capital Market Assumptions.</a:t>
            </a:r>
          </a:p>
        </p:txBody>
      </p:sp>
      <p:sp>
        <p:nvSpPr>
          <p:cNvPr id="26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Institutional Archetypes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Different liability structures, different liquidity needs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Numeral 01"/>
          <p:cNvSpPr txBox="1"/>
          <p:nvPr/>
        </p:nvSpPr>
        <p:spPr>
          <a:xfrm>
            <a:off x="429768" y="1115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361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3C64"/>
                </a:solidFill>
              </a:rPr>
              <a:t>Pension Fund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830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9EE0"/>
                </a:solidFill>
              </a:rPr>
              <a:t>Most constrained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02996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646464"/>
                </a:solidFill>
              </a:rPr>
              <a:t>Mandatory distributions, early withdrawals in market stress, regulatory liquidity reserve.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" y="2578608"/>
            <a:ext cx="2651760" cy="0"/>
          </a:xfrm>
          <a:prstGeom prst="line">
            <a:avLst/>
          </a:prstGeom>
          <a:ln w="12700">
            <a:solidFill>
              <a:srgbClr val="00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9768" y="2596896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Mean payout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596896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10%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8" y="2843784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862072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2862072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2.5%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" y="3108960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9768" y="3127248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0008" y="3127248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0.65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9768" y="3374136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3392424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Correlation with equity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339242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−0.60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9768" y="3639312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9768" y="3657600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Minimum liquid buffer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0008" y="365760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40%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9768" y="3904487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8" y="3922775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Risk aversion 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3922775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9768" y="4169663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Numeral 02"/>
          <p:cNvSpPr txBox="1"/>
          <p:nvPr/>
        </p:nvSpPr>
        <p:spPr>
          <a:xfrm>
            <a:off x="3246120" y="1115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15361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3C64"/>
                </a:solidFill>
              </a:rPr>
              <a:t>University Endowment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17830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9EE0"/>
                </a:solidFill>
              </a:rPr>
              <a:t>Intermediate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02996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646464"/>
                </a:solidFill>
              </a:rPr>
              <a:t>Stable spending rule that smooths payouts; regular donations; long-duration liabilities.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46120" y="2578608"/>
            <a:ext cx="2651759" cy="0"/>
          </a:xfrm>
          <a:prstGeom prst="line">
            <a:avLst/>
          </a:prstGeom>
          <a:ln w="12700">
            <a:solidFill>
              <a:srgbClr val="00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46120" y="2596896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Mean payout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59" y="2596896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5%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46120" y="2843784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46120" y="2862072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volatility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59" y="2862072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1.5%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46120" y="3108960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46120" y="3127248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persistence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59" y="3127248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0.55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246120" y="3374136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246120" y="3392424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Correlation with equity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59" y="339242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−0.35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246120" y="3639312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46120" y="3657600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Minimum liquid buffer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59" y="365760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30%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246120" y="3904487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246120" y="3922775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Risk aversion 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59" y="3922775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3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246120" y="4169663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Numeral 03"/>
          <p:cNvSpPr txBox="1"/>
          <p:nvPr/>
        </p:nvSpPr>
        <p:spPr>
          <a:xfrm>
            <a:off x="6062472" y="1115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62472" y="15361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3C64"/>
                </a:solidFill>
              </a:rPr>
              <a:t>Family Office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62472" y="17830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9EE0"/>
                </a:solidFill>
              </a:rPr>
              <a:t>Least constrained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62472" y="202996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646464"/>
                </a:solidFill>
              </a:rPr>
              <a:t>No contractual obligations; discretionary, idiosyncratic beneficiary needs.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062472" y="2578608"/>
            <a:ext cx="2651760" cy="0"/>
          </a:xfrm>
          <a:prstGeom prst="line">
            <a:avLst/>
          </a:prstGeom>
          <a:ln w="12700">
            <a:solidFill>
              <a:srgbClr val="00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062472" y="2596896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Mean payout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82711" y="2596896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4%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062472" y="2843784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062472" y="2862072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volatility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82711" y="2862072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2.0%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062472" y="3108960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062472" y="3127248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persistence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82711" y="3127248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0.35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62472" y="3374136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062472" y="3392424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Correlation with equity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82711" y="339242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−0.20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062472" y="3639312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062472" y="3657600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Minimum liquid buffer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82711" y="365760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20%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062472" y="3904487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062472" y="3922775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Risk aversion 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82711" y="3922775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2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062472" y="4169663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Source"/>
          <p:cNvSpPr txBox="1"/>
          <p:nvPr/>
        </p:nvSpPr>
        <p:spPr>
          <a:xfrm>
            <a:off x="429768" y="4315968"/>
            <a:ext cx="8284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>Payout: AR(1) process correlated with equity shocks. Sources: COVIP (2022), NACUBO-TIAA (2023), Ang, Papanikolaou &amp; Westerfield (2014).</a:t>
            </a:r>
          </a:p>
        </p:txBody>
      </p:sp>
      <p:sp>
        <p:nvSpPr>
          <p:cNvPr id="76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simulation assigns a more convex cost profile than judgement alone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Caption"/>
          <p:cNvSpPr txBox="1"/>
          <p:nvPr/>
        </p:nvSpPr>
        <p:spPr>
          <a:xfrm>
            <a:off x="429768" y="1115568"/>
            <a:ext cx="8284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Fitted T(L) = A·L^B and recovered marginal curve c(L) = α·L^β  (α = A·B, β = B − 1)</a:t>
            </a:r>
          </a:p>
        </p:txBody>
      </p:sp>
      <p:graphicFrame>
        <p:nvGraphicFramePr>
          <p:cNvPr id="7" name="Calibration results table"/>
          <p:cNvGraphicFramePr>
            <a:graphicFrameLocks noGrp="1"/>
          </p:cNvGraphicFramePr>
          <p:nvPr/>
        </p:nvGraphicFramePr>
        <p:xfrm>
          <a:off x="429768" y="1371600"/>
          <a:ext cx="8284464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904"/>
                <a:gridCol w="868680"/>
                <a:gridCol w="868680"/>
                <a:gridCol w="868680"/>
                <a:gridCol w="868680"/>
                <a:gridCol w="868680"/>
                <a:gridCol w="1216152"/>
                <a:gridCol w="1207008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Archetype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α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β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 anchor="ctr" marL="54864" marR="54864" marT="18288" marB="18288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Subjective α</a:t>
                      </a:r>
                    </a:p>
                  </a:txBody>
                  <a:tcPr anchor="ctr" marL="54864" marR="54864" marT="18288" marB="18288">
                    <a:solidFill>
                      <a:srgbClr val="004F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Subjective β</a:t>
                      </a:r>
                    </a:p>
                  </a:txBody>
                  <a:tcPr anchor="ctr" marL="54864" marR="54864" marT="18288" marB="18288">
                    <a:solidFill>
                      <a:srgbClr val="004F9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3C64"/>
                          </a:solidFill>
                        </a:rPr>
                        <a:t>Pension Fund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0.0359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3.6388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0.1305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2.6388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0.996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0.25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1.2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3C64"/>
                          </a:solidFill>
                        </a:rPr>
                        <a:t>Endowment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0.0288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5.1577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0.1484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4.1577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0.987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0.12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2.0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3C64"/>
                          </a:solidFill>
                        </a:rPr>
                        <a:t>Family Office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0.0055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2.7313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0.0150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1.7313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0.997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0.06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2.8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29768" y="3017520"/>
            <a:ext cx="2651760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" y="3127248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Pension Fund: β 2.64 vs 1.2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Highest cost at any illiquidity level, but concentrated at the high end: forced selling and payout shocks compound once illiquidity is large.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017520"/>
            <a:ext cx="2651759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46120" y="3127248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Endowment: β 4.16 vs 2.0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The most convex profile: costs are negligible below a threshold and then accelerate sharply.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62472" y="3017520"/>
            <a:ext cx="2651760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62472" y="3127248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Family Office: α 0.015 vs 0.06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Mild, gradually accumulating cost, consistent with the absence of binding payout obligations.</a:t>
            </a:r>
          </a:p>
        </p:txBody>
      </p:sp>
      <p:sp>
        <p:nvSpPr>
          <p:cNvPr id="14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What pricing illiquidity changes in practice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cxnSp>
        <p:nvCxnSpPr>
          <p:cNvPr id="6" name="Connector 5"/>
          <p:cNvCxnSpPr/>
          <p:nvPr/>
        </p:nvCxnSpPr>
        <p:spPr>
          <a:xfrm>
            <a:off x="429768" y="1188720"/>
            <a:ext cx="1947671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9768" y="1298448"/>
            <a:ext cx="1947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4F9F"/>
                </a:solidFill>
              </a:rPr>
              <a:t>&gt;150 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965960"/>
            <a:ext cx="194767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Net-return advantage of the penalized portfolio for the pension fund at around 12% volatility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42032" y="1188720"/>
            <a:ext cx="194767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42032" y="1298448"/>
            <a:ext cx="1947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4F9F"/>
                </a:solidFill>
              </a:rPr>
              <a:t>≈ 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965960"/>
            <a:ext cx="194767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Maximum gross return of the penalized pension fund frontier: PE stops being added where its cost exceeds its benefit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54296" y="1188720"/>
            <a:ext cx="194767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54296" y="1298448"/>
            <a:ext cx="1947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4F9F"/>
                </a:solidFill>
              </a:rPr>
              <a:t>1.7 – 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1965960"/>
            <a:ext cx="194767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Range of the calibrated curvature β across archetypes: the cost of illiquidity is investor-specific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66560" y="1188720"/>
            <a:ext cx="194767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66560" y="1298448"/>
            <a:ext cx="1947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4F9F"/>
                </a:solidFill>
              </a:rPr>
              <a:t>R² ≥ 0.987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965960"/>
            <a:ext cx="194767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Fit quality of the power penalty function across all three archetypes</a:t>
            </a:r>
          </a:p>
        </p:txBody>
      </p:sp>
      <p:sp>
        <p:nvSpPr>
          <p:cNvPr id="18" name="Key takeaway"/>
          <p:cNvSpPr/>
          <p:nvPr/>
        </p:nvSpPr>
        <p:spPr>
          <a:xfrm>
            <a:off x="429768" y="3246120"/>
            <a:ext cx="8284464" cy="86868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4F9F"/>
                </a:solidFill>
              </a:rPr>
              <a:t>Net-return dominance  </a:t>
            </a:r>
            <a:r>
              <a:rPr sz="1100" b="0" i="0">
                <a:solidFill>
                  <a:srgbClr val="003C64"/>
                </a:solidFill>
              </a:rPr>
              <a:t>on a gross basis the penalized frontier sits below the unpenalized one; net of the accumulated penalty it dominates in all archetypes. Targeting a high gross return by concentrating in illiquid assets leads to a lower net return than pricing illiquidity, at the same level of risk.</a:t>
            </a:r>
          </a:p>
        </p:txBody>
      </p:sp>
      <p:sp>
        <p:nvSpPr>
          <p:cNvPr id="19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Implications for portfolio construction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Pension Fund: Calibrated Curve and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most liquidity-constrained archetype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TextBox 5"/>
          <p:cNvSpPr txBox="1"/>
          <p:nvPr/>
        </p:nvSpPr>
        <p:spPr>
          <a:xfrm>
            <a:off x="429768" y="114300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α = 0.13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0876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Level of the marginal penalty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172821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" y="17830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β = 2.64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488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Curvature of the marginal penalty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236829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242316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R² = 0.996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788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Fit quality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3008375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akeaways"/>
          <p:cNvSpPr txBox="1"/>
          <p:nvPr/>
        </p:nvSpPr>
        <p:spPr>
          <a:xfrm>
            <a:off x="429768" y="3108959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Highest cost at any illiquidity level.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PE is reduced, with GLOB_EQ absorbing part of the equity exposure at high return levels.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Maximum attainable return capped at about 8.5%.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3739896" y="1097280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Simulated cost and fitted curve  ·  Target portfolios by illiquidity level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rcRect t="14000"/>
          <a:stretch>
            <a:fillRect/>
          </a:stretch>
        </p:blipFill>
        <p:spPr>
          <a:xfrm>
            <a:off x="3739896" y="1307592"/>
            <a:ext cx="4343400" cy="1485773"/>
          </a:xfrm>
          <a:prstGeom prst="rect">
            <a:avLst/>
          </a:prstGeom>
        </p:spPr>
      </p:pic>
      <p:sp>
        <p:nvSpPr>
          <p:cNvPr id="18" name="Caption"/>
          <p:cNvSpPr txBox="1"/>
          <p:nvPr/>
        </p:nvSpPr>
        <p:spPr>
          <a:xfrm>
            <a:off x="3739896" y="2848229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Portfolio composition along the frontier: unpenalized vs penalized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rcRect t="8500"/>
          <a:stretch>
            <a:fillRect/>
          </a:stretch>
        </p:blipFill>
        <p:spPr>
          <a:xfrm>
            <a:off x="3739896" y="3049397"/>
            <a:ext cx="4343400" cy="1532647"/>
          </a:xfrm>
          <a:prstGeom prst="rect">
            <a:avLst/>
          </a:prstGeom>
        </p:spPr>
      </p:pic>
      <p:sp>
        <p:nvSpPr>
          <p:cNvPr id="20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Implications for portfolio construction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the Framework to Work at Amundi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From a research framework to a tool for institutional SAA mandates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Numeral 01"/>
          <p:cNvSpPr txBox="1"/>
          <p:nvPr/>
        </p:nvSpPr>
        <p:spPr>
          <a:xfrm>
            <a:off x="429768" y="11704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1170432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Built on Amundi's own assumptions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Parametrised entirely on Amundi's CMAs: consistent with our forward-looking views and directly usable in client-facing SAA mandates.</a:t>
            </a:r>
          </a:p>
        </p:txBody>
      </p:sp>
      <p:sp>
        <p:nvSpPr>
          <p:cNvPr id="8" name="Numeral 02"/>
          <p:cNvSpPr txBox="1"/>
          <p:nvPr/>
        </p:nvSpPr>
        <p:spPr>
          <a:xfrm>
            <a:off x="4663440" y="11704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7" y="1170432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Investor-specific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Different penalty curves across archetypes, reflecting payout dynamics and liability structure: one tool for the whole institutional client base.</a:t>
            </a:r>
          </a:p>
        </p:txBody>
      </p:sp>
      <p:sp>
        <p:nvSpPr>
          <p:cNvPr id="10" name="Numeral 03"/>
          <p:cNvSpPr txBox="1"/>
          <p:nvPr/>
        </p:nvSpPr>
        <p:spPr>
          <a:xfrm>
            <a:off x="429768" y="27706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770632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Replicable and updatable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Transparent and auditable calibration, refreshable at every CMA update and ready for integration into the SAA pipeline.</a:t>
            </a:r>
          </a:p>
        </p:txBody>
      </p:sp>
      <p:sp>
        <p:nvSpPr>
          <p:cNvPr id="12" name="Numeral 04"/>
          <p:cNvSpPr txBox="1"/>
          <p:nvPr/>
        </p:nvSpPr>
        <p:spPr>
          <a:xfrm>
            <a:off x="4663440" y="27706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7" y="2770632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A language committees understand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Illiquidity costs expressed as return premiums: accessible to non-quantitative stakeholders without losing analytical rigour.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2633472"/>
            <a:ext cx="8284464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1188720"/>
            <a:ext cx="0" cy="2926080"/>
          </a:xfrm>
          <a:prstGeom prst="line">
            <a:avLst/>
          </a:prstGeom>
          <a:ln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From research to practice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DISCLAIMER</a:t>
            </a:r>
          </a:p>
          <a:p>
            <a:r>
              <a:t>This document is for professional investors only. It presents research developed in collaboration with Amundi Quant Solutions and does not constitute investment advice or a recommendation. Results are illustrative and based on simulated scenarios.</a:t>
            </a:r>
          </a:p>
          <a:p>
            <a:r>
              <a:t>Amundi Asset Management, French “Société par Actions Simplifiée” - SAS with a share capital of €1 143 615 555.</a:t>
            </a:r>
          </a:p>
          <a:p>
            <a:r>
              <a:t>Portfolio management company approved by the French Financial Markets Authority (Autorité des Marchés Financiers) under no. GP 04000036 - Registered office: 91-93, boulevard Pasteur, 75015 Paris - France - 437 574 452 RCS Paris.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Amundi">
  <a:themeElements>
    <a:clrScheme name="Amundi-theme_092020">
      <a:dk1>
        <a:srgbClr val="003C64"/>
      </a:dk1>
      <a:lt1>
        <a:srgbClr val="FFFFFF"/>
      </a:lt1>
      <a:dk2>
        <a:srgbClr val="646464"/>
      </a:dk2>
      <a:lt2>
        <a:srgbClr val="E7E6E6"/>
      </a:lt2>
      <a:accent1>
        <a:srgbClr val="009EE0"/>
      </a:accent1>
      <a:accent2>
        <a:srgbClr val="004F9F"/>
      </a:accent2>
      <a:accent3>
        <a:srgbClr val="38B2B6"/>
      </a:accent3>
      <a:accent4>
        <a:srgbClr val="E6325E"/>
      </a:accent4>
      <a:accent5>
        <a:srgbClr val="F07D00"/>
      </a:accent5>
      <a:accent6>
        <a:srgbClr val="C19134"/>
      </a:accent6>
      <a:hlink>
        <a:srgbClr val="00C2F0"/>
      </a:hlink>
      <a:folHlink>
        <a:srgbClr val="4571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N_16-9_Business_Line.pptx" id="{9E8672BF-3683-442A-8518-A2B4176A6ED1}" vid="{39A12D80-DF91-458B-A4DA-B091BAD7FB87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1562</Words>
  <Application>Microsoft Office PowerPoint</Application>
  <PresentationFormat>On-screen Show (16:9)</PresentationFormat>
  <Paragraphs>201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CambriaMath</vt:lpstr>
      <vt:lpstr>LucidaGrande-Bold</vt:lpstr>
      <vt:lpstr>Noto Sans Med</vt:lpstr>
      <vt:lpstr>ui-sans-serif</vt:lpstr>
      <vt:lpstr>Arial</vt:lpstr>
      <vt:lpstr>Calibri</vt:lpstr>
      <vt:lpstr>Cambria Math</vt:lpstr>
      <vt:lpstr>Noto Sans</vt:lpstr>
      <vt:lpstr>ThemeAmundi</vt:lpstr>
      <vt:lpstr>Pricing illiquidity in Strategic Asset Allocation:  a calibration framework for asset allocation practitioners</vt:lpstr>
      <vt:lpstr>Agenda</vt:lpstr>
      <vt:lpstr>Overview</vt:lpstr>
      <vt:lpstr>Asset Classes &amp; Illiquidity Levels</vt:lpstr>
      <vt:lpstr>The Marginal Penalty Function</vt:lpstr>
      <vt:lpstr>Portfolio Optimization with Illiquidity </vt:lpstr>
      <vt:lpstr>Efficient Frontiers &amp; Portfolio Composition</vt:lpstr>
      <vt:lpstr>Simulation, Aggregation &amp; Fitting</vt:lpstr>
      <vt:lpstr>Simulation, Aggregation &amp; Fitting</vt:lpstr>
      <vt:lpstr>Simulation, Aggregation &amp; Fitting</vt:lpstr>
      <vt:lpstr>Simulation, Aggregation &amp; Fitting</vt:lpstr>
      <vt:lpstr>Back to Portfolio Optimization</vt:lpstr>
      <vt:lpstr>A different Institutional Profile</vt:lpstr>
      <vt:lpstr>A different Institutional Profile</vt:lpstr>
      <vt:lpstr>What’s next?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Gisimundo Viviana (AMUNDI.ITA)</dc:creator>
  <cp:keywords/>
  <dc:description/>
  <cp:lastModifiedBy>Meloncelli Lorenzo (AMUNDI.ITA)</cp:lastModifiedBy>
  <cp:revision>88</cp:revision>
  <cp:lastPrinted>2026-07-01T15:08:06Z</cp:lastPrinted>
  <dcterms:created xsi:type="dcterms:W3CDTF">2026-05-28T16:57:33Z</dcterms:created>
  <dcterms:modified xsi:type="dcterms:W3CDTF">2026-09-16T09:26:08Z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MSIP_Label_6ac45191-74e4-40a9-a4c5-ab5c9391e33a_Enabled">
    <vt:lpwstr>true</vt:lpwstr>
  </property>
  <property fmtid="{D5CDD505-2E9C-101B-9397-08002B2CF9AE}" pid="4" name="MSIP_Label_6ac45191-74e4-40a9-a4c5-ab5c9391e33a_SetDate">
    <vt:lpwstr>2023-04-06T16:01:28Z</vt:lpwstr>
  </property>
  <property fmtid="{D5CDD505-2E9C-101B-9397-08002B2CF9AE}" pid="5" name="MSIP_Label_6ac45191-74e4-40a9-a4c5-ab5c9391e33a_Method">
    <vt:lpwstr>Standard</vt:lpwstr>
  </property>
  <property fmtid="{D5CDD505-2E9C-101B-9397-08002B2CF9AE}" pid="6" name="MSIP_Label_6ac45191-74e4-40a9-a4c5-ab5c9391e33a_Name">
    <vt:lpwstr>Internal Data</vt:lpwstr>
  </property>
  <property fmtid="{D5CDD505-2E9C-101B-9397-08002B2CF9AE}" pid="7" name="MSIP_Label_6ac45191-74e4-40a9-a4c5-ab5c9391e33a_SiteId">
    <vt:lpwstr>a5c34232-eadc-4609-bff3-dd6fcdae3fe2</vt:lpwstr>
  </property>
  <property fmtid="{D5CDD505-2E9C-101B-9397-08002B2CF9AE}" pid="8" name="MSIP_Label_6ac45191-74e4-40a9-a4c5-ab5c9391e33a_ActionId">
    <vt:lpwstr>da6939bd-0ed1-46fc-b429-e412eb79254c</vt:lpwstr>
  </property>
  <property fmtid="{D5CDD505-2E9C-101B-9397-08002B2CF9AE}" pid="9" name="MSIP_Label_6ac45191-74e4-40a9-a4c5-ab5c9391e33a_ContentBits">
    <vt:lpwstr>0</vt:lpwstr>
  </property>
</Properties>
</file>