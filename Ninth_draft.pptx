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.svg" ContentType="image/svg+xml"/>
  <Override PartName="/ppt/media/image2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94" r:id="rId1"/>
  </p:sldMasterIdLst>
  <p:notesMasterIdLst>
    <p:notesMasterId r:id="rId17"/>
  </p:notesMasterIdLst>
  <p:handoutMasterIdLst>
    <p:handoutMasterId r:id="rId18"/>
  </p:handoutMasterIdLst>
  <p:sldIdLst>
    <p:sldId id="300" r:id="rId2"/>
    <p:sldId id="335" r:id="rId23"/>
    <p:sldId id="336" r:id="rId24"/>
    <p:sldId id="337" r:id="rId25"/>
    <p:sldId id="342" r:id="rId30"/>
    <p:sldId id="343" r:id="rId31"/>
    <p:sldId id="317" r:id="rId4"/>
    <p:sldId id="338" r:id="rId26"/>
    <p:sldId id="316" r:id="rId5"/>
    <p:sldId id="319" r:id="rId6"/>
    <p:sldId id="320" r:id="rId7"/>
    <p:sldId id="321" r:id="rId8"/>
    <p:sldId id="344" r:id="rId32"/>
    <p:sldId id="339" r:id="rId27"/>
    <p:sldId id="345" r:id="rId33"/>
    <p:sldId id="322" r:id="rId9"/>
    <p:sldId id="334" r:id="rId10"/>
    <p:sldId id="327" r:id="rId11"/>
    <p:sldId id="346" r:id="rId34"/>
    <p:sldId id="347" r:id="rId35"/>
    <p:sldId id="340" r:id="rId28"/>
    <p:sldId id="348" r:id="rId36"/>
    <p:sldId id="349" r:id="rId37"/>
    <p:sldId id="331" r:id="rId14"/>
    <p:sldId id="333" r:id="rId15"/>
    <p:sldId id="326" r:id="rId13"/>
    <p:sldId id="341" r:id="rId29"/>
    <p:sldId id="350" r:id="rId38"/>
    <p:sldId id="323" r:id="rId16"/>
    <p:sldId id="351" r:id="rId39"/>
  </p:sldIdLst>
  <p:sldSz cx="9144000" cy="5143500" type="screen16x9"/>
  <p:notesSz cx="6797675" cy="987266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67FE900A-DDF9-4A4D-8C1F-56F9A377C22B}">
          <p14:sldIdLst>
            <p14:sldId id="300"/>
            <p14:sldId id="335"/>
            <p14:sldId id="336"/>
          </p14:sldIdLst>
        </p14:section>
        <p14:section name="01 Why illiquidity needs a price" id="{73CEF055-612F-4288-B207-DD011D0881DD}">
          <p14:sldIdLst>
            <p14:sldId id="337"/>
            <p14:sldId id="342"/>
            <p14:sldId id="343"/>
            <p14:sldId id="317"/>
          </p14:sldIdLst>
        </p14:section>
        <p14:section name="02 Penalized optimization" id="{D61DA2FF-51F2-450A-9AA2-6CB4F27C81CD}">
          <p14:sldIdLst>
            <p14:sldId id="338"/>
            <p14:sldId id="316"/>
            <p14:sldId id="319"/>
            <p14:sldId id="320"/>
            <p14:sldId id="321"/>
            <p14:sldId id="344"/>
          </p14:sldIdLst>
        </p14:section>
        <p14:section name="03 Simulation-based calibration" id="{0B158773-5742-4EBE-B5B1-A110B0A86586}">
          <p14:sldIdLst>
            <p14:sldId id="339"/>
            <p14:sldId id="345"/>
            <p14:sldId id="322"/>
            <p14:sldId id="334"/>
            <p14:sldId id="327"/>
            <p14:sldId id="346"/>
            <p14:sldId id="347"/>
          </p14:sldIdLst>
        </p14:section>
        <p14:section name="04 Portfolio implications" id="{E12F35FC-FEBD-4CB6-B9C5-80DEE4FE1231}">
          <p14:sldIdLst>
            <p14:sldId id="340"/>
            <p14:sldId id="348"/>
            <p14:sldId id="349"/>
            <p14:sldId id="331"/>
            <p14:sldId id="333"/>
            <p14:sldId id="326"/>
          </p14:sldIdLst>
        </p14:section>
        <p14:section name="05 From research to practice" id="{D2298D31-843C-420C-ABE6-DD590A25DA5A}">
          <p14:sldIdLst>
            <p14:sldId id="341"/>
            <p14:sldId id="350"/>
            <p14:sldId id="323"/>
            <p14:sldId id="351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3A3"/>
    <a:srgbClr val="E2CED2"/>
    <a:srgbClr val="FCC2C6"/>
    <a:srgbClr val="EAFCE5"/>
    <a:srgbClr val="53CCFF"/>
    <a:srgbClr val="005483"/>
    <a:srgbClr val="F07D00"/>
    <a:srgbClr val="001C4B"/>
    <a:srgbClr val="102D69"/>
    <a:srgbClr val="009E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529" autoAdjust="0"/>
    <p:restoredTop sz="94694"/>
  </p:normalViewPr>
  <p:slideViewPr>
    <p:cSldViewPr snapToGrid="0" snapToObjects="1">
      <p:cViewPr>
        <p:scale>
          <a:sx n="150" d="100"/>
          <a:sy n="150" d="100"/>
        </p:scale>
        <p:origin x="60" y="-168"/>
      </p:cViewPr>
      <p:guideLst/>
    </p:cSldViewPr>
  </p:slideViewPr>
  <p:outlineViewPr>
    <p:cViewPr>
      <p:scale>
        <a:sx n="33" d="100"/>
        <a:sy n="33" d="100"/>
      </p:scale>
      <p:origin x="0" y="-466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3120" y="20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handoutMaster" Target="handoutMasters/handout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5C2663-9FAE-6346-9FDE-52ACD264882B}" type="datetimeFigureOut">
              <a:rPr lang="fr-FR" smtClean="0"/>
              <a:t>16/09/2026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9377317"/>
            <a:ext cx="2945659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50443" y="9377317"/>
            <a:ext cx="2945659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09F841-1EC4-7745-A2A1-241C3184D27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53778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ABE3DF-9B42-6F42-B595-8789B0F99C6A}" type="datetimeFigureOut">
              <a:rPr lang="fr-FR" smtClean="0"/>
              <a:t>16/09/2026</a:t>
            </a:fld>
            <a:endParaRPr lang="fr-FR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33488"/>
            <a:ext cx="5921375" cy="33321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79768" y="4751219"/>
            <a:ext cx="5438140" cy="38873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377317"/>
            <a:ext cx="2945659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50443" y="9377317"/>
            <a:ext cx="2945659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4CB9D9-8607-4446-80EE-4BEFE06B9BD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9098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2889D-3DDD-F187-BE7D-828633047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305740-5BBB-1DE8-C096-38D5D3331E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C69EF7-22AF-FAC8-106C-B5DFD87CAB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[Commercial + Technical]</a:t>
            </a:r>
          </a:p>
          <a:p>
            <a:r>
              <a:t>Positioning: HPC (2015) gives the framework, we provide the calibration.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AAA01F-1706-54DC-E0A5-FFA9145BBA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4CB9D9-8607-4446-80EE-4BEFE06B9BD3}" type="slidenum">
              <a:rPr lang="fr-FR" smtClean="0"/>
              <a:t>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376512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9C3E9-4823-D690-1FC0-B852A534F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0AEACC-77AB-0614-2A90-F88BD9CB0E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1D4FE4-CBC3-0FBD-C934-C51385E931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[Technical]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B56E39-2484-1DDB-F5AC-A36441D644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4CB9D9-8607-4446-80EE-4BEFE06B9BD3}" type="slidenum">
              <a:rPr lang="fr-FR" smtClean="0"/>
              <a:t>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187350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E5D80-EEAC-94C0-4837-22693DBAF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27C9DA-BA5A-3919-E661-0D1EEBB11D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A28977-681D-CAC5-004E-1128F27777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[Technical]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E78A79-2B7E-D742-89FB-9545503D5C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4CB9D9-8607-4446-80EE-4BEFE06B9BD3}" type="slidenum">
              <a:rPr lang="fr-FR" smtClean="0"/>
              <a:t>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31674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951A7-4967-3963-FAC9-BDD51307B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8B386A-3A3F-AB39-AA8F-154C5CC387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7DEC0E-05FE-2B0A-620A-406C38A497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[Technical]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A6122E-EB09-1C0B-DCBB-A9851C599D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4CB9D9-8607-4446-80EE-4BEFE06B9BD3}" type="slidenum">
              <a:rPr lang="fr-FR" smtClean="0"/>
              <a:t>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49780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0E1EF-A447-026F-088D-DB510EEFC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F872E0-F256-8A9A-7D3D-F69E5B51A4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936C1C-4E9B-6E44-F3BA-747FCCAF32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[Technical]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1D7776-0D07-4729-DC1B-4E8BFEA34F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4CB9D9-8607-4446-80EE-4BEFE06B9BD3}" type="slidenum">
              <a:rPr lang="fr-FR" smtClean="0"/>
              <a:t>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974303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256CF-DED3-66BB-8C5D-B76F59392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E6B346-B1F9-BE9B-A895-0851BF73BD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FAD66E-F4C7-4A0B-4F25-7122B57F7A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[Technical]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3E82D2-F966-6D84-E9E9-0C828FF3C2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4CB9D9-8607-4446-80EE-4BEFE06B9BD3}" type="slidenum">
              <a:rPr lang="fr-FR" smtClean="0"/>
              <a:t>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732171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7881C-713B-B328-EE3C-CA9D614D4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6144B6-D987-10D2-98B5-E87F409ACF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351559-7C7F-0598-07BC-213FCACC38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[Technical]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4CFC87-A2C2-4E47-2D64-F1AF7CCBB2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4CB9D9-8607-4446-80EE-4BEFE06B9BD3}" type="slidenum">
              <a:rPr lang="fr-FR" smtClean="0"/>
              <a:t>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098448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85FB4-FB2C-F798-19B3-7C563AAD0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B1C231-7D53-4C17-1558-6195B85528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E87CF4-1068-6EDA-BA72-5B1A2224C0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[Technical]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66ECF6-2168-BA31-9019-97C0E82200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4CB9D9-8607-4446-80EE-4BEFE06B9BD3}" type="slidenum">
              <a:rPr lang="fr-FR" smtClean="0"/>
              <a:t>10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929532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9FE15-A8BF-D9FE-B387-2A5CCB2A7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2B97A0-D008-0D68-4121-DA0355DEBE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079DAE-1B97-77E2-3912-27C48B8E38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[Commercial + Technical]</a:t>
            </a:r>
          </a:p>
          <a:p>
            <a:r>
              <a:t>Figures 11-13 of the thesis (Section 7.1). Read the bottom row: the unpenalized net return turns hump-shaped for the pension fund and the endowment, while the family office frontiers coincide.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E749B0-6ECF-678F-17FA-FC86BE2FE3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4CB9D9-8607-4446-80EE-4BEFE06B9BD3}" type="slidenum">
              <a:rPr lang="fr-FR" smtClean="0"/>
              <a:t>12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982678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560A2-5E18-D93F-1F56-FC32FBE8C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CFE2BF-3057-2B35-4DB8-B7B7461FB4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F6C09D-3279-7034-7F19-EDE12F061D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[Technical]</a:t>
            </a:r>
          </a:p>
          <a:p>
            <a:r>
              <a:t>Figure 9 and Figure 15 of the thesis.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77EB2D-AFF9-5B31-ADE9-137A18137D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4CB9D9-8607-4446-80EE-4BEFE06B9BD3}" type="slidenum">
              <a:rPr lang="fr-FR" smtClean="0"/>
              <a:t>13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997734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B9EE8-9949-965F-766D-3A479FCF8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B1040A-7013-67E7-4047-C713A4F7F7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17DE33-7587-36F1-B37E-1718270A1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[Technical]</a:t>
            </a:r>
          </a:p>
          <a:p>
            <a:r>
              <a:t>Figure 10 and Figure 16 of the thesis.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DBB928-9464-041C-680D-01DAB53E5D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4CB9D9-8607-4446-80EE-4BEFE06B9BD3}" type="slidenum">
              <a:rPr lang="fr-FR" smtClean="0"/>
              <a:t>14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869522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95666-3802-B371-EDDD-EA826EFC2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659028-0268-5A9F-32E6-FDC601A924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D3DC40-BFCF-EA31-C5C8-1D28EA739D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[Commercial + Technical]</a:t>
            </a:r>
          </a:p>
          <a:p>
            <a:r>
              <a:t>Section 8.2 limitations and future work.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8D0765-884A-6DA7-EB0D-F9548A9C50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4CB9D9-8607-4446-80EE-4BEFE06B9BD3}" type="slidenum">
              <a:rPr lang="fr-FR" smtClean="0"/>
              <a:t>15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837767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[Commercial + Technical]</a:t>
            </a:r>
          </a:p>
          <a:p>
            <a:r>
              <a:t>Cover. Always shown.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[Commercial]</a:t>
            </a:r>
          </a:p>
          <a:p>
            <a:r>
              <a:t>The whole paper in one page: problem, contribution, output. Close on the bottom line (&gt;150 bp net-return gap for the pension fund at ~12% volatility, Section 7.1).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[Commercial + Technical]</a:t>
            </a:r>
          </a:p>
          <a:p>
            <a:r>
              <a:t>Agenda. Hide the chapters you do not need for a given audience.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[Commercial + Technical]</a:t>
            </a:r>
          </a:p>
          <a:p>
            <a:r>
              <a:t>Chapter divider.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[Commercial + Technical]</a:t>
            </a:r>
          </a:p>
          <a:p>
            <a:r>
              <a:t>Chapter divider.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[Commercial + Technical]</a:t>
            </a:r>
          </a:p>
          <a:p>
            <a:r>
              <a:t>Chapter divider.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[Commercial + Technical]</a:t>
            </a:r>
          </a:p>
          <a:p>
            <a:r>
              <a:t>Chapter divider.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[Commercial + Technical]</a:t>
            </a:r>
          </a:p>
          <a:p>
            <a:r>
              <a:t>Chapter divider.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[Commercial]</a:t>
            </a:r>
          </a:p>
          <a:p>
            <a:r>
              <a:t>Frame the problem: MVO prices risk and return, but not the constraints of locked capital. The first three costs are exactly what the simulation measures.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[Technical]</a:t>
            </a:r>
          </a:p>
          <a:p>
            <a:r>
              <a:t>Literature positioning (Sections 1.2-1.3).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[Commercial]</a:t>
            </a:r>
          </a:p>
          <a:p>
            <a:r>
              <a:t>Equations (6)-(8) of the thesis. A liquid asset is untouched; private equity bears the full average penalty.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[Commercial]</a:t>
            </a:r>
          </a:p>
          <a:p>
            <a:r>
              <a:t>Section 6 without equations. Two portfolios see the same world; the only difference is the lock-up.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[Commercial + Technical]</a:t>
            </a:r>
          </a:p>
          <a:p>
            <a:r>
              <a:t>Tables 4 and 5 of the thesis. Negative correlation: payouts rise when equity falls.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[Commercial + Technical]</a:t>
            </a:r>
          </a:p>
          <a:p>
            <a:r>
              <a:t>Table 6 (simulated) and Section 5.3 (subjective). R² between 0.987 and 0.997.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[Commercial]</a:t>
            </a:r>
          </a:p>
          <a:p>
            <a:r>
              <a:t>Sections 6.8 and 7.1-7.2. For the family office the two frontiers are almost identical.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[Technical]</a:t>
            </a:r>
          </a:p>
          <a:p>
            <a:r>
              <a:t>Figure 8 and Figure 14 of the thesis.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[Commercial]</a:t>
            </a:r>
          </a:p>
          <a:p>
            <a:r>
              <a:t>From the ARA editorial committee note.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[Commercial + Technical]</a:t>
            </a:r>
          </a:p>
          <a:p>
            <a:r>
              <a:t>Disclaimer text to be validated by Compliance before external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5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5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5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-blank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5199" y="2358221"/>
            <a:ext cx="5975835" cy="724826"/>
          </a:xfrm>
        </p:spPr>
        <p:txBody>
          <a:bodyPr anchor="b" anchorCtr="0">
            <a:noAutofit/>
          </a:bodyPr>
          <a:lstStyle>
            <a:lvl1pPr algn="l">
              <a:lnSpc>
                <a:spcPts val="2900"/>
              </a:lnSpc>
              <a:defRPr sz="2500" b="1" spc="-10" baseline="0">
                <a:solidFill>
                  <a:srgbClr val="001C4B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fr-FR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5200" y="3270572"/>
            <a:ext cx="5975836" cy="559423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300" b="0" i="0" spc="-10" baseline="0">
                <a:solidFill>
                  <a:srgbClr val="001C4B"/>
                </a:solidFill>
                <a:latin typeface="Noto Sans Med" panose="020B0502040504020204" pitchFamily="34" charset="0"/>
                <a:ea typeface="Noto Sans Med" panose="020B0502040504020204" pitchFamily="34" charset="0"/>
                <a:cs typeface="Noto Sans Med" panose="020B0502040504020204" pitchFamily="34" charset="0"/>
              </a:defRPr>
            </a:lvl1pPr>
            <a:lvl2pPr marL="342857" indent="0" algn="ctr">
              <a:buNone/>
              <a:defRPr sz="1500"/>
            </a:lvl2pPr>
            <a:lvl3pPr marL="685715" indent="0" algn="ctr">
              <a:buNone/>
              <a:defRPr sz="1350"/>
            </a:lvl3pPr>
            <a:lvl4pPr marL="1028573" indent="0" algn="ctr">
              <a:buNone/>
              <a:defRPr sz="1200"/>
            </a:lvl4pPr>
            <a:lvl5pPr marL="1371431" indent="0" algn="ctr">
              <a:buNone/>
              <a:defRPr sz="1200"/>
            </a:lvl5pPr>
            <a:lvl6pPr marL="1714289" indent="0" algn="ctr">
              <a:buNone/>
              <a:defRPr sz="1200"/>
            </a:lvl6pPr>
            <a:lvl7pPr marL="2057144" indent="0" algn="ctr">
              <a:buNone/>
              <a:defRPr sz="1200"/>
            </a:lvl7pPr>
            <a:lvl8pPr marL="2400002" indent="0" algn="ctr">
              <a:buNone/>
              <a:defRPr sz="1200"/>
            </a:lvl8pPr>
            <a:lvl9pPr marL="27428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FD43DB-60F0-69E5-0E6E-39DAC8F580D6}"/>
              </a:ext>
            </a:extLst>
          </p:cNvPr>
          <p:cNvSpPr>
            <a:spLocks noChangeAspect="1"/>
          </p:cNvSpPr>
          <p:nvPr userDrawn="1"/>
        </p:nvSpPr>
        <p:spPr>
          <a:xfrm>
            <a:off x="-3" y="-1"/>
            <a:ext cx="428400" cy="42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6211952-6EFD-1268-B0D8-5D1EA9A036DA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428609"/>
            <a:ext cx="428400" cy="42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9892B6F-9A39-8FF4-F99C-3D45A9DDD8CC}"/>
              </a:ext>
            </a:extLst>
          </p:cNvPr>
          <p:cNvSpPr>
            <a:spLocks noChangeAspect="1"/>
          </p:cNvSpPr>
          <p:nvPr userDrawn="1"/>
        </p:nvSpPr>
        <p:spPr>
          <a:xfrm>
            <a:off x="853399" y="-1"/>
            <a:ext cx="428400" cy="42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9B1B74D-F7A7-427F-4C42-2E65F73D513D}"/>
              </a:ext>
            </a:extLst>
          </p:cNvPr>
          <p:cNvSpPr>
            <a:spLocks noChangeAspect="1"/>
          </p:cNvSpPr>
          <p:nvPr userDrawn="1"/>
        </p:nvSpPr>
        <p:spPr>
          <a:xfrm>
            <a:off x="-3" y="857009"/>
            <a:ext cx="428400" cy="42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210BEFD-109F-37DE-ED0B-3CC93589B2DE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1285619"/>
            <a:ext cx="428400" cy="42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71C3FFE-4231-78CA-D32E-0CB00040402B}"/>
              </a:ext>
            </a:extLst>
          </p:cNvPr>
          <p:cNvSpPr>
            <a:spLocks noChangeAspect="1"/>
          </p:cNvSpPr>
          <p:nvPr userDrawn="1"/>
        </p:nvSpPr>
        <p:spPr>
          <a:xfrm>
            <a:off x="-3" y="1714229"/>
            <a:ext cx="428400" cy="42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7FB0309-AAC2-B57E-8D00-2D7697DD14AF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2142839"/>
            <a:ext cx="428400" cy="42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240B5A4-42DE-8A14-36D6-AFB428B9B1C1}"/>
              </a:ext>
            </a:extLst>
          </p:cNvPr>
          <p:cNvSpPr>
            <a:spLocks noChangeAspect="1"/>
          </p:cNvSpPr>
          <p:nvPr userDrawn="1"/>
        </p:nvSpPr>
        <p:spPr>
          <a:xfrm>
            <a:off x="-3" y="2571239"/>
            <a:ext cx="428400" cy="42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Forme libre 20">
            <a:extLst>
              <a:ext uri="{FF2B5EF4-FFF2-40B4-BE49-F238E27FC236}">
                <a16:creationId xmlns:a16="http://schemas.microsoft.com/office/drawing/2014/main" id="{372BBFFA-319C-27E5-D42D-1FE7E80D5E92}"/>
              </a:ext>
            </a:extLst>
          </p:cNvPr>
          <p:cNvSpPr/>
          <p:nvPr userDrawn="1"/>
        </p:nvSpPr>
        <p:spPr>
          <a:xfrm>
            <a:off x="828810" y="760377"/>
            <a:ext cx="5975836" cy="96632"/>
          </a:xfrm>
          <a:custGeom>
            <a:avLst/>
            <a:gdLst>
              <a:gd name="connsiteX0" fmla="*/ 0 w 1286893"/>
              <a:gd name="connsiteY0" fmla="*/ 0 h 96423"/>
              <a:gd name="connsiteX1" fmla="*/ 1286894 w 1286893"/>
              <a:gd name="connsiteY1" fmla="*/ 0 h 96423"/>
              <a:gd name="connsiteX2" fmla="*/ 1286894 w 1286893"/>
              <a:gd name="connsiteY2" fmla="*/ 96423 h 96423"/>
              <a:gd name="connsiteX3" fmla="*/ 0 w 1286893"/>
              <a:gd name="connsiteY3" fmla="*/ 96423 h 96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86893" h="96423">
                <a:moveTo>
                  <a:pt x="0" y="0"/>
                </a:moveTo>
                <a:lnTo>
                  <a:pt x="1286894" y="0"/>
                </a:lnTo>
                <a:lnTo>
                  <a:pt x="1286894" y="96423"/>
                </a:lnTo>
                <a:lnTo>
                  <a:pt x="0" y="96423"/>
                </a:lnTo>
                <a:close/>
              </a:path>
            </a:pathLst>
          </a:custGeom>
          <a:solidFill>
            <a:srgbClr val="009EE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22" name="Forme libre 21">
            <a:extLst>
              <a:ext uri="{FF2B5EF4-FFF2-40B4-BE49-F238E27FC236}">
                <a16:creationId xmlns:a16="http://schemas.microsoft.com/office/drawing/2014/main" id="{0512D8CC-A62A-40A3-3FFA-BD1F87DE1522}"/>
              </a:ext>
            </a:extLst>
          </p:cNvPr>
          <p:cNvSpPr/>
          <p:nvPr userDrawn="1"/>
        </p:nvSpPr>
        <p:spPr>
          <a:xfrm rot="16200000">
            <a:off x="-1383079" y="2903623"/>
            <a:ext cx="4383124" cy="96632"/>
          </a:xfrm>
          <a:custGeom>
            <a:avLst/>
            <a:gdLst>
              <a:gd name="connsiteX0" fmla="*/ 0 w 1286893"/>
              <a:gd name="connsiteY0" fmla="*/ 0 h 96423"/>
              <a:gd name="connsiteX1" fmla="*/ 1286894 w 1286893"/>
              <a:gd name="connsiteY1" fmla="*/ 0 h 96423"/>
              <a:gd name="connsiteX2" fmla="*/ 1286894 w 1286893"/>
              <a:gd name="connsiteY2" fmla="*/ 96423 h 96423"/>
              <a:gd name="connsiteX3" fmla="*/ 0 w 1286893"/>
              <a:gd name="connsiteY3" fmla="*/ 96423 h 96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86893" h="96423">
                <a:moveTo>
                  <a:pt x="0" y="0"/>
                </a:moveTo>
                <a:lnTo>
                  <a:pt x="1286894" y="0"/>
                </a:lnTo>
                <a:lnTo>
                  <a:pt x="1286894" y="96423"/>
                </a:lnTo>
                <a:lnTo>
                  <a:pt x="0" y="96423"/>
                </a:lnTo>
                <a:close/>
              </a:path>
            </a:pathLst>
          </a:custGeom>
          <a:solidFill>
            <a:srgbClr val="009EE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23" name="Espace réservé du texte 81">
            <a:extLst>
              <a:ext uri="{FF2B5EF4-FFF2-40B4-BE49-F238E27FC236}">
                <a16:creationId xmlns:a16="http://schemas.microsoft.com/office/drawing/2014/main" id="{DAF0EE13-BA48-3E03-FCE8-668ACB13566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85200" y="4486634"/>
            <a:ext cx="759483" cy="258165"/>
          </a:xfrm>
        </p:spPr>
        <p:txBody>
          <a:bodyPr anchor="b"/>
          <a:lstStyle>
            <a:lvl1pPr marL="6351" indent="0">
              <a:buNone/>
              <a:defRPr sz="700" baseline="0">
                <a:solidFill>
                  <a:srgbClr val="001C4B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 dirty="0"/>
              <a:t>MONTH 2024</a:t>
            </a:r>
          </a:p>
        </p:txBody>
      </p:sp>
      <p:sp>
        <p:nvSpPr>
          <p:cNvPr id="24" name="Espace réservé du texte 81">
            <a:extLst>
              <a:ext uri="{FF2B5EF4-FFF2-40B4-BE49-F238E27FC236}">
                <a16:creationId xmlns:a16="http://schemas.microsoft.com/office/drawing/2014/main" id="{6783BFA2-A7E6-4F84-84BA-D5976D26954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044683" y="4486634"/>
            <a:ext cx="3026141" cy="258165"/>
          </a:xfrm>
        </p:spPr>
        <p:txBody>
          <a:bodyPr anchor="b"/>
          <a:lstStyle>
            <a:lvl1pPr marL="6351" indent="0">
              <a:buNone/>
              <a:defRPr sz="700" baseline="0">
                <a:solidFill>
                  <a:srgbClr val="001C4B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en-GB" dirty="0"/>
              <a:t>• </a:t>
            </a:r>
            <a:r>
              <a:rPr lang="fr-FR" dirty="0">
                <a:effectLst/>
                <a:latin typeface="Noto Sans" panose="020B0502040504020204" pitchFamily="34" charset="0"/>
              </a:rPr>
              <a:t>Document for </a:t>
            </a:r>
            <a:r>
              <a:rPr lang="fr-FR" dirty="0" err="1">
                <a:effectLst/>
                <a:latin typeface="Noto Sans" panose="020B0502040504020204" pitchFamily="34" charset="0"/>
              </a:rPr>
              <a:t>professional</a:t>
            </a:r>
            <a:r>
              <a:rPr lang="fr-FR" dirty="0">
                <a:effectLst/>
                <a:latin typeface="Noto Sans" panose="020B0502040504020204" pitchFamily="34" charset="0"/>
              </a:rPr>
              <a:t> </a:t>
            </a:r>
            <a:r>
              <a:rPr lang="fr-FR" dirty="0" err="1">
                <a:effectLst/>
                <a:latin typeface="Noto Sans" panose="020B0502040504020204" pitchFamily="34" charset="0"/>
              </a:rPr>
              <a:t>investors</a:t>
            </a:r>
            <a:r>
              <a:rPr lang="fr-FR" dirty="0">
                <a:effectLst/>
                <a:latin typeface="Noto Sans" panose="020B0502040504020204" pitchFamily="34" charset="0"/>
              </a:rPr>
              <a:t> </a:t>
            </a:r>
            <a:r>
              <a:rPr lang="fr-FR" dirty="0" err="1">
                <a:effectLst/>
                <a:latin typeface="Noto Sans" panose="020B0502040504020204" pitchFamily="34" charset="0"/>
              </a:rPr>
              <a:t>only</a:t>
            </a:r>
            <a:endParaRPr lang="en-GB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D9F045A-86C6-0812-3813-D4C61BA803C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22861" y="284400"/>
            <a:ext cx="1443600" cy="782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730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-blank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5199" y="2358221"/>
            <a:ext cx="5975835" cy="724826"/>
          </a:xfrm>
        </p:spPr>
        <p:txBody>
          <a:bodyPr anchor="b" anchorCtr="0">
            <a:noAutofit/>
          </a:bodyPr>
          <a:lstStyle>
            <a:lvl1pPr algn="l">
              <a:lnSpc>
                <a:spcPts val="2900"/>
              </a:lnSpc>
              <a:defRPr sz="2500" b="1" spc="-10" baseline="0">
                <a:solidFill>
                  <a:srgbClr val="001C4B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fr-FR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5200" y="3270572"/>
            <a:ext cx="5975836" cy="559423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300" b="0" i="0" spc="-10" baseline="0">
                <a:solidFill>
                  <a:srgbClr val="001C4B"/>
                </a:solidFill>
                <a:latin typeface="Noto Sans Med" panose="020B0502040504020204" pitchFamily="34" charset="0"/>
                <a:ea typeface="Noto Sans Med" panose="020B0502040504020204" pitchFamily="34" charset="0"/>
                <a:cs typeface="Noto Sans Med" panose="020B0502040504020204" pitchFamily="34" charset="0"/>
              </a:defRPr>
            </a:lvl1pPr>
            <a:lvl2pPr marL="342857" indent="0" algn="ctr">
              <a:buNone/>
              <a:defRPr sz="1500"/>
            </a:lvl2pPr>
            <a:lvl3pPr marL="685715" indent="0" algn="ctr">
              <a:buNone/>
              <a:defRPr sz="1350"/>
            </a:lvl3pPr>
            <a:lvl4pPr marL="1028573" indent="0" algn="ctr">
              <a:buNone/>
              <a:defRPr sz="1200"/>
            </a:lvl4pPr>
            <a:lvl5pPr marL="1371431" indent="0" algn="ctr">
              <a:buNone/>
              <a:defRPr sz="1200"/>
            </a:lvl5pPr>
            <a:lvl6pPr marL="1714289" indent="0" algn="ctr">
              <a:buNone/>
              <a:defRPr sz="1200"/>
            </a:lvl6pPr>
            <a:lvl7pPr marL="2057144" indent="0" algn="ctr">
              <a:buNone/>
              <a:defRPr sz="1200"/>
            </a:lvl7pPr>
            <a:lvl8pPr marL="2400002" indent="0" algn="ctr">
              <a:buNone/>
              <a:defRPr sz="1200"/>
            </a:lvl8pPr>
            <a:lvl9pPr marL="27428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rme libre 4">
            <a:extLst>
              <a:ext uri="{FF2B5EF4-FFF2-40B4-BE49-F238E27FC236}">
                <a16:creationId xmlns:a16="http://schemas.microsoft.com/office/drawing/2014/main" id="{81B07C38-783E-E35D-F550-E67A8A92F3BE}"/>
              </a:ext>
            </a:extLst>
          </p:cNvPr>
          <p:cNvSpPr/>
          <p:nvPr userDrawn="1"/>
        </p:nvSpPr>
        <p:spPr>
          <a:xfrm rot="16200000">
            <a:off x="-1217195" y="2737739"/>
            <a:ext cx="4051355" cy="96632"/>
          </a:xfrm>
          <a:custGeom>
            <a:avLst/>
            <a:gdLst>
              <a:gd name="connsiteX0" fmla="*/ 0 w 1286893"/>
              <a:gd name="connsiteY0" fmla="*/ 0 h 96423"/>
              <a:gd name="connsiteX1" fmla="*/ 1286894 w 1286893"/>
              <a:gd name="connsiteY1" fmla="*/ 0 h 96423"/>
              <a:gd name="connsiteX2" fmla="*/ 1286894 w 1286893"/>
              <a:gd name="connsiteY2" fmla="*/ 96423 h 96423"/>
              <a:gd name="connsiteX3" fmla="*/ 0 w 1286893"/>
              <a:gd name="connsiteY3" fmla="*/ 96423 h 96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86893" h="96423">
                <a:moveTo>
                  <a:pt x="0" y="0"/>
                </a:moveTo>
                <a:lnTo>
                  <a:pt x="1286894" y="0"/>
                </a:lnTo>
                <a:lnTo>
                  <a:pt x="1286894" y="96423"/>
                </a:lnTo>
                <a:lnTo>
                  <a:pt x="0" y="96423"/>
                </a:lnTo>
                <a:close/>
              </a:path>
            </a:pathLst>
          </a:custGeom>
          <a:solidFill>
            <a:srgbClr val="009EE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6" name="Espace réservé du texte 81">
            <a:extLst>
              <a:ext uri="{FF2B5EF4-FFF2-40B4-BE49-F238E27FC236}">
                <a16:creationId xmlns:a16="http://schemas.microsoft.com/office/drawing/2014/main" id="{7F0A05DB-6FAF-E48E-84E6-8F4459DB4C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85200" y="4045576"/>
            <a:ext cx="759483" cy="258165"/>
          </a:xfrm>
        </p:spPr>
        <p:txBody>
          <a:bodyPr anchor="b"/>
          <a:lstStyle>
            <a:lvl1pPr marL="6351" indent="0">
              <a:buNone/>
              <a:defRPr sz="700" baseline="0">
                <a:solidFill>
                  <a:srgbClr val="001C4B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 dirty="0"/>
              <a:t>MONTH 2024</a:t>
            </a:r>
          </a:p>
        </p:txBody>
      </p:sp>
      <p:sp>
        <p:nvSpPr>
          <p:cNvPr id="7" name="Espace réservé du texte 81">
            <a:extLst>
              <a:ext uri="{FF2B5EF4-FFF2-40B4-BE49-F238E27FC236}">
                <a16:creationId xmlns:a16="http://schemas.microsoft.com/office/drawing/2014/main" id="{24E26F61-B61B-FAF2-6F9C-11CE2EC192D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044683" y="4045576"/>
            <a:ext cx="3026141" cy="258165"/>
          </a:xfrm>
        </p:spPr>
        <p:txBody>
          <a:bodyPr anchor="b"/>
          <a:lstStyle>
            <a:lvl1pPr marL="6351" indent="0">
              <a:buNone/>
              <a:defRPr sz="700" baseline="0">
                <a:solidFill>
                  <a:srgbClr val="001C4B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en-GB" dirty="0"/>
              <a:t>• </a:t>
            </a:r>
            <a:r>
              <a:rPr lang="fr-FR" dirty="0">
                <a:effectLst/>
                <a:latin typeface="Noto Sans" panose="020B0502040504020204" pitchFamily="34" charset="0"/>
              </a:rPr>
              <a:t>Document for </a:t>
            </a:r>
            <a:r>
              <a:rPr lang="fr-FR" dirty="0" err="1">
                <a:effectLst/>
                <a:latin typeface="Noto Sans" panose="020B0502040504020204" pitchFamily="34" charset="0"/>
              </a:rPr>
              <a:t>professional</a:t>
            </a:r>
            <a:r>
              <a:rPr lang="fr-FR" dirty="0">
                <a:effectLst/>
                <a:latin typeface="Noto Sans" panose="020B0502040504020204" pitchFamily="34" charset="0"/>
              </a:rPr>
              <a:t> </a:t>
            </a:r>
            <a:r>
              <a:rPr lang="fr-FR" dirty="0" err="1">
                <a:effectLst/>
                <a:latin typeface="Noto Sans" panose="020B0502040504020204" pitchFamily="34" charset="0"/>
              </a:rPr>
              <a:t>investors</a:t>
            </a:r>
            <a:r>
              <a:rPr lang="fr-FR" dirty="0">
                <a:effectLst/>
                <a:latin typeface="Noto Sans" panose="020B0502040504020204" pitchFamily="34" charset="0"/>
              </a:rPr>
              <a:t> </a:t>
            </a:r>
            <a:r>
              <a:rPr lang="fr-FR" dirty="0" err="1">
                <a:effectLst/>
                <a:latin typeface="Noto Sans" panose="020B0502040504020204" pitchFamily="34" charset="0"/>
              </a:rPr>
              <a:t>only</a:t>
            </a:r>
            <a:endParaRPr lang="en-GB" dirty="0"/>
          </a:p>
        </p:txBody>
      </p:sp>
      <p:sp>
        <p:nvSpPr>
          <p:cNvPr id="9" name="Forme libre 8">
            <a:extLst>
              <a:ext uri="{FF2B5EF4-FFF2-40B4-BE49-F238E27FC236}">
                <a16:creationId xmlns:a16="http://schemas.microsoft.com/office/drawing/2014/main" id="{B87305F2-AFBE-EBE0-195B-9DE232764CEB}"/>
              </a:ext>
            </a:extLst>
          </p:cNvPr>
          <p:cNvSpPr/>
          <p:nvPr userDrawn="1"/>
        </p:nvSpPr>
        <p:spPr>
          <a:xfrm>
            <a:off x="815975" y="760377"/>
            <a:ext cx="5563225" cy="96632"/>
          </a:xfrm>
          <a:custGeom>
            <a:avLst/>
            <a:gdLst>
              <a:gd name="connsiteX0" fmla="*/ 0 w 1286893"/>
              <a:gd name="connsiteY0" fmla="*/ 0 h 96423"/>
              <a:gd name="connsiteX1" fmla="*/ 1286894 w 1286893"/>
              <a:gd name="connsiteY1" fmla="*/ 0 h 96423"/>
              <a:gd name="connsiteX2" fmla="*/ 1286894 w 1286893"/>
              <a:gd name="connsiteY2" fmla="*/ 96423 h 96423"/>
              <a:gd name="connsiteX3" fmla="*/ 0 w 1286893"/>
              <a:gd name="connsiteY3" fmla="*/ 96423 h 96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86893" h="96423">
                <a:moveTo>
                  <a:pt x="0" y="0"/>
                </a:moveTo>
                <a:lnTo>
                  <a:pt x="1286894" y="0"/>
                </a:lnTo>
                <a:lnTo>
                  <a:pt x="1286894" y="96423"/>
                </a:lnTo>
                <a:lnTo>
                  <a:pt x="0" y="96423"/>
                </a:lnTo>
                <a:close/>
              </a:path>
            </a:pathLst>
          </a:custGeom>
          <a:solidFill>
            <a:srgbClr val="009EE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0" name="Forme libre 9">
            <a:extLst>
              <a:ext uri="{FF2B5EF4-FFF2-40B4-BE49-F238E27FC236}">
                <a16:creationId xmlns:a16="http://schemas.microsoft.com/office/drawing/2014/main" id="{3F3A0A57-DE05-97CD-6FD6-08C2F6615A12}"/>
              </a:ext>
            </a:extLst>
          </p:cNvPr>
          <p:cNvSpPr/>
          <p:nvPr userDrawn="1"/>
        </p:nvSpPr>
        <p:spPr>
          <a:xfrm>
            <a:off x="8059928" y="760264"/>
            <a:ext cx="1083954" cy="97200"/>
          </a:xfrm>
          <a:custGeom>
            <a:avLst/>
            <a:gdLst>
              <a:gd name="connsiteX0" fmla="*/ 0 w 1286893"/>
              <a:gd name="connsiteY0" fmla="*/ 0 h 96631"/>
              <a:gd name="connsiteX1" fmla="*/ 1286894 w 1286893"/>
              <a:gd name="connsiteY1" fmla="*/ 0 h 96631"/>
              <a:gd name="connsiteX2" fmla="*/ 1286894 w 1286893"/>
              <a:gd name="connsiteY2" fmla="*/ 96632 h 96631"/>
              <a:gd name="connsiteX3" fmla="*/ 0 w 1286893"/>
              <a:gd name="connsiteY3" fmla="*/ 96632 h 96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86893" h="96631">
                <a:moveTo>
                  <a:pt x="0" y="0"/>
                </a:moveTo>
                <a:lnTo>
                  <a:pt x="1286894" y="0"/>
                </a:lnTo>
                <a:lnTo>
                  <a:pt x="1286894" y="96632"/>
                </a:lnTo>
                <a:lnTo>
                  <a:pt x="0" y="96632"/>
                </a:lnTo>
                <a:close/>
              </a:path>
            </a:pathLst>
          </a:custGeom>
          <a:solidFill>
            <a:srgbClr val="019EE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1" name="Forme libre 10">
            <a:extLst>
              <a:ext uri="{FF2B5EF4-FFF2-40B4-BE49-F238E27FC236}">
                <a16:creationId xmlns:a16="http://schemas.microsoft.com/office/drawing/2014/main" id="{1A40575B-E146-3BD8-AFB2-E8717B190F83}"/>
              </a:ext>
            </a:extLst>
          </p:cNvPr>
          <p:cNvSpPr/>
          <p:nvPr userDrawn="1"/>
        </p:nvSpPr>
        <p:spPr>
          <a:xfrm>
            <a:off x="815975" y="4715100"/>
            <a:ext cx="8327906" cy="96632"/>
          </a:xfrm>
          <a:custGeom>
            <a:avLst/>
            <a:gdLst>
              <a:gd name="connsiteX0" fmla="*/ 0 w 1286893"/>
              <a:gd name="connsiteY0" fmla="*/ 0 h 96423"/>
              <a:gd name="connsiteX1" fmla="*/ 1286894 w 1286893"/>
              <a:gd name="connsiteY1" fmla="*/ 0 h 96423"/>
              <a:gd name="connsiteX2" fmla="*/ 1286894 w 1286893"/>
              <a:gd name="connsiteY2" fmla="*/ 96423 h 96423"/>
              <a:gd name="connsiteX3" fmla="*/ 0 w 1286893"/>
              <a:gd name="connsiteY3" fmla="*/ 96423 h 96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86893" h="96423">
                <a:moveTo>
                  <a:pt x="0" y="0"/>
                </a:moveTo>
                <a:lnTo>
                  <a:pt x="1286894" y="0"/>
                </a:lnTo>
                <a:lnTo>
                  <a:pt x="1286894" y="96423"/>
                </a:lnTo>
                <a:lnTo>
                  <a:pt x="0" y="96423"/>
                </a:lnTo>
                <a:close/>
              </a:path>
            </a:pathLst>
          </a:custGeom>
          <a:solidFill>
            <a:srgbClr val="009EE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FD43DB-60F0-69E5-0E6E-39DAC8F580D6}"/>
              </a:ext>
            </a:extLst>
          </p:cNvPr>
          <p:cNvSpPr>
            <a:spLocks noChangeAspect="1"/>
          </p:cNvSpPr>
          <p:nvPr userDrawn="1"/>
        </p:nvSpPr>
        <p:spPr>
          <a:xfrm>
            <a:off x="-3" y="-1"/>
            <a:ext cx="428400" cy="42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6211952-6EFD-1268-B0D8-5D1EA9A036DA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428609"/>
            <a:ext cx="428400" cy="42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9892B6F-9A39-8FF4-F99C-3D45A9DDD8CC}"/>
              </a:ext>
            </a:extLst>
          </p:cNvPr>
          <p:cNvSpPr>
            <a:spLocks noChangeAspect="1"/>
          </p:cNvSpPr>
          <p:nvPr userDrawn="1"/>
        </p:nvSpPr>
        <p:spPr>
          <a:xfrm>
            <a:off x="853399" y="-1"/>
            <a:ext cx="428400" cy="42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9B1B74D-F7A7-427F-4C42-2E65F73D513D}"/>
              </a:ext>
            </a:extLst>
          </p:cNvPr>
          <p:cNvSpPr>
            <a:spLocks noChangeAspect="1"/>
          </p:cNvSpPr>
          <p:nvPr userDrawn="1"/>
        </p:nvSpPr>
        <p:spPr>
          <a:xfrm>
            <a:off x="-3" y="857009"/>
            <a:ext cx="428400" cy="42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210BEFD-109F-37DE-ED0B-3CC93589B2DE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1285619"/>
            <a:ext cx="428400" cy="42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71C3FFE-4231-78CA-D32E-0CB00040402B}"/>
              </a:ext>
            </a:extLst>
          </p:cNvPr>
          <p:cNvSpPr>
            <a:spLocks noChangeAspect="1"/>
          </p:cNvSpPr>
          <p:nvPr userDrawn="1"/>
        </p:nvSpPr>
        <p:spPr>
          <a:xfrm>
            <a:off x="-3" y="1714229"/>
            <a:ext cx="428400" cy="42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7FB0309-AAC2-B57E-8D00-2D7697DD14AF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2142839"/>
            <a:ext cx="428400" cy="42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240B5A4-42DE-8A14-36D6-AFB428B9B1C1}"/>
              </a:ext>
            </a:extLst>
          </p:cNvPr>
          <p:cNvSpPr>
            <a:spLocks noChangeAspect="1"/>
          </p:cNvSpPr>
          <p:nvPr userDrawn="1"/>
        </p:nvSpPr>
        <p:spPr>
          <a:xfrm>
            <a:off x="-3" y="2571239"/>
            <a:ext cx="428400" cy="42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440879F-6B1C-6975-11B0-534AD280C77A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2999849"/>
            <a:ext cx="428400" cy="42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9CAD4E1-CE8D-D68A-F8EF-E72FA15695F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96199" y="284400"/>
            <a:ext cx="1443600" cy="782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1314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 15">
            <a:extLst>
              <a:ext uri="{FF2B5EF4-FFF2-40B4-BE49-F238E27FC236}">
                <a16:creationId xmlns:a16="http://schemas.microsoft.com/office/drawing/2014/main" id="{CC0E64A8-1760-18C4-A4A9-561107482C09}"/>
              </a:ext>
            </a:extLst>
          </p:cNvPr>
          <p:cNvPicPr>
            <a:picLocks/>
          </p:cNvPicPr>
          <p:nvPr userDrawn="1"/>
        </p:nvPicPr>
        <p:blipFill>
          <a:blip r:embed="rId2"/>
          <a:srcRect/>
          <a:stretch/>
        </p:blipFill>
        <p:spPr>
          <a:xfrm>
            <a:off x="-2" y="0"/>
            <a:ext cx="9144000" cy="5143500"/>
          </a:xfrm>
          <a:prstGeom prst="rect">
            <a:avLst/>
          </a:prstGeom>
        </p:spPr>
      </p:pic>
      <p:sp>
        <p:nvSpPr>
          <p:cNvPr id="10" name="Forme libre 9">
            <a:extLst>
              <a:ext uri="{FF2B5EF4-FFF2-40B4-BE49-F238E27FC236}">
                <a16:creationId xmlns:a16="http://schemas.microsoft.com/office/drawing/2014/main" id="{890CC80E-BA80-6CF4-B639-E7BB94813E41}"/>
              </a:ext>
            </a:extLst>
          </p:cNvPr>
          <p:cNvSpPr/>
          <p:nvPr userDrawn="1"/>
        </p:nvSpPr>
        <p:spPr>
          <a:xfrm>
            <a:off x="331767" y="4715100"/>
            <a:ext cx="8440758" cy="96632"/>
          </a:xfrm>
          <a:custGeom>
            <a:avLst/>
            <a:gdLst>
              <a:gd name="connsiteX0" fmla="*/ 0 w 1286893"/>
              <a:gd name="connsiteY0" fmla="*/ 0 h 96423"/>
              <a:gd name="connsiteX1" fmla="*/ 1286894 w 1286893"/>
              <a:gd name="connsiteY1" fmla="*/ 0 h 96423"/>
              <a:gd name="connsiteX2" fmla="*/ 1286894 w 1286893"/>
              <a:gd name="connsiteY2" fmla="*/ 96423 h 96423"/>
              <a:gd name="connsiteX3" fmla="*/ 0 w 1286893"/>
              <a:gd name="connsiteY3" fmla="*/ 96423 h 96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86893" h="96423">
                <a:moveTo>
                  <a:pt x="0" y="0"/>
                </a:moveTo>
                <a:lnTo>
                  <a:pt x="1286894" y="0"/>
                </a:lnTo>
                <a:lnTo>
                  <a:pt x="1286894" y="96423"/>
                </a:lnTo>
                <a:lnTo>
                  <a:pt x="0" y="96423"/>
                </a:lnTo>
                <a:close/>
              </a:path>
            </a:pathLst>
          </a:custGeom>
          <a:solidFill>
            <a:srgbClr val="009EE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48D91661-BB6B-8D42-C429-8A35850E86AA}"/>
              </a:ext>
            </a:extLst>
          </p:cNvPr>
          <p:cNvPicPr>
            <a:picLocks/>
          </p:cNvPicPr>
          <p:nvPr userDrawn="1"/>
        </p:nvPicPr>
        <p:blipFill>
          <a:blip r:embed="rId3"/>
          <a:srcRect/>
          <a:stretch/>
        </p:blipFill>
        <p:spPr>
          <a:xfrm>
            <a:off x="0" y="3600"/>
            <a:ext cx="9144000" cy="513588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6801" y="1876926"/>
            <a:ext cx="3744000" cy="1158905"/>
          </a:xfrm>
        </p:spPr>
        <p:txBody>
          <a:bodyPr anchor="b" anchorCtr="0">
            <a:noAutofit/>
          </a:bodyPr>
          <a:lstStyle>
            <a:lvl1pPr algn="l">
              <a:lnSpc>
                <a:spcPts val="2900"/>
              </a:lnSpc>
              <a:defRPr sz="2500" b="1" spc="-10" baseline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fr-FR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6799" y="3394615"/>
            <a:ext cx="3744000" cy="559423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300" b="0" i="0" spc="-10" baseline="0">
                <a:solidFill>
                  <a:schemeClr val="bg1"/>
                </a:solidFill>
                <a:latin typeface="Noto Sans Med" panose="020B0502040504020204" pitchFamily="34" charset="0"/>
                <a:ea typeface="Noto Sans Med" panose="020B0502040504020204" pitchFamily="34" charset="0"/>
                <a:cs typeface="Noto Sans Med" panose="020B0502040504020204" pitchFamily="34" charset="0"/>
              </a:defRPr>
            </a:lvl1pPr>
            <a:lvl2pPr marL="342857" indent="0" algn="ctr">
              <a:buNone/>
              <a:defRPr sz="1500"/>
            </a:lvl2pPr>
            <a:lvl3pPr marL="685715" indent="0" algn="ctr">
              <a:buNone/>
              <a:defRPr sz="1350"/>
            </a:lvl3pPr>
            <a:lvl4pPr marL="1028573" indent="0" algn="ctr">
              <a:buNone/>
              <a:defRPr sz="1200"/>
            </a:lvl4pPr>
            <a:lvl5pPr marL="1371431" indent="0" algn="ctr">
              <a:buNone/>
              <a:defRPr sz="1200"/>
            </a:lvl5pPr>
            <a:lvl6pPr marL="1714289" indent="0" algn="ctr">
              <a:buNone/>
              <a:defRPr sz="1200"/>
            </a:lvl6pPr>
            <a:lvl7pPr marL="2057144" indent="0" algn="ctr">
              <a:buNone/>
              <a:defRPr sz="1200"/>
            </a:lvl7pPr>
            <a:lvl8pPr marL="2400002" indent="0" algn="ctr">
              <a:buNone/>
              <a:defRPr sz="1200"/>
            </a:lvl8pPr>
            <a:lvl9pPr marL="27428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0" name="Forme libre 69">
            <a:extLst>
              <a:ext uri="{FF2B5EF4-FFF2-40B4-BE49-F238E27FC236}">
                <a16:creationId xmlns:a16="http://schemas.microsoft.com/office/drawing/2014/main" id="{D62011F9-E62E-CF7B-CDC0-8CE01CA7E752}"/>
              </a:ext>
            </a:extLst>
          </p:cNvPr>
          <p:cNvSpPr/>
          <p:nvPr userDrawn="1"/>
        </p:nvSpPr>
        <p:spPr>
          <a:xfrm>
            <a:off x="331767" y="760377"/>
            <a:ext cx="6047433" cy="96632"/>
          </a:xfrm>
          <a:custGeom>
            <a:avLst/>
            <a:gdLst>
              <a:gd name="connsiteX0" fmla="*/ 0 w 1286893"/>
              <a:gd name="connsiteY0" fmla="*/ 0 h 96423"/>
              <a:gd name="connsiteX1" fmla="*/ 1286894 w 1286893"/>
              <a:gd name="connsiteY1" fmla="*/ 0 h 96423"/>
              <a:gd name="connsiteX2" fmla="*/ 1286894 w 1286893"/>
              <a:gd name="connsiteY2" fmla="*/ 96423 h 96423"/>
              <a:gd name="connsiteX3" fmla="*/ 0 w 1286893"/>
              <a:gd name="connsiteY3" fmla="*/ 96423 h 96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86893" h="96423">
                <a:moveTo>
                  <a:pt x="0" y="0"/>
                </a:moveTo>
                <a:lnTo>
                  <a:pt x="1286894" y="0"/>
                </a:lnTo>
                <a:lnTo>
                  <a:pt x="1286894" y="96423"/>
                </a:lnTo>
                <a:lnTo>
                  <a:pt x="0" y="96423"/>
                </a:lnTo>
                <a:close/>
              </a:path>
            </a:pathLst>
          </a:custGeom>
          <a:solidFill>
            <a:srgbClr val="009EE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75" name="Forme libre 74">
            <a:extLst>
              <a:ext uri="{FF2B5EF4-FFF2-40B4-BE49-F238E27FC236}">
                <a16:creationId xmlns:a16="http://schemas.microsoft.com/office/drawing/2014/main" id="{D20C62C1-8E69-88E5-A947-332B553C156C}"/>
              </a:ext>
            </a:extLst>
          </p:cNvPr>
          <p:cNvSpPr/>
          <p:nvPr userDrawn="1"/>
        </p:nvSpPr>
        <p:spPr>
          <a:xfrm rot="16200000">
            <a:off x="-1591809" y="2724590"/>
            <a:ext cx="3943786" cy="96632"/>
          </a:xfrm>
          <a:custGeom>
            <a:avLst/>
            <a:gdLst>
              <a:gd name="connsiteX0" fmla="*/ 0 w 1286893"/>
              <a:gd name="connsiteY0" fmla="*/ 0 h 96423"/>
              <a:gd name="connsiteX1" fmla="*/ 1286894 w 1286893"/>
              <a:gd name="connsiteY1" fmla="*/ 0 h 96423"/>
              <a:gd name="connsiteX2" fmla="*/ 1286894 w 1286893"/>
              <a:gd name="connsiteY2" fmla="*/ 96423 h 96423"/>
              <a:gd name="connsiteX3" fmla="*/ 0 w 1286893"/>
              <a:gd name="connsiteY3" fmla="*/ 96423 h 96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86893" h="96423">
                <a:moveTo>
                  <a:pt x="0" y="0"/>
                </a:moveTo>
                <a:lnTo>
                  <a:pt x="1286894" y="0"/>
                </a:lnTo>
                <a:lnTo>
                  <a:pt x="1286894" y="96423"/>
                </a:lnTo>
                <a:lnTo>
                  <a:pt x="0" y="96423"/>
                </a:lnTo>
                <a:close/>
              </a:path>
            </a:pathLst>
          </a:custGeom>
          <a:solidFill>
            <a:srgbClr val="009EE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78" name="Espace réservé du texte 81">
            <a:extLst>
              <a:ext uri="{FF2B5EF4-FFF2-40B4-BE49-F238E27FC236}">
                <a16:creationId xmlns:a16="http://schemas.microsoft.com/office/drawing/2014/main" id="{CEB533F0-4A85-F96D-8736-FC987D221A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87600" y="4055749"/>
            <a:ext cx="3026141" cy="250900"/>
          </a:xfrm>
        </p:spPr>
        <p:txBody>
          <a:bodyPr anchor="b"/>
          <a:lstStyle>
            <a:lvl1pPr marL="6351" indent="0">
              <a:buNone/>
              <a:defRPr sz="700" baseline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en-GB" dirty="0"/>
              <a:t>• </a:t>
            </a:r>
            <a:r>
              <a:rPr lang="fr-FR" dirty="0">
                <a:effectLst/>
                <a:latin typeface="Noto Sans" panose="020B0502040504020204" pitchFamily="34" charset="0"/>
              </a:rPr>
              <a:t>Document for </a:t>
            </a:r>
            <a:r>
              <a:rPr lang="fr-FR" dirty="0" err="1">
                <a:effectLst/>
                <a:latin typeface="Noto Sans" panose="020B0502040504020204" pitchFamily="34" charset="0"/>
              </a:rPr>
              <a:t>professional</a:t>
            </a:r>
            <a:r>
              <a:rPr lang="fr-FR" dirty="0">
                <a:effectLst/>
                <a:latin typeface="Noto Sans" panose="020B0502040504020204" pitchFamily="34" charset="0"/>
              </a:rPr>
              <a:t> </a:t>
            </a:r>
            <a:r>
              <a:rPr lang="fr-FR" dirty="0" err="1">
                <a:effectLst/>
                <a:latin typeface="Noto Sans" panose="020B0502040504020204" pitchFamily="34" charset="0"/>
              </a:rPr>
              <a:t>investors</a:t>
            </a:r>
            <a:r>
              <a:rPr lang="fr-FR" dirty="0">
                <a:effectLst/>
                <a:latin typeface="Noto Sans" panose="020B0502040504020204" pitchFamily="34" charset="0"/>
              </a:rPr>
              <a:t> </a:t>
            </a:r>
            <a:r>
              <a:rPr lang="fr-FR" dirty="0" err="1">
                <a:effectLst/>
                <a:latin typeface="Noto Sans" panose="020B0502040504020204" pitchFamily="34" charset="0"/>
              </a:rPr>
              <a:t>only</a:t>
            </a:r>
            <a:endParaRPr lang="en-GB" dirty="0"/>
          </a:p>
        </p:txBody>
      </p:sp>
      <p:sp>
        <p:nvSpPr>
          <p:cNvPr id="7" name="Forme libre 6">
            <a:extLst>
              <a:ext uri="{FF2B5EF4-FFF2-40B4-BE49-F238E27FC236}">
                <a16:creationId xmlns:a16="http://schemas.microsoft.com/office/drawing/2014/main" id="{FF49AF96-EB84-99CE-22EA-A99929C53BC8}"/>
              </a:ext>
            </a:extLst>
          </p:cNvPr>
          <p:cNvSpPr/>
          <p:nvPr userDrawn="1"/>
        </p:nvSpPr>
        <p:spPr>
          <a:xfrm>
            <a:off x="8059928" y="760264"/>
            <a:ext cx="712597" cy="97200"/>
          </a:xfrm>
          <a:custGeom>
            <a:avLst/>
            <a:gdLst>
              <a:gd name="connsiteX0" fmla="*/ 0 w 1286893"/>
              <a:gd name="connsiteY0" fmla="*/ 0 h 96631"/>
              <a:gd name="connsiteX1" fmla="*/ 1286894 w 1286893"/>
              <a:gd name="connsiteY1" fmla="*/ 0 h 96631"/>
              <a:gd name="connsiteX2" fmla="*/ 1286894 w 1286893"/>
              <a:gd name="connsiteY2" fmla="*/ 96632 h 96631"/>
              <a:gd name="connsiteX3" fmla="*/ 0 w 1286893"/>
              <a:gd name="connsiteY3" fmla="*/ 96632 h 96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86893" h="96631">
                <a:moveTo>
                  <a:pt x="0" y="0"/>
                </a:moveTo>
                <a:lnTo>
                  <a:pt x="1286894" y="0"/>
                </a:lnTo>
                <a:lnTo>
                  <a:pt x="1286894" y="96632"/>
                </a:lnTo>
                <a:lnTo>
                  <a:pt x="0" y="96632"/>
                </a:lnTo>
                <a:close/>
              </a:path>
            </a:pathLst>
          </a:custGeom>
          <a:solidFill>
            <a:srgbClr val="019EE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1" name="Forme libre 10">
            <a:extLst>
              <a:ext uri="{FF2B5EF4-FFF2-40B4-BE49-F238E27FC236}">
                <a16:creationId xmlns:a16="http://schemas.microsoft.com/office/drawing/2014/main" id="{D86FC8AD-B83A-D1BC-C2DE-F09474A82F7F}"/>
              </a:ext>
            </a:extLst>
          </p:cNvPr>
          <p:cNvSpPr/>
          <p:nvPr userDrawn="1"/>
        </p:nvSpPr>
        <p:spPr>
          <a:xfrm rot="16200000">
            <a:off x="6738065" y="2737682"/>
            <a:ext cx="4051467" cy="96632"/>
          </a:xfrm>
          <a:custGeom>
            <a:avLst/>
            <a:gdLst>
              <a:gd name="connsiteX0" fmla="*/ 0 w 1286893"/>
              <a:gd name="connsiteY0" fmla="*/ 0 h 96423"/>
              <a:gd name="connsiteX1" fmla="*/ 1286894 w 1286893"/>
              <a:gd name="connsiteY1" fmla="*/ 0 h 96423"/>
              <a:gd name="connsiteX2" fmla="*/ 1286894 w 1286893"/>
              <a:gd name="connsiteY2" fmla="*/ 96423 h 96423"/>
              <a:gd name="connsiteX3" fmla="*/ 0 w 1286893"/>
              <a:gd name="connsiteY3" fmla="*/ 96423 h 96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86893" h="96423">
                <a:moveTo>
                  <a:pt x="0" y="0"/>
                </a:moveTo>
                <a:lnTo>
                  <a:pt x="1286894" y="0"/>
                </a:lnTo>
                <a:lnTo>
                  <a:pt x="1286894" y="96423"/>
                </a:lnTo>
                <a:lnTo>
                  <a:pt x="0" y="96423"/>
                </a:lnTo>
                <a:close/>
              </a:path>
            </a:pathLst>
          </a:custGeom>
          <a:solidFill>
            <a:srgbClr val="009EE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77" name="Espace réservé du texte 81">
            <a:extLst>
              <a:ext uri="{FF2B5EF4-FFF2-40B4-BE49-F238E27FC236}">
                <a16:creationId xmlns:a16="http://schemas.microsoft.com/office/drawing/2014/main" id="{A71CEE15-A6C7-0712-282F-A785EC1E03B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56801" y="4048484"/>
            <a:ext cx="730798" cy="258165"/>
          </a:xfrm>
        </p:spPr>
        <p:txBody>
          <a:bodyPr anchor="b"/>
          <a:lstStyle>
            <a:lvl1pPr marL="6351" indent="0">
              <a:buNone/>
              <a:defRPr sz="700" baseline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 dirty="0"/>
              <a:t>MONTH 2024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27FED3-B555-0F89-7F36-BE59B33FA636}"/>
              </a:ext>
            </a:extLst>
          </p:cNvPr>
          <p:cNvSpPr>
            <a:spLocks noChangeAspect="1"/>
          </p:cNvSpPr>
          <p:nvPr userDrawn="1"/>
        </p:nvSpPr>
        <p:spPr>
          <a:xfrm>
            <a:off x="-3" y="-1"/>
            <a:ext cx="428400" cy="42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8FE08B-A19B-B932-0C1F-A5C2590729D3}"/>
              </a:ext>
            </a:extLst>
          </p:cNvPr>
          <p:cNvSpPr>
            <a:spLocks noChangeAspect="1"/>
          </p:cNvSpPr>
          <p:nvPr userDrawn="1"/>
        </p:nvSpPr>
        <p:spPr>
          <a:xfrm>
            <a:off x="428397" y="-1"/>
            <a:ext cx="428400" cy="42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708805-D6FB-1072-B4D3-2D05C07DBB24}"/>
              </a:ext>
            </a:extLst>
          </p:cNvPr>
          <p:cNvSpPr>
            <a:spLocks noChangeAspect="1"/>
          </p:cNvSpPr>
          <p:nvPr userDrawn="1"/>
        </p:nvSpPr>
        <p:spPr>
          <a:xfrm>
            <a:off x="853399" y="-1"/>
            <a:ext cx="428400" cy="42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C8D7AB57-A301-D1B4-5B1D-345F327FF3E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6496199" y="284400"/>
            <a:ext cx="1443600" cy="782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617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Image 136" descr="Une image contenant ciel, Visage humain, personne, plein air&#10;&#10;Description générée automatiquement">
            <a:extLst>
              <a:ext uri="{FF2B5EF4-FFF2-40B4-BE49-F238E27FC236}">
                <a16:creationId xmlns:a16="http://schemas.microsoft.com/office/drawing/2014/main" id="{720FCE97-FD77-8FD9-73F7-3ABB406038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8810" y="2355035"/>
            <a:ext cx="4895070" cy="731176"/>
          </a:xfrm>
        </p:spPr>
        <p:txBody>
          <a:bodyPr anchor="b" anchorCtr="0">
            <a:noAutofit/>
          </a:bodyPr>
          <a:lstStyle>
            <a:lvl1pPr algn="l">
              <a:lnSpc>
                <a:spcPts val="2900"/>
              </a:lnSpc>
              <a:defRPr sz="2500" b="1" spc="-10" baseline="0">
                <a:solidFill>
                  <a:srgbClr val="001C4B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fr-FR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8810" y="3273736"/>
            <a:ext cx="4895071" cy="559423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300" b="0" i="0" spc="-10" baseline="0">
                <a:solidFill>
                  <a:srgbClr val="001C4B"/>
                </a:solidFill>
                <a:latin typeface="Noto Sans Med" panose="020B0502040504020204" pitchFamily="34" charset="0"/>
                <a:ea typeface="Noto Sans Med" panose="020B0502040504020204" pitchFamily="34" charset="0"/>
                <a:cs typeface="Noto Sans Med" panose="020B0502040504020204" pitchFamily="34" charset="0"/>
              </a:defRPr>
            </a:lvl1pPr>
            <a:lvl2pPr marL="342857" indent="0" algn="ctr">
              <a:buNone/>
              <a:defRPr sz="1500"/>
            </a:lvl2pPr>
            <a:lvl3pPr marL="685715" indent="0" algn="ctr">
              <a:buNone/>
              <a:defRPr sz="1350"/>
            </a:lvl3pPr>
            <a:lvl4pPr marL="1028573" indent="0" algn="ctr">
              <a:buNone/>
              <a:defRPr sz="1200"/>
            </a:lvl4pPr>
            <a:lvl5pPr marL="1371431" indent="0" algn="ctr">
              <a:buNone/>
              <a:defRPr sz="1200"/>
            </a:lvl5pPr>
            <a:lvl6pPr marL="1714289" indent="0" algn="ctr">
              <a:buNone/>
              <a:defRPr sz="1200"/>
            </a:lvl6pPr>
            <a:lvl7pPr marL="2057144" indent="0" algn="ctr">
              <a:buNone/>
              <a:defRPr sz="1200"/>
            </a:lvl7pPr>
            <a:lvl8pPr marL="2400002" indent="0" algn="ctr">
              <a:buNone/>
              <a:defRPr sz="1200"/>
            </a:lvl8pPr>
            <a:lvl9pPr marL="27428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0" name="Forme libre 69">
            <a:extLst>
              <a:ext uri="{FF2B5EF4-FFF2-40B4-BE49-F238E27FC236}">
                <a16:creationId xmlns:a16="http://schemas.microsoft.com/office/drawing/2014/main" id="{D62011F9-E62E-CF7B-CDC0-8CE01CA7E752}"/>
              </a:ext>
            </a:extLst>
          </p:cNvPr>
          <p:cNvSpPr/>
          <p:nvPr userDrawn="1"/>
        </p:nvSpPr>
        <p:spPr>
          <a:xfrm>
            <a:off x="331768" y="760377"/>
            <a:ext cx="6472878" cy="96632"/>
          </a:xfrm>
          <a:custGeom>
            <a:avLst/>
            <a:gdLst>
              <a:gd name="connsiteX0" fmla="*/ 0 w 1286893"/>
              <a:gd name="connsiteY0" fmla="*/ 0 h 96423"/>
              <a:gd name="connsiteX1" fmla="*/ 1286894 w 1286893"/>
              <a:gd name="connsiteY1" fmla="*/ 0 h 96423"/>
              <a:gd name="connsiteX2" fmla="*/ 1286894 w 1286893"/>
              <a:gd name="connsiteY2" fmla="*/ 96423 h 96423"/>
              <a:gd name="connsiteX3" fmla="*/ 0 w 1286893"/>
              <a:gd name="connsiteY3" fmla="*/ 96423 h 96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86893" h="96423">
                <a:moveTo>
                  <a:pt x="0" y="0"/>
                </a:moveTo>
                <a:lnTo>
                  <a:pt x="1286894" y="0"/>
                </a:lnTo>
                <a:lnTo>
                  <a:pt x="1286894" y="96423"/>
                </a:lnTo>
                <a:lnTo>
                  <a:pt x="0" y="96423"/>
                </a:lnTo>
                <a:close/>
              </a:path>
            </a:pathLst>
          </a:custGeom>
          <a:solidFill>
            <a:srgbClr val="009EE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75" name="Forme libre 74">
            <a:extLst>
              <a:ext uri="{FF2B5EF4-FFF2-40B4-BE49-F238E27FC236}">
                <a16:creationId xmlns:a16="http://schemas.microsoft.com/office/drawing/2014/main" id="{D20C62C1-8E69-88E5-A947-332B553C156C}"/>
              </a:ext>
            </a:extLst>
          </p:cNvPr>
          <p:cNvSpPr/>
          <p:nvPr userDrawn="1"/>
        </p:nvSpPr>
        <p:spPr>
          <a:xfrm rot="16200000">
            <a:off x="-1791160" y="2923941"/>
            <a:ext cx="4342488" cy="96632"/>
          </a:xfrm>
          <a:custGeom>
            <a:avLst/>
            <a:gdLst>
              <a:gd name="connsiteX0" fmla="*/ 0 w 1286893"/>
              <a:gd name="connsiteY0" fmla="*/ 0 h 96423"/>
              <a:gd name="connsiteX1" fmla="*/ 1286894 w 1286893"/>
              <a:gd name="connsiteY1" fmla="*/ 0 h 96423"/>
              <a:gd name="connsiteX2" fmla="*/ 1286894 w 1286893"/>
              <a:gd name="connsiteY2" fmla="*/ 96423 h 96423"/>
              <a:gd name="connsiteX3" fmla="*/ 0 w 1286893"/>
              <a:gd name="connsiteY3" fmla="*/ 96423 h 96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86893" h="96423">
                <a:moveTo>
                  <a:pt x="0" y="0"/>
                </a:moveTo>
                <a:lnTo>
                  <a:pt x="1286894" y="0"/>
                </a:lnTo>
                <a:lnTo>
                  <a:pt x="1286894" y="96423"/>
                </a:lnTo>
                <a:lnTo>
                  <a:pt x="0" y="96423"/>
                </a:lnTo>
                <a:close/>
              </a:path>
            </a:pathLst>
          </a:custGeom>
          <a:solidFill>
            <a:srgbClr val="009EE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77" name="Espace réservé du texte 81">
            <a:extLst>
              <a:ext uri="{FF2B5EF4-FFF2-40B4-BE49-F238E27FC236}">
                <a16:creationId xmlns:a16="http://schemas.microsoft.com/office/drawing/2014/main" id="{A71CEE15-A6C7-0712-282F-A785EC1E03B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28810" y="4486634"/>
            <a:ext cx="759483" cy="258165"/>
          </a:xfrm>
        </p:spPr>
        <p:txBody>
          <a:bodyPr anchor="b"/>
          <a:lstStyle>
            <a:lvl1pPr marL="6351" indent="0">
              <a:buNone/>
              <a:defRPr sz="700" baseline="0">
                <a:solidFill>
                  <a:srgbClr val="001C4B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 dirty="0"/>
              <a:t>MONTH 2024</a:t>
            </a:r>
          </a:p>
        </p:txBody>
      </p:sp>
      <p:sp>
        <p:nvSpPr>
          <p:cNvPr id="78" name="Espace réservé du texte 81">
            <a:extLst>
              <a:ext uri="{FF2B5EF4-FFF2-40B4-BE49-F238E27FC236}">
                <a16:creationId xmlns:a16="http://schemas.microsoft.com/office/drawing/2014/main" id="{CEB533F0-4A85-F96D-8736-FC987D221A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88293" y="4486634"/>
            <a:ext cx="3026141" cy="258165"/>
          </a:xfrm>
        </p:spPr>
        <p:txBody>
          <a:bodyPr anchor="b"/>
          <a:lstStyle>
            <a:lvl1pPr marL="6351" indent="0">
              <a:buNone/>
              <a:defRPr sz="700" baseline="0">
                <a:solidFill>
                  <a:srgbClr val="001C4B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en-GB" dirty="0"/>
              <a:t>• </a:t>
            </a:r>
            <a:r>
              <a:rPr lang="fr-FR" dirty="0">
                <a:effectLst/>
                <a:latin typeface="Noto Sans" panose="020B0502040504020204" pitchFamily="34" charset="0"/>
              </a:rPr>
              <a:t>Document for </a:t>
            </a:r>
            <a:r>
              <a:rPr lang="fr-FR" dirty="0" err="1">
                <a:effectLst/>
                <a:latin typeface="Noto Sans" panose="020B0502040504020204" pitchFamily="34" charset="0"/>
              </a:rPr>
              <a:t>professional</a:t>
            </a:r>
            <a:r>
              <a:rPr lang="fr-FR" dirty="0">
                <a:effectLst/>
                <a:latin typeface="Noto Sans" panose="020B0502040504020204" pitchFamily="34" charset="0"/>
              </a:rPr>
              <a:t> </a:t>
            </a:r>
            <a:r>
              <a:rPr lang="fr-FR" dirty="0" err="1">
                <a:effectLst/>
                <a:latin typeface="Noto Sans" panose="020B0502040504020204" pitchFamily="34" charset="0"/>
              </a:rPr>
              <a:t>investors</a:t>
            </a:r>
            <a:r>
              <a:rPr lang="fr-FR" dirty="0">
                <a:effectLst/>
                <a:latin typeface="Noto Sans" panose="020B0502040504020204" pitchFamily="34" charset="0"/>
              </a:rPr>
              <a:t> </a:t>
            </a:r>
            <a:r>
              <a:rPr lang="fr-FR" dirty="0" err="1">
                <a:effectLst/>
                <a:latin typeface="Noto Sans" panose="020B0502040504020204" pitchFamily="34" charset="0"/>
              </a:rPr>
              <a:t>only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0B6729-9DC1-9D8F-6A3A-F520E1168BCC}"/>
              </a:ext>
            </a:extLst>
          </p:cNvPr>
          <p:cNvSpPr>
            <a:spLocks noChangeAspect="1"/>
          </p:cNvSpPr>
          <p:nvPr userDrawn="1"/>
        </p:nvSpPr>
        <p:spPr>
          <a:xfrm>
            <a:off x="428397" y="-1"/>
            <a:ext cx="428400" cy="42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D495CB-1A2C-7E68-1B8C-4DE7875DB132}"/>
              </a:ext>
            </a:extLst>
          </p:cNvPr>
          <p:cNvSpPr>
            <a:spLocks noChangeAspect="1"/>
          </p:cNvSpPr>
          <p:nvPr userDrawn="1"/>
        </p:nvSpPr>
        <p:spPr>
          <a:xfrm>
            <a:off x="853399" y="-1"/>
            <a:ext cx="428400" cy="42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02E4C7B-8D5E-B9D2-D8F6-B3BC785327B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921061" y="284400"/>
            <a:ext cx="1443600" cy="782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2452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 15">
            <a:extLst>
              <a:ext uri="{FF2B5EF4-FFF2-40B4-BE49-F238E27FC236}">
                <a16:creationId xmlns:a16="http://schemas.microsoft.com/office/drawing/2014/main" id="{CC0E64A8-1760-18C4-A4A9-561107482C09}"/>
              </a:ext>
            </a:extLst>
          </p:cNvPr>
          <p:cNvPicPr>
            <a:picLocks/>
          </p:cNvPicPr>
          <p:nvPr userDrawn="1"/>
        </p:nvPicPr>
        <p:blipFill>
          <a:blip r:embed="rId2"/>
          <a:srcRect/>
          <a:stretch/>
        </p:blipFill>
        <p:spPr>
          <a:xfrm>
            <a:off x="-2" y="4044"/>
            <a:ext cx="9144000" cy="5135880"/>
          </a:xfrm>
          <a:prstGeom prst="rect">
            <a:avLst/>
          </a:prstGeom>
        </p:spPr>
      </p:pic>
      <p:sp>
        <p:nvSpPr>
          <p:cNvPr id="64" name="Forme libre 63">
            <a:extLst>
              <a:ext uri="{FF2B5EF4-FFF2-40B4-BE49-F238E27FC236}">
                <a16:creationId xmlns:a16="http://schemas.microsoft.com/office/drawing/2014/main" id="{F27D0632-0BA3-7E34-0DD8-02D49E22297A}"/>
              </a:ext>
            </a:extLst>
          </p:cNvPr>
          <p:cNvSpPr/>
          <p:nvPr userDrawn="1"/>
        </p:nvSpPr>
        <p:spPr>
          <a:xfrm>
            <a:off x="760164" y="760377"/>
            <a:ext cx="6044482" cy="96632"/>
          </a:xfrm>
          <a:custGeom>
            <a:avLst/>
            <a:gdLst>
              <a:gd name="connsiteX0" fmla="*/ 0 w 1286893"/>
              <a:gd name="connsiteY0" fmla="*/ 0 h 96423"/>
              <a:gd name="connsiteX1" fmla="*/ 1286894 w 1286893"/>
              <a:gd name="connsiteY1" fmla="*/ 0 h 96423"/>
              <a:gd name="connsiteX2" fmla="*/ 1286894 w 1286893"/>
              <a:gd name="connsiteY2" fmla="*/ 96423 h 96423"/>
              <a:gd name="connsiteX3" fmla="*/ 0 w 1286893"/>
              <a:gd name="connsiteY3" fmla="*/ 96423 h 96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86893" h="96423">
                <a:moveTo>
                  <a:pt x="0" y="0"/>
                </a:moveTo>
                <a:lnTo>
                  <a:pt x="1286894" y="0"/>
                </a:lnTo>
                <a:lnTo>
                  <a:pt x="1286894" y="96423"/>
                </a:lnTo>
                <a:lnTo>
                  <a:pt x="0" y="96423"/>
                </a:lnTo>
                <a:close/>
              </a:path>
            </a:pathLst>
          </a:custGeom>
          <a:solidFill>
            <a:srgbClr val="009EE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0" name="Forme libre 9">
            <a:extLst>
              <a:ext uri="{FF2B5EF4-FFF2-40B4-BE49-F238E27FC236}">
                <a16:creationId xmlns:a16="http://schemas.microsoft.com/office/drawing/2014/main" id="{890CC80E-BA80-6CF4-B639-E7BB94813E41}"/>
              </a:ext>
            </a:extLst>
          </p:cNvPr>
          <p:cNvSpPr/>
          <p:nvPr userDrawn="1"/>
        </p:nvSpPr>
        <p:spPr>
          <a:xfrm>
            <a:off x="760164" y="4715100"/>
            <a:ext cx="8383833" cy="96632"/>
          </a:xfrm>
          <a:custGeom>
            <a:avLst/>
            <a:gdLst>
              <a:gd name="connsiteX0" fmla="*/ 0 w 1286893"/>
              <a:gd name="connsiteY0" fmla="*/ 0 h 96423"/>
              <a:gd name="connsiteX1" fmla="*/ 1286894 w 1286893"/>
              <a:gd name="connsiteY1" fmla="*/ 0 h 96423"/>
              <a:gd name="connsiteX2" fmla="*/ 1286894 w 1286893"/>
              <a:gd name="connsiteY2" fmla="*/ 96423 h 96423"/>
              <a:gd name="connsiteX3" fmla="*/ 0 w 1286893"/>
              <a:gd name="connsiteY3" fmla="*/ 96423 h 96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86893" h="96423">
                <a:moveTo>
                  <a:pt x="0" y="0"/>
                </a:moveTo>
                <a:lnTo>
                  <a:pt x="1286894" y="0"/>
                </a:lnTo>
                <a:lnTo>
                  <a:pt x="1286894" y="96423"/>
                </a:lnTo>
                <a:lnTo>
                  <a:pt x="0" y="96423"/>
                </a:lnTo>
                <a:close/>
              </a:path>
            </a:pathLst>
          </a:custGeom>
          <a:solidFill>
            <a:srgbClr val="009EE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799" y="1748886"/>
            <a:ext cx="3780000" cy="1286946"/>
          </a:xfrm>
        </p:spPr>
        <p:txBody>
          <a:bodyPr anchor="b" anchorCtr="0">
            <a:noAutofit/>
          </a:bodyPr>
          <a:lstStyle>
            <a:lvl1pPr algn="l">
              <a:lnSpc>
                <a:spcPts val="2900"/>
              </a:lnSpc>
              <a:defRPr sz="2500" b="1" spc="-10" baseline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fr-FR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1798" y="3394615"/>
            <a:ext cx="3780000" cy="559423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300" b="0" i="0" spc="-10" baseline="0">
                <a:solidFill>
                  <a:schemeClr val="bg1"/>
                </a:solidFill>
                <a:latin typeface="Noto Sans Med" panose="020B0502040504020204" pitchFamily="34" charset="0"/>
                <a:ea typeface="Noto Sans Med" panose="020B0502040504020204" pitchFamily="34" charset="0"/>
                <a:cs typeface="Noto Sans Med" panose="020B0502040504020204" pitchFamily="34" charset="0"/>
              </a:defRPr>
            </a:lvl1pPr>
            <a:lvl2pPr marL="342857" indent="0" algn="ctr">
              <a:buNone/>
              <a:defRPr sz="1500"/>
            </a:lvl2pPr>
            <a:lvl3pPr marL="685715" indent="0" algn="ctr">
              <a:buNone/>
              <a:defRPr sz="1350"/>
            </a:lvl3pPr>
            <a:lvl4pPr marL="1028573" indent="0" algn="ctr">
              <a:buNone/>
              <a:defRPr sz="1200"/>
            </a:lvl4pPr>
            <a:lvl5pPr marL="1371431" indent="0" algn="ctr">
              <a:buNone/>
              <a:defRPr sz="1200"/>
            </a:lvl5pPr>
            <a:lvl6pPr marL="1714289" indent="0" algn="ctr">
              <a:buNone/>
              <a:defRPr sz="1200"/>
            </a:lvl6pPr>
            <a:lvl7pPr marL="2057144" indent="0" algn="ctr">
              <a:buNone/>
              <a:defRPr sz="1200"/>
            </a:lvl7pPr>
            <a:lvl8pPr marL="2400002" indent="0" algn="ctr">
              <a:buNone/>
              <a:defRPr sz="1200"/>
            </a:lvl8pPr>
            <a:lvl9pPr marL="27428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5" name="Forme libre 74">
            <a:extLst>
              <a:ext uri="{FF2B5EF4-FFF2-40B4-BE49-F238E27FC236}">
                <a16:creationId xmlns:a16="http://schemas.microsoft.com/office/drawing/2014/main" id="{D20C62C1-8E69-88E5-A947-332B553C156C}"/>
              </a:ext>
            </a:extLst>
          </p:cNvPr>
          <p:cNvSpPr/>
          <p:nvPr userDrawn="1"/>
        </p:nvSpPr>
        <p:spPr>
          <a:xfrm rot="16200000">
            <a:off x="-1163412" y="2724590"/>
            <a:ext cx="3943786" cy="96632"/>
          </a:xfrm>
          <a:custGeom>
            <a:avLst/>
            <a:gdLst>
              <a:gd name="connsiteX0" fmla="*/ 0 w 1286893"/>
              <a:gd name="connsiteY0" fmla="*/ 0 h 96423"/>
              <a:gd name="connsiteX1" fmla="*/ 1286894 w 1286893"/>
              <a:gd name="connsiteY1" fmla="*/ 0 h 96423"/>
              <a:gd name="connsiteX2" fmla="*/ 1286894 w 1286893"/>
              <a:gd name="connsiteY2" fmla="*/ 96423 h 96423"/>
              <a:gd name="connsiteX3" fmla="*/ 0 w 1286893"/>
              <a:gd name="connsiteY3" fmla="*/ 96423 h 96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86893" h="96423">
                <a:moveTo>
                  <a:pt x="0" y="0"/>
                </a:moveTo>
                <a:lnTo>
                  <a:pt x="1286894" y="0"/>
                </a:lnTo>
                <a:lnTo>
                  <a:pt x="1286894" y="96423"/>
                </a:lnTo>
                <a:lnTo>
                  <a:pt x="0" y="96423"/>
                </a:lnTo>
                <a:close/>
              </a:path>
            </a:pathLst>
          </a:custGeom>
          <a:solidFill>
            <a:srgbClr val="009EE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78" name="Espace réservé du texte 81">
            <a:extLst>
              <a:ext uri="{FF2B5EF4-FFF2-40B4-BE49-F238E27FC236}">
                <a16:creationId xmlns:a16="http://schemas.microsoft.com/office/drawing/2014/main" id="{CEB533F0-4A85-F96D-8736-FC987D221A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023595" y="4286490"/>
            <a:ext cx="3026141" cy="149241"/>
          </a:xfrm>
        </p:spPr>
        <p:txBody>
          <a:bodyPr anchor="b"/>
          <a:lstStyle>
            <a:lvl1pPr marL="6351" indent="0">
              <a:buNone/>
              <a:defRPr sz="700" baseline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en-GB" dirty="0"/>
              <a:t>• </a:t>
            </a:r>
            <a:r>
              <a:rPr lang="fr-FR" dirty="0">
                <a:effectLst/>
                <a:latin typeface="Noto Sans" panose="020B0502040504020204" pitchFamily="34" charset="0"/>
              </a:rPr>
              <a:t>Document for </a:t>
            </a:r>
            <a:r>
              <a:rPr lang="fr-FR" dirty="0" err="1">
                <a:effectLst/>
                <a:latin typeface="Noto Sans" panose="020B0502040504020204" pitchFamily="34" charset="0"/>
              </a:rPr>
              <a:t>professional</a:t>
            </a:r>
            <a:r>
              <a:rPr lang="fr-FR" dirty="0">
                <a:effectLst/>
                <a:latin typeface="Noto Sans" panose="020B0502040504020204" pitchFamily="34" charset="0"/>
              </a:rPr>
              <a:t> </a:t>
            </a:r>
            <a:r>
              <a:rPr lang="fr-FR" dirty="0" err="1">
                <a:effectLst/>
                <a:latin typeface="Noto Sans" panose="020B0502040504020204" pitchFamily="34" charset="0"/>
              </a:rPr>
              <a:t>investors</a:t>
            </a:r>
            <a:r>
              <a:rPr lang="fr-FR" dirty="0">
                <a:effectLst/>
                <a:latin typeface="Noto Sans" panose="020B0502040504020204" pitchFamily="34" charset="0"/>
              </a:rPr>
              <a:t> </a:t>
            </a:r>
            <a:r>
              <a:rPr lang="fr-FR" dirty="0" err="1">
                <a:effectLst/>
                <a:latin typeface="Noto Sans" panose="020B0502040504020204" pitchFamily="34" charset="0"/>
              </a:rPr>
              <a:t>only</a:t>
            </a:r>
            <a:endParaRPr lang="en-GB" dirty="0"/>
          </a:p>
        </p:txBody>
      </p:sp>
      <p:sp>
        <p:nvSpPr>
          <p:cNvPr id="7" name="Forme libre 6">
            <a:extLst>
              <a:ext uri="{FF2B5EF4-FFF2-40B4-BE49-F238E27FC236}">
                <a16:creationId xmlns:a16="http://schemas.microsoft.com/office/drawing/2014/main" id="{FF49AF96-EB84-99CE-22EA-A99929C53BC8}"/>
              </a:ext>
            </a:extLst>
          </p:cNvPr>
          <p:cNvSpPr/>
          <p:nvPr userDrawn="1"/>
        </p:nvSpPr>
        <p:spPr>
          <a:xfrm>
            <a:off x="8484111" y="760264"/>
            <a:ext cx="659890" cy="97200"/>
          </a:xfrm>
          <a:custGeom>
            <a:avLst/>
            <a:gdLst>
              <a:gd name="connsiteX0" fmla="*/ 0 w 1286893"/>
              <a:gd name="connsiteY0" fmla="*/ 0 h 96631"/>
              <a:gd name="connsiteX1" fmla="*/ 1286894 w 1286893"/>
              <a:gd name="connsiteY1" fmla="*/ 0 h 96631"/>
              <a:gd name="connsiteX2" fmla="*/ 1286894 w 1286893"/>
              <a:gd name="connsiteY2" fmla="*/ 96632 h 96631"/>
              <a:gd name="connsiteX3" fmla="*/ 0 w 1286893"/>
              <a:gd name="connsiteY3" fmla="*/ 96632 h 96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86893" h="96631">
                <a:moveTo>
                  <a:pt x="0" y="0"/>
                </a:moveTo>
                <a:lnTo>
                  <a:pt x="1286894" y="0"/>
                </a:lnTo>
                <a:lnTo>
                  <a:pt x="1286894" y="96632"/>
                </a:lnTo>
                <a:lnTo>
                  <a:pt x="0" y="96632"/>
                </a:lnTo>
                <a:close/>
              </a:path>
            </a:pathLst>
          </a:custGeom>
          <a:solidFill>
            <a:srgbClr val="019EE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77" name="Espace réservé du texte 81">
            <a:extLst>
              <a:ext uri="{FF2B5EF4-FFF2-40B4-BE49-F238E27FC236}">
                <a16:creationId xmlns:a16="http://schemas.microsoft.com/office/drawing/2014/main" id="{A71CEE15-A6C7-0712-282F-A785EC1E03B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81799" y="4177566"/>
            <a:ext cx="741794" cy="258165"/>
          </a:xfrm>
        </p:spPr>
        <p:txBody>
          <a:bodyPr anchor="b"/>
          <a:lstStyle>
            <a:lvl1pPr marL="6351" indent="0">
              <a:buNone/>
              <a:defRPr sz="700" baseline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 dirty="0"/>
              <a:t>MONTH 2024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4338C511-9884-8CFC-D291-656E2284D004}"/>
              </a:ext>
            </a:extLst>
          </p:cNvPr>
          <p:cNvSpPr>
            <a:spLocks noChangeAspect="1"/>
          </p:cNvSpPr>
          <p:nvPr userDrawn="1"/>
        </p:nvSpPr>
        <p:spPr>
          <a:xfrm>
            <a:off x="-3" y="-1"/>
            <a:ext cx="428400" cy="42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7BD4B1EA-B810-F1B6-BD5F-87E518D49A1B}"/>
              </a:ext>
            </a:extLst>
          </p:cNvPr>
          <p:cNvSpPr>
            <a:spLocks noChangeAspect="1"/>
          </p:cNvSpPr>
          <p:nvPr userDrawn="1"/>
        </p:nvSpPr>
        <p:spPr>
          <a:xfrm>
            <a:off x="428397" y="-1"/>
            <a:ext cx="428400" cy="42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448F566D-0CD2-8ED0-5A64-E4AEA1536A41}"/>
              </a:ext>
            </a:extLst>
          </p:cNvPr>
          <p:cNvSpPr>
            <a:spLocks noChangeAspect="1"/>
          </p:cNvSpPr>
          <p:nvPr userDrawn="1"/>
        </p:nvSpPr>
        <p:spPr>
          <a:xfrm>
            <a:off x="853399" y="-1"/>
            <a:ext cx="428400" cy="42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AC98F8E-C622-6DB7-163C-066B74BCE35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921061" y="284400"/>
            <a:ext cx="1443600" cy="782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349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-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 16">
            <a:extLst>
              <a:ext uri="{FF2B5EF4-FFF2-40B4-BE49-F238E27FC236}">
                <a16:creationId xmlns:a16="http://schemas.microsoft.com/office/drawing/2014/main" id="{2D9C3C22-E1F9-66F7-0BBE-2901FF18D331}"/>
              </a:ext>
            </a:extLst>
          </p:cNvPr>
          <p:cNvPicPr>
            <a:picLocks/>
          </p:cNvPicPr>
          <p:nvPr userDrawn="1"/>
        </p:nvPicPr>
        <p:blipFill>
          <a:blip r:embed="rId2"/>
          <a:srcRect/>
          <a:stretch/>
        </p:blipFill>
        <p:spPr>
          <a:xfrm>
            <a:off x="-1" y="0"/>
            <a:ext cx="9144000" cy="5143500"/>
          </a:xfrm>
          <a:prstGeom prst="rect">
            <a:avLst/>
          </a:prstGeom>
        </p:spPr>
      </p:pic>
      <p:sp>
        <p:nvSpPr>
          <p:cNvPr id="10" name="Forme libre 9">
            <a:extLst>
              <a:ext uri="{FF2B5EF4-FFF2-40B4-BE49-F238E27FC236}">
                <a16:creationId xmlns:a16="http://schemas.microsoft.com/office/drawing/2014/main" id="{890CC80E-BA80-6CF4-B639-E7BB94813E41}"/>
              </a:ext>
            </a:extLst>
          </p:cNvPr>
          <p:cNvSpPr/>
          <p:nvPr userDrawn="1"/>
        </p:nvSpPr>
        <p:spPr>
          <a:xfrm>
            <a:off x="331767" y="4715100"/>
            <a:ext cx="8440758" cy="96632"/>
          </a:xfrm>
          <a:custGeom>
            <a:avLst/>
            <a:gdLst>
              <a:gd name="connsiteX0" fmla="*/ 0 w 1286893"/>
              <a:gd name="connsiteY0" fmla="*/ 0 h 96423"/>
              <a:gd name="connsiteX1" fmla="*/ 1286894 w 1286893"/>
              <a:gd name="connsiteY1" fmla="*/ 0 h 96423"/>
              <a:gd name="connsiteX2" fmla="*/ 1286894 w 1286893"/>
              <a:gd name="connsiteY2" fmla="*/ 96423 h 96423"/>
              <a:gd name="connsiteX3" fmla="*/ 0 w 1286893"/>
              <a:gd name="connsiteY3" fmla="*/ 96423 h 96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86893" h="96423">
                <a:moveTo>
                  <a:pt x="0" y="0"/>
                </a:moveTo>
                <a:lnTo>
                  <a:pt x="1286894" y="0"/>
                </a:lnTo>
                <a:lnTo>
                  <a:pt x="1286894" y="96423"/>
                </a:lnTo>
                <a:lnTo>
                  <a:pt x="0" y="96423"/>
                </a:lnTo>
                <a:close/>
              </a:path>
            </a:pathLst>
          </a:custGeom>
          <a:solidFill>
            <a:srgbClr val="009EE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70" name="Forme libre 69">
            <a:extLst>
              <a:ext uri="{FF2B5EF4-FFF2-40B4-BE49-F238E27FC236}">
                <a16:creationId xmlns:a16="http://schemas.microsoft.com/office/drawing/2014/main" id="{D62011F9-E62E-CF7B-CDC0-8CE01CA7E752}"/>
              </a:ext>
            </a:extLst>
          </p:cNvPr>
          <p:cNvSpPr/>
          <p:nvPr userDrawn="1"/>
        </p:nvSpPr>
        <p:spPr>
          <a:xfrm>
            <a:off x="331767" y="760377"/>
            <a:ext cx="6047433" cy="96632"/>
          </a:xfrm>
          <a:custGeom>
            <a:avLst/>
            <a:gdLst>
              <a:gd name="connsiteX0" fmla="*/ 0 w 1286893"/>
              <a:gd name="connsiteY0" fmla="*/ 0 h 96423"/>
              <a:gd name="connsiteX1" fmla="*/ 1286894 w 1286893"/>
              <a:gd name="connsiteY1" fmla="*/ 0 h 96423"/>
              <a:gd name="connsiteX2" fmla="*/ 1286894 w 1286893"/>
              <a:gd name="connsiteY2" fmla="*/ 96423 h 96423"/>
              <a:gd name="connsiteX3" fmla="*/ 0 w 1286893"/>
              <a:gd name="connsiteY3" fmla="*/ 96423 h 96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86893" h="96423">
                <a:moveTo>
                  <a:pt x="0" y="0"/>
                </a:moveTo>
                <a:lnTo>
                  <a:pt x="1286894" y="0"/>
                </a:lnTo>
                <a:lnTo>
                  <a:pt x="1286894" y="96423"/>
                </a:lnTo>
                <a:lnTo>
                  <a:pt x="0" y="96423"/>
                </a:lnTo>
                <a:close/>
              </a:path>
            </a:pathLst>
          </a:custGeom>
          <a:solidFill>
            <a:srgbClr val="009EE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75" name="Forme libre 74">
            <a:extLst>
              <a:ext uri="{FF2B5EF4-FFF2-40B4-BE49-F238E27FC236}">
                <a16:creationId xmlns:a16="http://schemas.microsoft.com/office/drawing/2014/main" id="{D20C62C1-8E69-88E5-A947-332B553C156C}"/>
              </a:ext>
            </a:extLst>
          </p:cNvPr>
          <p:cNvSpPr/>
          <p:nvPr userDrawn="1"/>
        </p:nvSpPr>
        <p:spPr>
          <a:xfrm rot="16200000">
            <a:off x="-1591809" y="2724590"/>
            <a:ext cx="3943786" cy="96632"/>
          </a:xfrm>
          <a:custGeom>
            <a:avLst/>
            <a:gdLst>
              <a:gd name="connsiteX0" fmla="*/ 0 w 1286893"/>
              <a:gd name="connsiteY0" fmla="*/ 0 h 96423"/>
              <a:gd name="connsiteX1" fmla="*/ 1286894 w 1286893"/>
              <a:gd name="connsiteY1" fmla="*/ 0 h 96423"/>
              <a:gd name="connsiteX2" fmla="*/ 1286894 w 1286893"/>
              <a:gd name="connsiteY2" fmla="*/ 96423 h 96423"/>
              <a:gd name="connsiteX3" fmla="*/ 0 w 1286893"/>
              <a:gd name="connsiteY3" fmla="*/ 96423 h 96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86893" h="96423">
                <a:moveTo>
                  <a:pt x="0" y="0"/>
                </a:moveTo>
                <a:lnTo>
                  <a:pt x="1286894" y="0"/>
                </a:lnTo>
                <a:lnTo>
                  <a:pt x="1286894" y="96423"/>
                </a:lnTo>
                <a:lnTo>
                  <a:pt x="0" y="96423"/>
                </a:lnTo>
                <a:close/>
              </a:path>
            </a:pathLst>
          </a:custGeom>
          <a:solidFill>
            <a:srgbClr val="009EE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E032D6A9-38F9-AF23-1034-C2F4CF806540}"/>
              </a:ext>
            </a:extLst>
          </p:cNvPr>
          <p:cNvPicPr>
            <a:picLocks/>
          </p:cNvPicPr>
          <p:nvPr userDrawn="1"/>
        </p:nvPicPr>
        <p:blipFill>
          <a:blip r:embed="rId3"/>
          <a:srcRect/>
          <a:stretch/>
        </p:blipFill>
        <p:spPr>
          <a:xfrm>
            <a:off x="0" y="4260"/>
            <a:ext cx="9144000" cy="513588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44640" y="1380197"/>
            <a:ext cx="3960000" cy="1014522"/>
          </a:xfrm>
        </p:spPr>
        <p:txBody>
          <a:bodyPr anchor="b" anchorCtr="0">
            <a:noAutofit/>
          </a:bodyPr>
          <a:lstStyle>
            <a:lvl1pPr algn="l">
              <a:lnSpc>
                <a:spcPts val="2900"/>
              </a:lnSpc>
              <a:defRPr sz="2500" b="1" spc="-10" baseline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fr-FR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44640" y="2539255"/>
            <a:ext cx="3960000" cy="378197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300" b="0" i="0" spc="-10" baseline="0">
                <a:solidFill>
                  <a:schemeClr val="bg1"/>
                </a:solidFill>
                <a:latin typeface="Noto Sans Med" panose="020B0502040504020204" pitchFamily="34" charset="0"/>
                <a:ea typeface="Noto Sans Med" panose="020B0502040504020204" pitchFamily="34" charset="0"/>
                <a:cs typeface="Noto Sans Med" panose="020B0502040504020204" pitchFamily="34" charset="0"/>
              </a:defRPr>
            </a:lvl1pPr>
            <a:lvl2pPr marL="342857" indent="0" algn="ctr">
              <a:buNone/>
              <a:defRPr sz="1500"/>
            </a:lvl2pPr>
            <a:lvl3pPr marL="685715" indent="0" algn="ctr">
              <a:buNone/>
              <a:defRPr sz="1350"/>
            </a:lvl3pPr>
            <a:lvl4pPr marL="1028573" indent="0" algn="ctr">
              <a:buNone/>
              <a:defRPr sz="1200"/>
            </a:lvl4pPr>
            <a:lvl5pPr marL="1371431" indent="0" algn="ctr">
              <a:buNone/>
              <a:defRPr sz="1200"/>
            </a:lvl5pPr>
            <a:lvl6pPr marL="1714289" indent="0" algn="ctr">
              <a:buNone/>
              <a:defRPr sz="1200"/>
            </a:lvl6pPr>
            <a:lvl7pPr marL="2057144" indent="0" algn="ctr">
              <a:buNone/>
              <a:defRPr sz="1200"/>
            </a:lvl7pPr>
            <a:lvl8pPr marL="2400002" indent="0" algn="ctr">
              <a:buNone/>
              <a:defRPr sz="1200"/>
            </a:lvl8pPr>
            <a:lvl9pPr marL="27428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Forme libre 6">
            <a:extLst>
              <a:ext uri="{FF2B5EF4-FFF2-40B4-BE49-F238E27FC236}">
                <a16:creationId xmlns:a16="http://schemas.microsoft.com/office/drawing/2014/main" id="{FF49AF96-EB84-99CE-22EA-A99929C53BC8}"/>
              </a:ext>
            </a:extLst>
          </p:cNvPr>
          <p:cNvSpPr/>
          <p:nvPr userDrawn="1"/>
        </p:nvSpPr>
        <p:spPr>
          <a:xfrm>
            <a:off x="8059928" y="760264"/>
            <a:ext cx="712597" cy="97200"/>
          </a:xfrm>
          <a:custGeom>
            <a:avLst/>
            <a:gdLst>
              <a:gd name="connsiteX0" fmla="*/ 0 w 1286893"/>
              <a:gd name="connsiteY0" fmla="*/ 0 h 96631"/>
              <a:gd name="connsiteX1" fmla="*/ 1286894 w 1286893"/>
              <a:gd name="connsiteY1" fmla="*/ 0 h 96631"/>
              <a:gd name="connsiteX2" fmla="*/ 1286894 w 1286893"/>
              <a:gd name="connsiteY2" fmla="*/ 96632 h 96631"/>
              <a:gd name="connsiteX3" fmla="*/ 0 w 1286893"/>
              <a:gd name="connsiteY3" fmla="*/ 96632 h 96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86893" h="96631">
                <a:moveTo>
                  <a:pt x="0" y="0"/>
                </a:moveTo>
                <a:lnTo>
                  <a:pt x="1286894" y="0"/>
                </a:lnTo>
                <a:lnTo>
                  <a:pt x="1286894" y="96632"/>
                </a:lnTo>
                <a:lnTo>
                  <a:pt x="0" y="96632"/>
                </a:lnTo>
                <a:close/>
              </a:path>
            </a:pathLst>
          </a:custGeom>
          <a:solidFill>
            <a:srgbClr val="019EE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1" name="Forme libre 10">
            <a:extLst>
              <a:ext uri="{FF2B5EF4-FFF2-40B4-BE49-F238E27FC236}">
                <a16:creationId xmlns:a16="http://schemas.microsoft.com/office/drawing/2014/main" id="{D86FC8AD-B83A-D1BC-C2DE-F09474A82F7F}"/>
              </a:ext>
            </a:extLst>
          </p:cNvPr>
          <p:cNvSpPr/>
          <p:nvPr userDrawn="1"/>
        </p:nvSpPr>
        <p:spPr>
          <a:xfrm rot="16200000">
            <a:off x="6738065" y="2737682"/>
            <a:ext cx="4051467" cy="96632"/>
          </a:xfrm>
          <a:custGeom>
            <a:avLst/>
            <a:gdLst>
              <a:gd name="connsiteX0" fmla="*/ 0 w 1286893"/>
              <a:gd name="connsiteY0" fmla="*/ 0 h 96423"/>
              <a:gd name="connsiteX1" fmla="*/ 1286894 w 1286893"/>
              <a:gd name="connsiteY1" fmla="*/ 0 h 96423"/>
              <a:gd name="connsiteX2" fmla="*/ 1286894 w 1286893"/>
              <a:gd name="connsiteY2" fmla="*/ 96423 h 96423"/>
              <a:gd name="connsiteX3" fmla="*/ 0 w 1286893"/>
              <a:gd name="connsiteY3" fmla="*/ 96423 h 96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86893" h="96423">
                <a:moveTo>
                  <a:pt x="0" y="0"/>
                </a:moveTo>
                <a:lnTo>
                  <a:pt x="1286894" y="0"/>
                </a:lnTo>
                <a:lnTo>
                  <a:pt x="1286894" y="96423"/>
                </a:lnTo>
                <a:lnTo>
                  <a:pt x="0" y="96423"/>
                </a:lnTo>
                <a:close/>
              </a:path>
            </a:pathLst>
          </a:custGeom>
          <a:solidFill>
            <a:srgbClr val="009EE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4" name="Espace réservé du texte 81">
            <a:extLst>
              <a:ext uri="{FF2B5EF4-FFF2-40B4-BE49-F238E27FC236}">
                <a16:creationId xmlns:a16="http://schemas.microsoft.com/office/drawing/2014/main" id="{C0267CE8-86F1-4DD1-F836-7EA656218E7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44640" y="4217977"/>
            <a:ext cx="3026141" cy="149241"/>
          </a:xfrm>
        </p:spPr>
        <p:txBody>
          <a:bodyPr anchor="b"/>
          <a:lstStyle>
            <a:lvl1pPr marL="6351" indent="0">
              <a:buNone/>
              <a:defRPr sz="700" baseline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en-GB" dirty="0"/>
              <a:t>• </a:t>
            </a:r>
            <a:r>
              <a:rPr lang="fr-FR" dirty="0">
                <a:effectLst/>
                <a:latin typeface="Noto Sans" panose="020B0502040504020204" pitchFamily="34" charset="0"/>
              </a:rPr>
              <a:t>Document for </a:t>
            </a:r>
            <a:r>
              <a:rPr lang="fr-FR" dirty="0" err="1">
                <a:effectLst/>
                <a:latin typeface="Noto Sans" panose="020B0502040504020204" pitchFamily="34" charset="0"/>
              </a:rPr>
              <a:t>professional</a:t>
            </a:r>
            <a:r>
              <a:rPr lang="fr-FR" dirty="0">
                <a:effectLst/>
                <a:latin typeface="Noto Sans" panose="020B0502040504020204" pitchFamily="34" charset="0"/>
              </a:rPr>
              <a:t> </a:t>
            </a:r>
            <a:r>
              <a:rPr lang="fr-FR" dirty="0" err="1">
                <a:effectLst/>
                <a:latin typeface="Noto Sans" panose="020B0502040504020204" pitchFamily="34" charset="0"/>
              </a:rPr>
              <a:t>investors</a:t>
            </a:r>
            <a:r>
              <a:rPr lang="fr-FR" dirty="0">
                <a:effectLst/>
                <a:latin typeface="Noto Sans" panose="020B0502040504020204" pitchFamily="34" charset="0"/>
              </a:rPr>
              <a:t> </a:t>
            </a:r>
            <a:r>
              <a:rPr lang="fr-FR" dirty="0" err="1">
                <a:effectLst/>
                <a:latin typeface="Noto Sans" panose="020B0502040504020204" pitchFamily="34" charset="0"/>
              </a:rPr>
              <a:t>only</a:t>
            </a:r>
            <a:endParaRPr lang="en-GB" dirty="0"/>
          </a:p>
        </p:txBody>
      </p:sp>
      <p:sp>
        <p:nvSpPr>
          <p:cNvPr id="5" name="Espace réservé du texte 81">
            <a:extLst>
              <a:ext uri="{FF2B5EF4-FFF2-40B4-BE49-F238E27FC236}">
                <a16:creationId xmlns:a16="http://schemas.microsoft.com/office/drawing/2014/main" id="{88387400-4586-2124-2906-E420FAC8ADC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44640" y="2994251"/>
            <a:ext cx="1042593" cy="258165"/>
          </a:xfrm>
        </p:spPr>
        <p:txBody>
          <a:bodyPr anchor="t" anchorCtr="0"/>
          <a:lstStyle>
            <a:lvl1pPr marL="6351" indent="0">
              <a:buNone/>
              <a:defRPr sz="700" baseline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 dirty="0"/>
              <a:t>MONTH 2024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F82804DD-DD1B-2F3D-5F63-FBF13AD3228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6496199" y="284400"/>
            <a:ext cx="1443600" cy="782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603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-and-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652" y="428400"/>
            <a:ext cx="8287200" cy="2906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48" y="1119600"/>
            <a:ext cx="8287200" cy="2997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Fixed Income Solution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A55B2-71C7-D142-9718-47F3DB26F441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3"/>
          </p:nvPr>
        </p:nvSpPr>
        <p:spPr>
          <a:xfrm>
            <a:off x="428648" y="759018"/>
            <a:ext cx="8287200" cy="228362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rgbClr val="0073A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4"/>
          </p:nvPr>
        </p:nvSpPr>
        <p:spPr>
          <a:xfrm>
            <a:off x="428399" y="4095900"/>
            <a:ext cx="8287200" cy="459000"/>
          </a:xfrm>
        </p:spPr>
        <p:txBody>
          <a:bodyPr anchor="b">
            <a:noAutofit/>
          </a:bodyPr>
          <a:lstStyle>
            <a:lvl1pPr marL="6351" indent="0" algn="just">
              <a:buNone/>
              <a:defRPr sz="700">
                <a:solidFill>
                  <a:srgbClr val="00548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10086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399" y="428400"/>
            <a:ext cx="8287200" cy="2906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Fixed Income Solution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A55B2-71C7-D142-9718-47F3DB26F441}" type="slidenum">
              <a:rPr lang="en-GB" smtClean="0"/>
              <a:t>‹#›</a:t>
            </a:fld>
            <a:endParaRPr lang="en-GB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3"/>
          </p:nvPr>
        </p:nvSpPr>
        <p:spPr>
          <a:xfrm>
            <a:off x="428400" y="759018"/>
            <a:ext cx="8287200" cy="228362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rgbClr val="0073A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90514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u texte 10"/>
          <p:cNvSpPr>
            <a:spLocks noGrp="1"/>
          </p:cNvSpPr>
          <p:nvPr>
            <p:ph type="body" sz="quarter" idx="13"/>
          </p:nvPr>
        </p:nvSpPr>
        <p:spPr>
          <a:xfrm>
            <a:off x="900000" y="1148400"/>
            <a:ext cx="7772089" cy="1084983"/>
          </a:xfrm>
        </p:spPr>
        <p:txBody>
          <a:bodyPr>
            <a:noAutofit/>
          </a:bodyPr>
          <a:lstStyle>
            <a:lvl1pPr marL="0" indent="0">
              <a:buNone/>
              <a:defRPr sz="7200">
                <a:solidFill>
                  <a:srgbClr val="00B4E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627EB70-D448-DE46-90B8-D45BE7C8F1B0}"/>
              </a:ext>
            </a:extLst>
          </p:cNvPr>
          <p:cNvSpPr/>
          <p:nvPr userDrawn="1"/>
        </p:nvSpPr>
        <p:spPr>
          <a:xfrm>
            <a:off x="1" y="2408400"/>
            <a:ext cx="9144000" cy="1922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7500" rtlCol="0" anchor="ctr"/>
          <a:lstStyle/>
          <a:p>
            <a:pPr algn="ctr"/>
            <a:endParaRPr lang="fr-FR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8800" y="2624400"/>
            <a:ext cx="7772089" cy="376743"/>
          </a:xfrm>
        </p:spPr>
        <p:txBody>
          <a:bodyPr anchor="t" anchorCtr="0">
            <a:noAutofit/>
          </a:bodyPr>
          <a:lstStyle>
            <a:lvl1pPr>
              <a:defRPr sz="29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8800" y="3034800"/>
            <a:ext cx="7772089" cy="999141"/>
          </a:xfrm>
        </p:spPr>
        <p:txBody>
          <a:bodyPr>
            <a:normAutofit/>
          </a:bodyPr>
          <a:lstStyle>
            <a:lvl1pPr marL="0" indent="0">
              <a:buNone/>
              <a:defRPr sz="2100" spc="80" baseline="0">
                <a:solidFill>
                  <a:schemeClr val="tx1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5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1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Fixed Income Solution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A55B2-71C7-D142-9718-47F3DB26F441}" type="slidenum">
              <a:rPr lang="en-GB" smtClean="0"/>
              <a:t>‹#›</a:t>
            </a:fld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428400" y="4671000"/>
            <a:ext cx="360000" cy="27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endParaRPr lang="fr-FR" sz="1800"/>
          </a:p>
        </p:txBody>
      </p:sp>
      <p:sp>
        <p:nvSpPr>
          <p:cNvPr id="15" name="Espace réservé du texte 14"/>
          <p:cNvSpPr>
            <a:spLocks noGrp="1"/>
          </p:cNvSpPr>
          <p:nvPr>
            <p:ph type="body" sz="quarter" idx="14"/>
          </p:nvPr>
        </p:nvSpPr>
        <p:spPr>
          <a:xfrm>
            <a:off x="928800" y="3981600"/>
            <a:ext cx="7772089" cy="218870"/>
          </a:xfrm>
        </p:spPr>
        <p:txBody>
          <a:bodyPr>
            <a:normAutofit/>
          </a:bodyPr>
          <a:lstStyle>
            <a:lvl1pPr marL="0" indent="0">
              <a:buNone/>
              <a:defRPr sz="1100" spc="51" baseline="0">
                <a:solidFill>
                  <a:srgbClr val="00548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2" name="Connecteur droit 8">
            <a:extLst>
              <a:ext uri="{FF2B5EF4-FFF2-40B4-BE49-F238E27FC236}">
                <a16:creationId xmlns:a16="http://schemas.microsoft.com/office/drawing/2014/main" id="{373BB06B-E64D-7E43-B3D3-0BCA63FAD594}"/>
              </a:ext>
            </a:extLst>
          </p:cNvPr>
          <p:cNvCxnSpPr/>
          <p:nvPr userDrawn="1"/>
        </p:nvCxnSpPr>
        <p:spPr>
          <a:xfrm>
            <a:off x="607686" y="4856400"/>
            <a:ext cx="0" cy="882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que 65">
            <a:extLst>
              <a:ext uri="{FF2B5EF4-FFF2-40B4-BE49-F238E27FC236}">
                <a16:creationId xmlns:a16="http://schemas.microsoft.com/office/drawing/2014/main" id="{3D920BCD-A9EB-616C-316D-6E741412102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56324" y="4588072"/>
            <a:ext cx="759600" cy="335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430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567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1C33DA7-2BBD-3B4B-9C40-8699CB5B8861}"/>
              </a:ext>
            </a:extLst>
          </p:cNvPr>
          <p:cNvSpPr/>
          <p:nvPr userDrawn="1"/>
        </p:nvSpPr>
        <p:spPr>
          <a:xfrm>
            <a:off x="1" y="1390650"/>
            <a:ext cx="9144000" cy="29617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7500" rtlCol="0" anchor="ctr"/>
          <a:lstStyle/>
          <a:p>
            <a:pPr algn="ctr"/>
            <a:endParaRPr lang="fr-FR" sz="135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00000" y="813600"/>
            <a:ext cx="7775998" cy="349671"/>
          </a:xfrm>
        </p:spPr>
        <p:txBody>
          <a:bodyPr>
            <a:noAutofit/>
          </a:bodyPr>
          <a:lstStyle>
            <a:lvl1pPr>
              <a:defRPr sz="3000" b="0">
                <a:solidFill>
                  <a:srgbClr val="00B4E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Fixed Income Solution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DA55B2-71C7-D142-9718-47F3DB26F441}" type="slidenum">
              <a:rPr lang="en-GB" smtClean="0"/>
              <a:t>‹#›</a:t>
            </a:fld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428400" y="4671000"/>
            <a:ext cx="360000" cy="27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endParaRPr lang="fr-FR" sz="1800"/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12"/>
          </p:nvPr>
        </p:nvSpPr>
        <p:spPr>
          <a:xfrm>
            <a:off x="900000" y="1576800"/>
            <a:ext cx="7703884" cy="2589301"/>
          </a:xfrm>
        </p:spPr>
        <p:txBody>
          <a:bodyPr/>
          <a:lstStyle>
            <a:lvl1pPr marL="269862" indent="-263513">
              <a:spcBef>
                <a:spcPts val="1200"/>
              </a:spcBef>
              <a:buClr>
                <a:schemeClr val="accent1"/>
              </a:buClr>
              <a:buSzPct val="100000"/>
              <a:buFont typeface="+mj-lt"/>
              <a:buAutoNum type="arabicPeriod"/>
              <a:tabLst/>
              <a:defRPr sz="1300" b="1">
                <a:solidFill>
                  <a:schemeClr val="tx1"/>
                </a:solidFill>
              </a:defRPr>
            </a:lvl1pPr>
            <a:lvl2pPr marL="536548" indent="-133344">
              <a:spcBef>
                <a:spcPts val="800"/>
              </a:spcBef>
              <a:tabLst/>
              <a:defRPr sz="1100"/>
            </a:lvl2pPr>
            <a:lvl3pPr marL="269986" indent="-265101">
              <a:spcBef>
                <a:spcPts val="1200"/>
              </a:spcBef>
              <a:buClr>
                <a:schemeClr val="tx2">
                  <a:lumMod val="60000"/>
                  <a:lumOff val="40000"/>
                </a:schemeClr>
              </a:buClr>
              <a:buFont typeface="+mj-lt"/>
              <a:buAutoNum type="arabicPeriod"/>
              <a:tabLst/>
              <a:defRPr sz="1600" b="1">
                <a:solidFill>
                  <a:schemeClr val="tx2">
                    <a:lumMod val="60000"/>
                    <a:lumOff val="40000"/>
                  </a:schemeClr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cxnSp>
        <p:nvCxnSpPr>
          <p:cNvPr id="10" name="Connecteur droit 8">
            <a:extLst>
              <a:ext uri="{FF2B5EF4-FFF2-40B4-BE49-F238E27FC236}">
                <a16:creationId xmlns:a16="http://schemas.microsoft.com/office/drawing/2014/main" id="{B9558D40-008F-FF4A-AEC7-37BA545CF479}"/>
              </a:ext>
            </a:extLst>
          </p:cNvPr>
          <p:cNvCxnSpPr/>
          <p:nvPr userDrawn="1"/>
        </p:nvCxnSpPr>
        <p:spPr>
          <a:xfrm>
            <a:off x="607686" y="4856400"/>
            <a:ext cx="0" cy="882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Graphique 65">
            <a:extLst>
              <a:ext uri="{FF2B5EF4-FFF2-40B4-BE49-F238E27FC236}">
                <a16:creationId xmlns:a16="http://schemas.microsoft.com/office/drawing/2014/main" id="{57C8E3F8-B86D-740E-039B-9C8DBEBA4B5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56324" y="4588072"/>
            <a:ext cx="759600" cy="335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9176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567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399" y="428400"/>
            <a:ext cx="8287200" cy="291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8399" y="1119600"/>
            <a:ext cx="4068000" cy="293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7598" y="1119600"/>
            <a:ext cx="4068000" cy="293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Fixed Income Solution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A55B2-71C7-D142-9718-47F3DB26F441}" type="slidenum">
              <a:rPr lang="en-GB" smtClean="0"/>
              <a:t>‹#›</a:t>
            </a:fld>
            <a:endParaRPr lang="en-GB"/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13"/>
          </p:nvPr>
        </p:nvSpPr>
        <p:spPr>
          <a:xfrm>
            <a:off x="428398" y="759018"/>
            <a:ext cx="8287200" cy="2295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rgbClr val="0073A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4"/>
          </p:nvPr>
        </p:nvSpPr>
        <p:spPr>
          <a:xfrm>
            <a:off x="428398" y="4095752"/>
            <a:ext cx="8287200" cy="466725"/>
          </a:xfrm>
        </p:spPr>
        <p:txBody>
          <a:bodyPr anchor="b"/>
          <a:lstStyle>
            <a:lvl1pPr marL="6351" indent="0" algn="just">
              <a:buNone/>
              <a:defRPr sz="700">
                <a:solidFill>
                  <a:srgbClr val="00548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968281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sclaim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428400" y="4668300"/>
            <a:ext cx="360000" cy="27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endParaRPr lang="fr-FR" sz="180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Fixed Income Solution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DA55B2-71C7-D142-9718-47F3DB26F441}" type="slidenum">
              <a:rPr lang="en-GB" smtClean="0"/>
              <a:t>‹#›</a:t>
            </a:fld>
            <a:endParaRPr lang="en-GB"/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2"/>
          </p:nvPr>
        </p:nvSpPr>
        <p:spPr>
          <a:xfrm>
            <a:off x="428400" y="1026042"/>
            <a:ext cx="8287199" cy="3346984"/>
          </a:xfrm>
        </p:spPr>
        <p:txBody>
          <a:bodyPr anchor="b"/>
          <a:lstStyle>
            <a:lvl1pPr marL="177792" indent="-171442">
              <a:tabLst/>
              <a:defRPr sz="900">
                <a:solidFill>
                  <a:schemeClr val="accent1"/>
                </a:solidFill>
              </a:defRPr>
            </a:lvl1pPr>
            <a:lvl2pPr marL="177792" indent="0" algn="just">
              <a:buNone/>
              <a:tabLst/>
              <a:defRPr sz="700">
                <a:solidFill>
                  <a:srgbClr val="005483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cxnSp>
        <p:nvCxnSpPr>
          <p:cNvPr id="11" name="Connecteur droit 8">
            <a:extLst>
              <a:ext uri="{FF2B5EF4-FFF2-40B4-BE49-F238E27FC236}">
                <a16:creationId xmlns:a16="http://schemas.microsoft.com/office/drawing/2014/main" id="{3BE4DFD2-6DFC-B643-8CAE-041166C8F85E}"/>
              </a:ext>
            </a:extLst>
          </p:cNvPr>
          <p:cNvCxnSpPr/>
          <p:nvPr userDrawn="1"/>
        </p:nvCxnSpPr>
        <p:spPr>
          <a:xfrm>
            <a:off x="607686" y="4856400"/>
            <a:ext cx="0" cy="882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Graphique 65">
            <a:extLst>
              <a:ext uri="{FF2B5EF4-FFF2-40B4-BE49-F238E27FC236}">
                <a16:creationId xmlns:a16="http://schemas.microsoft.com/office/drawing/2014/main" id="{E27504F6-F048-B328-2091-6D2AE93D206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56324" y="4588072"/>
            <a:ext cx="759600" cy="335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79449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8399" y="428400"/>
            <a:ext cx="8287200" cy="349671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8399" y="1040401"/>
            <a:ext cx="8287200" cy="334439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117" y="4845600"/>
            <a:ext cx="5212196" cy="135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700" spc="31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Fixed Income Solution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8399" y="4845600"/>
            <a:ext cx="180001" cy="135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2B1C6FFC-D040-034F-8B69-20295064E64D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13" name="Rectangle 12"/>
          <p:cNvSpPr/>
          <p:nvPr/>
        </p:nvSpPr>
        <p:spPr>
          <a:xfrm>
            <a:off x="428400" y="4671000"/>
            <a:ext cx="360000" cy="27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cxnSp>
        <p:nvCxnSpPr>
          <p:cNvPr id="11" name="Connecteur droit 8">
            <a:extLst>
              <a:ext uri="{FF2B5EF4-FFF2-40B4-BE49-F238E27FC236}">
                <a16:creationId xmlns:a16="http://schemas.microsoft.com/office/drawing/2014/main" id="{7F710BDB-A926-7747-A609-83D680A864E1}"/>
              </a:ext>
            </a:extLst>
          </p:cNvPr>
          <p:cNvCxnSpPr/>
          <p:nvPr userDrawn="1"/>
        </p:nvCxnSpPr>
        <p:spPr>
          <a:xfrm>
            <a:off x="607686" y="4856400"/>
            <a:ext cx="0" cy="882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phique 65">
            <a:extLst>
              <a:ext uri="{FF2B5EF4-FFF2-40B4-BE49-F238E27FC236}">
                <a16:creationId xmlns:a16="http://schemas.microsoft.com/office/drawing/2014/main" id="{598061B9-6267-F86B-2291-00A64568130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956324" y="4588072"/>
            <a:ext cx="759600" cy="335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362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</p:sldLayoutIdLst>
  <p:hf hdr="0" dt="0"/>
  <p:txStyles>
    <p:titleStyle>
      <a:lvl1pPr algn="l" defTabSz="914355" rtl="0" eaLnBrk="1" latinLnBrk="0" hangingPunct="1">
        <a:lnSpc>
          <a:spcPct val="90000"/>
        </a:lnSpc>
        <a:spcBef>
          <a:spcPct val="0"/>
        </a:spcBef>
        <a:buNone/>
        <a:defRPr sz="2100" b="1" kern="1200" spc="51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5263" indent="-188913" algn="l" defTabSz="914355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SzPct val="130000"/>
        <a:buFont typeface="CambriaMath" charset="0"/>
        <a:buChar char="⎯"/>
        <a:tabLst/>
        <a:defRPr sz="1400" kern="1200">
          <a:solidFill>
            <a:srgbClr val="001C4B"/>
          </a:solidFill>
          <a:latin typeface="+mn-lt"/>
          <a:ea typeface="+mn-ea"/>
          <a:cs typeface="+mn-cs"/>
        </a:defRPr>
      </a:lvl1pPr>
      <a:lvl2pPr marL="365125" indent="-141288" algn="l" defTabSz="914355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CambriaMath" charset="0"/>
        <a:buChar char="⎯"/>
        <a:tabLst/>
        <a:defRPr sz="1200" kern="1200">
          <a:solidFill>
            <a:schemeClr val="bg2">
              <a:lumMod val="10000"/>
            </a:schemeClr>
          </a:solidFill>
          <a:latin typeface="+mn-lt"/>
          <a:ea typeface="+mn-ea"/>
          <a:cs typeface="+mn-cs"/>
        </a:defRPr>
      </a:lvl2pPr>
      <a:lvl3pPr marL="536575" indent="-125413" algn="l" defTabSz="914355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LucidaGrande-Bold" charset="0"/>
        <a:buChar char="⁃"/>
        <a:tabLst/>
        <a:defRPr sz="1000" kern="1200">
          <a:solidFill>
            <a:schemeClr val="bg2">
              <a:lumMod val="10000"/>
            </a:schemeClr>
          </a:solidFill>
          <a:latin typeface="+mn-lt"/>
          <a:ea typeface="+mn-ea"/>
          <a:cs typeface="+mn-cs"/>
        </a:defRPr>
      </a:lvl3pPr>
      <a:lvl4pPr marL="7938" indent="0" algn="l" defTabSz="914355" rtl="0" eaLnBrk="1" latinLnBrk="0" hangingPunct="1">
        <a:lnSpc>
          <a:spcPct val="100000"/>
        </a:lnSpc>
        <a:spcBef>
          <a:spcPts val="500"/>
        </a:spcBef>
        <a:buFont typeface="Arial" charset="0"/>
        <a:buNone/>
        <a:tabLst/>
        <a:defRPr sz="1000" kern="1200">
          <a:solidFill>
            <a:schemeClr val="accent4"/>
          </a:solidFill>
          <a:latin typeface="+mn-lt"/>
          <a:ea typeface="+mn-ea"/>
          <a:cs typeface="+mn-cs"/>
        </a:defRPr>
      </a:lvl4pPr>
      <a:lvl5pPr marL="7938" indent="0" algn="l" defTabSz="914355" rtl="0" eaLnBrk="1" latinLnBrk="0" hangingPunct="1">
        <a:lnSpc>
          <a:spcPct val="100000"/>
        </a:lnSpc>
        <a:spcBef>
          <a:spcPts val="500"/>
        </a:spcBef>
        <a:buFont typeface="Arial" charset="0"/>
        <a:buNone/>
        <a:tabLst/>
        <a:defRPr sz="10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514476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3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31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8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5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3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1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8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4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3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2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png"/><Relationship Id="rId4" Type="http://schemas.openxmlformats.org/officeDocument/2006/relationships/image" Target="../media/image16.png"/><Relationship Id="rId5" Type="http://schemas.openxmlformats.org/officeDocument/2006/relationships/image" Target="../media/image1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3.png"/><Relationship Id="rId4" Type="http://schemas.openxmlformats.org/officeDocument/2006/relationships/image" Target="../media/image1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27.png"/><Relationship Id="rId6" Type="http://schemas.openxmlformats.org/officeDocument/2006/relationships/image" Target="../media/image250.png"/><Relationship Id="rId7" Type="http://schemas.openxmlformats.org/officeDocument/2006/relationships/image" Target="../media/image3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10.png"/><Relationship Id="rId4" Type="http://schemas.openxmlformats.org/officeDocument/2006/relationships/image" Target="../media/image31.png"/><Relationship Id="rId5" Type="http://schemas.openxmlformats.org/officeDocument/2006/relationships/image" Target="../media/image33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Relationship Id="rId8" Type="http://schemas.openxmlformats.org/officeDocument/2006/relationships/image" Target="../media/image4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3.png"/><Relationship Id="rId4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90F12D2-2DB7-6F66-3467-BD68F96AC6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9304" y="2011680"/>
            <a:ext cx="6675120" cy="914400"/>
          </a:xfrm>
        </p:spPr>
        <p:txBody>
          <a:bodyPr/>
          <a:lstStyle/>
          <a:p>
            <a:r>
              <a:rPr lang="en-US" dirty="0"/>
              <a:t>Pricing Illiquidity in Strategic Asset Allocation: A Calibration Framework for Practitioners</a:t>
            </a:r>
            <a:br>
              <a:rPr lang="en-US" dirty="0"/>
            </a:br>
            <a:endParaRPr lang="en-GB" dirty="0"/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548C2807-CF2F-456A-6EB6-E4B60A78D6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9304" y="3063240"/>
            <a:ext cx="6675120" cy="731520"/>
          </a:xfrm>
        </p:spPr>
        <p:txBody>
          <a:bodyPr/>
          <a:lstStyle/>
          <a:p>
            <a:r>
              <a:t>Replacing subjective judgement with a simulation-based calibration methodology</a:t>
            </a:r>
          </a:p>
          <a:p>
            <a:r>
              <a:rPr sz="1100">
                <a:solidFill>
                  <a:srgbClr val="646464"/>
                </a:solidFill>
              </a:rPr>
              <a:t>Amundi Quant Solutions  |  V. Gisimundo, N. Zanetti, L. Meloncelli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AA91FC5-90C5-AB3C-FDEA-956D96860F6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/>
              <a:t>OCTOBER 2026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5770BE3-CFEB-206A-F50A-40022A712D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 dirty="0"/>
              <a:t>• </a:t>
            </a:r>
            <a:r>
              <a:rPr lang="fr-FR" dirty="0">
                <a:effectLst/>
                <a:latin typeface="Noto Sans" panose="020B0502040504020204" pitchFamily="34" charset="0"/>
              </a:rPr>
              <a:t>Document for </a:t>
            </a:r>
            <a:r>
              <a:rPr lang="fr-FR" dirty="0" err="1">
                <a:effectLst/>
                <a:latin typeface="Noto Sans" panose="020B0502040504020204" pitchFamily="34" charset="0"/>
              </a:rPr>
              <a:t>professional</a:t>
            </a:r>
            <a:r>
              <a:rPr lang="fr-FR" dirty="0">
                <a:effectLst/>
                <a:latin typeface="Noto Sans" panose="020B0502040504020204" pitchFamily="34" charset="0"/>
              </a:rPr>
              <a:t> </a:t>
            </a:r>
            <a:r>
              <a:rPr lang="fr-FR" dirty="0" err="1">
                <a:effectLst/>
                <a:latin typeface="Noto Sans" panose="020B0502040504020204" pitchFamily="34" charset="0"/>
              </a:rPr>
              <a:t>investors</a:t>
            </a:r>
            <a:r>
              <a:rPr lang="fr-FR" dirty="0">
                <a:effectLst/>
                <a:latin typeface="Noto Sans" panose="020B0502040504020204" pitchFamily="34" charset="0"/>
              </a:rPr>
              <a:t> </a:t>
            </a:r>
            <a:r>
              <a:rPr lang="fr-FR" dirty="0" err="1">
                <a:effectLst/>
                <a:latin typeface="Noto Sans" panose="020B0502040504020204" pitchFamily="34" charset="0"/>
              </a:rPr>
              <a:t>only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77398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B2612-3053-AED9-DCC5-46F3E964D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50C9A3-A72A-A7D0-EB55-EA246BC9D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The Penalty Cost Approach</a:t>
            </a:r>
            <a:endParaRPr lang="en-GB" noProof="0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901EB65-EAF6-7EAA-968D-92BB55CC9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Pricing Illiquidity in Strategic Asset Allocation  l  October 2026</a:t>
            </a:r>
            <a:endParaRPr lang="en-GB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9D32FF4-462D-FE88-BCC0-E68934EF6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C6FFC-D040-034F-8B69-20295064E64D}" type="slidenum">
              <a:rPr lang="fr-FR" smtClean="0"/>
              <a:t>3</a:t>
            </a:fld>
            <a:endParaRPr lang="fr-FR" dirty="0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325435DD-0119-72C7-EF8D-4D1A65796F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Hayes, Primbs &amp; Chiquoine (2015): a marginal penalty curve inside the MVO</a:t>
            </a:r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49C5319-A8EF-EFBF-8F4E-FA70CE8B61F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329" b="3168"/>
          <a:stretch>
            <a:fillRect/>
          </a:stretch>
        </p:blipFill>
        <p:spPr>
          <a:xfrm>
            <a:off x="4434840" y="1371600"/>
            <a:ext cx="4279392" cy="2752344"/>
          </a:xfrm>
          <a:prstGeom prst="rect">
            <a:avLst/>
          </a:prstGeom>
        </p:spPr>
      </p:pic>
      <p:sp>
        <p:nvSpPr>
          <p:cNvPr id="9" name="Numeral 01"/>
          <p:cNvSpPr txBox="1"/>
          <p:nvPr/>
        </p:nvSpPr>
        <p:spPr>
          <a:xfrm>
            <a:off x="429768" y="1161288"/>
            <a:ext cx="566928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2200" b="0" i="0">
                <a:solidFill>
                  <a:srgbClr val="009EE0"/>
                </a:solidFill>
              </a:rPr>
              <a:t>01</a:t>
            </a:r>
          </a:p>
        </p:txBody>
      </p:sp>
      <p:sp>
        <p:nvSpPr>
          <p:cNvPr id="10" name="Row 1"/>
          <p:cNvSpPr txBox="1"/>
          <p:nvPr/>
        </p:nvSpPr>
        <p:spPr>
          <a:xfrm>
            <a:off x="1069848" y="1143000"/>
            <a:ext cx="3017520" cy="100583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3C64"/>
                </a:solidFill>
              </a:rPr>
              <a:t>The framework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003C64"/>
                </a:solidFill>
              </a:rPr>
              <a:t>The MVO objective is reduced by an accumulated illiquidity penalty T(L), the area under a marginal penalty curve c(L) that rises with the portfolio's illiquidity level.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29768" y="2157984"/>
            <a:ext cx="3657600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Numeral 02"/>
          <p:cNvSpPr txBox="1"/>
          <p:nvPr/>
        </p:nvSpPr>
        <p:spPr>
          <a:xfrm>
            <a:off x="429768" y="2212848"/>
            <a:ext cx="566928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2200" b="0" i="0">
                <a:solidFill>
                  <a:srgbClr val="009EE0"/>
                </a:solidFill>
              </a:rPr>
              <a:t>02</a:t>
            </a:r>
          </a:p>
        </p:txBody>
      </p:sp>
      <p:sp>
        <p:nvSpPr>
          <p:cNvPr id="13" name="Row 2"/>
          <p:cNvSpPr txBox="1"/>
          <p:nvPr/>
        </p:nvSpPr>
        <p:spPr>
          <a:xfrm>
            <a:off x="1069848" y="2194560"/>
            <a:ext cx="3017520" cy="100583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3C64"/>
                </a:solidFill>
              </a:rPr>
              <a:t>The open question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003C64"/>
                </a:solidFill>
              </a:rPr>
              <a:t>The original paper leaves the identification of c(L) to subjective judgement: how can it be estimated from portfolio fundamentals?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29768" y="3209544"/>
            <a:ext cx="3657600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Numeral 03"/>
          <p:cNvSpPr txBox="1"/>
          <p:nvPr/>
        </p:nvSpPr>
        <p:spPr>
          <a:xfrm>
            <a:off x="429768" y="3264408"/>
            <a:ext cx="566928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2200" b="0" i="0">
                <a:solidFill>
                  <a:srgbClr val="009EE0"/>
                </a:solidFill>
              </a:rPr>
              <a:t>03</a:t>
            </a:r>
          </a:p>
        </p:txBody>
      </p:sp>
      <p:sp>
        <p:nvSpPr>
          <p:cNvPr id="16" name="Row 3"/>
          <p:cNvSpPr txBox="1"/>
          <p:nvPr/>
        </p:nvSpPr>
        <p:spPr>
          <a:xfrm>
            <a:off x="1069848" y="3246120"/>
            <a:ext cx="3017520" cy="100583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3C64"/>
                </a:solidFill>
              </a:rPr>
              <a:t>Our approach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003C64"/>
                </a:solidFill>
              </a:rPr>
              <a:t>Simulate realistic portfolio dynamics under lock-ups, payouts and rebalancing constraints, then fit c(L) directly from the simulated costs.</a:t>
            </a:r>
          </a:p>
        </p:txBody>
      </p:sp>
      <p:sp>
        <p:nvSpPr>
          <p:cNvPr id="17" name="Caption"/>
          <p:cNvSpPr txBox="1"/>
          <p:nvPr/>
        </p:nvSpPr>
        <p:spPr>
          <a:xfrm>
            <a:off x="4434840" y="1143000"/>
            <a:ext cx="4279392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4F9F"/>
                </a:solidFill>
              </a:rPr>
              <a:t>Marginal illiquidity penalty curves for different investor types</a:t>
            </a:r>
          </a:p>
        </p:txBody>
      </p:sp>
      <p:sp>
        <p:nvSpPr>
          <p:cNvPr id="18" name="Source"/>
          <p:cNvSpPr txBox="1"/>
          <p:nvPr/>
        </p:nvSpPr>
        <p:spPr>
          <a:xfrm>
            <a:off x="4434840" y="4206240"/>
            <a:ext cx="4279392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800" b="0" i="0">
                <a:solidFill>
                  <a:srgbClr val="646464"/>
                </a:solidFill>
              </a:rPr>
              <a:t>Source: Hayes, Primbs &amp; Chiquoine (2015). At L = 45% the endowment's marginal penalty is about 3%.</a:t>
            </a:r>
          </a:p>
        </p:txBody>
      </p:sp>
      <p:sp>
        <p:nvSpPr>
          <p:cNvPr id="19" name="Chapter tracker"/>
          <p:cNvSpPr txBox="1"/>
          <p:nvPr/>
        </p:nvSpPr>
        <p:spPr>
          <a:xfrm>
            <a:off x="3657600" y="182880"/>
            <a:ext cx="5056632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009EE0"/>
                </a:solidFill>
              </a:rPr>
              <a:t>01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02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03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04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05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646464"/>
                </a:solidFill>
              </a:rPr>
              <a:t>Why illiquidity needs a price</a:t>
            </a:r>
          </a:p>
        </p:txBody>
      </p:sp>
    </p:spTree>
    <p:extLst>
      <p:ext uri="{BB962C8B-B14F-4D97-AF65-F5344CB8AC3E}">
        <p14:creationId xmlns:p14="http://schemas.microsoft.com/office/powerpoint/2010/main" val="415915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75226-AE87-3B8F-21EB-3283725A1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710239-71E1-DC26-EFC4-4EF4F76EF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Asset Classes &amp; Illiquidity Levels</a:t>
            </a:r>
            <a:endParaRPr lang="en-GB" noProof="0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4941FD6-6BC2-0B2A-9111-5746AD56A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Pricing Illiquidity in Strategic Asset Allocation  l  October 2026</a:t>
            </a:r>
            <a:endParaRPr lang="en-GB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BB018DA-A5D6-8C2E-5408-4C134DCF3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C6FFC-D040-034F-8B69-20295064E64D}" type="slidenum">
              <a:rPr lang="fr-FR" smtClean="0"/>
              <a:t>4</a:t>
            </a:fld>
            <a:endParaRPr lang="fr-FR" dirty="0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4D7D8F65-0B45-53C0-249D-88AE8E93AF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Six asset classes spanning the full liquidity spectrum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08E2258-3085-B7CB-99D1-A283EDB8D82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9000"/>
          <a:stretch>
            <a:fillRect/>
          </a:stretch>
        </p:blipFill>
        <p:spPr>
          <a:xfrm>
            <a:off x="594360" y="1325880"/>
            <a:ext cx="7955279" cy="2007538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29768" y="1097280"/>
            <a:ext cx="8284464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4F9F"/>
                </a:solidFill>
              </a:rPr>
              <a:t>Risk-return space  ·  Illiquidity indices lᵢ  ·  Correlation matrix</a:t>
            </a:r>
          </a:p>
        </p:txBody>
      </p:sp>
      <p:sp>
        <p:nvSpPr>
          <p:cNvPr id="10" name="Numeral 01"/>
          <p:cNvSpPr txBox="1"/>
          <p:nvPr/>
        </p:nvSpPr>
        <p:spPr>
          <a:xfrm>
            <a:off x="429768" y="3443146"/>
            <a:ext cx="566928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800" b="0" i="0">
                <a:solidFill>
                  <a:srgbClr val="009EE0"/>
                </a:solidFill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443146"/>
            <a:ext cx="35661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003C64"/>
                </a:solidFill>
              </a:rPr>
              <a:t>Illiquidity index lᵢ ∈ [0, 1]</a:t>
            </a:r>
          </a:p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003C64"/>
                </a:solidFill>
              </a:rPr>
              <a:t>Raw liquidity scores normalised to the unit interval: 0 for money market, 1 for private equity.</a:t>
            </a:r>
          </a:p>
        </p:txBody>
      </p:sp>
      <p:sp>
        <p:nvSpPr>
          <p:cNvPr id="12" name="Numeral 02"/>
          <p:cNvSpPr txBox="1"/>
          <p:nvPr/>
        </p:nvSpPr>
        <p:spPr>
          <a:xfrm>
            <a:off x="4663440" y="3443146"/>
            <a:ext cx="566928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800" b="0" i="0">
                <a:solidFill>
                  <a:srgbClr val="009EE0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59" y="3443146"/>
            <a:ext cx="35661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003C64"/>
                </a:solidFill>
              </a:rPr>
              <a:t>Portfolio illiquidity level L = Σ wᵢ · lᵢ</a:t>
            </a:r>
          </a:p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003C64"/>
                </a:solidFill>
              </a:rPr>
              <a:t>A continuous, portfolio-level measure: the share of the portfolio that is illiquid.</a:t>
            </a:r>
          </a:p>
        </p:txBody>
      </p:sp>
      <p:sp>
        <p:nvSpPr>
          <p:cNvPr id="14" name="Key takeaway"/>
          <p:cNvSpPr/>
          <p:nvPr/>
        </p:nvSpPr>
        <p:spPr>
          <a:xfrm>
            <a:off x="429768" y="4087368"/>
            <a:ext cx="8284464" cy="411480"/>
          </a:xfrm>
          <a:prstGeom prst="rect">
            <a:avLst/>
          </a:prstGeom>
          <a:solidFill>
            <a:srgbClr val="E5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004F9F"/>
                </a:solidFill>
              </a:rPr>
              <a:t>Key takeaway  </a:t>
            </a:r>
            <a:r>
              <a:rPr sz="1100" b="0" i="0">
                <a:solidFill>
                  <a:srgbClr val="003C64"/>
                </a:solidFill>
              </a:rPr>
              <a:t>GLOB_EQ, HF_FOF and GLOB_PE are near-perfect substitutes (ρ ≈ 0.86–0.87): without a penalty, private equity (9.80%) captures the equity allocation.</a:t>
            </a:r>
          </a:p>
        </p:txBody>
      </p:sp>
      <p:sp>
        <p:nvSpPr>
          <p:cNvPr id="15" name="Source"/>
          <p:cNvSpPr txBox="1"/>
          <p:nvPr/>
        </p:nvSpPr>
        <p:spPr>
          <a:xfrm>
            <a:off x="429768" y="4526280"/>
            <a:ext cx="8284464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800" b="0" i="0">
                <a:solidFill>
                  <a:srgbClr val="646464"/>
                </a:solidFill>
              </a:rPr>
              <a:t/>
            </a:r>
          </a:p>
        </p:txBody>
      </p:sp>
      <p:sp>
        <p:nvSpPr>
          <p:cNvPr id="16" name="Chapter tracker"/>
          <p:cNvSpPr txBox="1"/>
          <p:nvPr/>
        </p:nvSpPr>
        <p:spPr>
          <a:xfrm>
            <a:off x="3657600" y="182880"/>
            <a:ext cx="5056632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B0B2B5"/>
                </a:solidFill>
              </a:rPr>
              <a:t>01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1" i="0">
                <a:solidFill>
                  <a:srgbClr val="009EE0"/>
                </a:solidFill>
              </a:rPr>
              <a:t>02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03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04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05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646464"/>
                </a:solidFill>
              </a:rPr>
              <a:t>The penalized optimization framework</a:t>
            </a:r>
          </a:p>
        </p:txBody>
      </p:sp>
    </p:spTree>
    <p:extLst>
      <p:ext uri="{BB962C8B-B14F-4D97-AF65-F5344CB8AC3E}">
        <p14:creationId xmlns:p14="http://schemas.microsoft.com/office/powerpoint/2010/main" val="1471528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20FAA-A8E4-20F7-D51B-A3FA5A3E3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170C69-1476-F026-ABB2-808E0559E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The Marginal Penalty Function</a:t>
            </a:r>
            <a:endParaRPr lang="en-GB" noProof="0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482006A-D65E-594B-43B4-9A34C5FE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Pricing Illiquidity in Strategic Asset Allocation  l  October 2026</a:t>
            </a:r>
            <a:endParaRPr lang="en-GB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4CB2F4B-56A5-669B-3622-E5424FB47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C6FFC-D040-034F-8B69-20295064E64D}" type="slidenum">
              <a:rPr lang="fr-FR" smtClean="0"/>
              <a:t>5</a:t>
            </a:fld>
            <a:endParaRPr lang="fr-FR" dirty="0"/>
          </a:p>
        </p:txBody>
      </p:sp>
      <p:sp xmlns:a14="http://schemas.microsoft.com/office/drawing/2010/main">
        <p:nvSpPr>
          <p:cNvPr id="6" name="Espace réservé du texte 5">
            <a:extLst>
              <a:ext uri="{FF2B5EF4-FFF2-40B4-BE49-F238E27FC236}">
                <a16:creationId xmlns:a16="http://schemas.microsoft.com/office/drawing/2014/main" id="{11DF95BC-76EC-7EA9-9484-23D1BA285E5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Three functional forms compared with identical parameters (α = 0.05, β = 1.6)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CFB6A39-AB3A-8761-B6BF-FA1F9C39812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500"/>
          <a:stretch>
            <a:fillRect/>
          </a:stretch>
        </p:blipFill>
        <p:spPr>
          <a:xfrm>
            <a:off x="4297680" y="1325880"/>
            <a:ext cx="4328220" cy="2961902"/>
          </a:xfrm>
          <a:prstGeom prst="rect">
            <a:avLst/>
          </a:prstGeom>
        </p:spPr>
      </p:pic>
      <p:sp>
        <p:nvSpPr>
          <p:cNvPr id="9" name="Numeral 01"/>
          <p:cNvSpPr txBox="1"/>
          <p:nvPr/>
        </p:nvSpPr>
        <p:spPr>
          <a:xfrm>
            <a:off x="429768" y="1161288"/>
            <a:ext cx="566928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800" b="0" i="0">
                <a:solidFill>
                  <a:srgbClr val="009EE0"/>
                </a:solidFill>
              </a:rPr>
              <a:t>01</a:t>
            </a:r>
          </a:p>
        </p:txBody>
      </p:sp>
      <p:sp>
        <p:nvSpPr>
          <p:cNvPr id="10" name="Row 1"/>
          <p:cNvSpPr txBox="1"/>
          <p:nvPr/>
        </p:nvSpPr>
        <p:spPr>
          <a:xfrm>
            <a:off x="1069848" y="1143000"/>
            <a:ext cx="2971800" cy="7955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003C64"/>
                </a:solidFill>
              </a:rPr>
              <a:t>Three candidate forms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3C64"/>
                </a:solidFill>
              </a:rPr>
              <a:t>Power c(L) = α·L^β;  quadratic c(L) = α·L + β·L²;  exponential c(L) = α·e^(βL).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29768" y="1947672"/>
            <a:ext cx="3611880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Numeral 02"/>
          <p:cNvSpPr txBox="1"/>
          <p:nvPr/>
        </p:nvSpPr>
        <p:spPr>
          <a:xfrm>
            <a:off x="429768" y="2002536"/>
            <a:ext cx="566928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800" b="0" i="0">
                <a:solidFill>
                  <a:srgbClr val="009EE0"/>
                </a:solidFill>
              </a:rPr>
              <a:t>02</a:t>
            </a:r>
          </a:p>
        </p:txBody>
      </p:sp>
      <p:sp>
        <p:nvSpPr>
          <p:cNvPr id="13" name="Row 2"/>
          <p:cNvSpPr txBox="1"/>
          <p:nvPr/>
        </p:nvSpPr>
        <p:spPr>
          <a:xfrm>
            <a:off x="1069848" y="1984248"/>
            <a:ext cx="2971800" cy="7955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003C64"/>
                </a:solidFill>
              </a:rPr>
              <a:t>Desirable properties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3C64"/>
                </a:solidFill>
              </a:rPr>
              <a:t>Zero cost for a fully liquid portfolio, increasing and convex in L. The exponential fails c(0) = 0.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29768" y="2788920"/>
            <a:ext cx="3611880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Numeral 03"/>
          <p:cNvSpPr txBox="1"/>
          <p:nvPr/>
        </p:nvSpPr>
        <p:spPr>
          <a:xfrm>
            <a:off x="429768" y="2843784"/>
            <a:ext cx="566928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800" b="0" i="0">
                <a:solidFill>
                  <a:srgbClr val="009EE0"/>
                </a:solidFill>
              </a:rPr>
              <a:t>03</a:t>
            </a:r>
          </a:p>
        </p:txBody>
      </p:sp>
      <p:sp>
        <p:nvSpPr>
          <p:cNvPr id="16" name="Row 3"/>
          <p:cNvSpPr txBox="1"/>
          <p:nvPr/>
        </p:nvSpPr>
        <p:spPr>
          <a:xfrm>
            <a:off x="1069848" y="2825496"/>
            <a:ext cx="2971800" cy="7955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003C64"/>
                </a:solidFill>
              </a:rPr>
              <a:t>Reading the power form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3C64"/>
                </a:solidFill>
              </a:rPr>
              <a:t>α sets the level of the penalty (secondary-market costs); β its curvature (the liability side).</a:t>
            </a:r>
          </a:p>
        </p:txBody>
      </p:sp>
      <p:sp>
        <p:nvSpPr>
          <p:cNvPr id="17" name="Caption"/>
          <p:cNvSpPr txBox="1"/>
          <p:nvPr/>
        </p:nvSpPr>
        <p:spPr>
          <a:xfrm>
            <a:off x="4297680" y="1097280"/>
            <a:ext cx="4416552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4F9F"/>
                </a:solidFill>
              </a:rPr>
              <a:t>Marginal penalty, accumulated penalty, average cost and stability diagnostic</a:t>
            </a:r>
          </a:p>
        </p:txBody>
      </p:sp>
      <p:sp>
        <p:nvSpPr>
          <p:cNvPr id="18" name="Chapter tracker"/>
          <p:cNvSpPr txBox="1"/>
          <p:nvPr/>
        </p:nvSpPr>
        <p:spPr>
          <a:xfrm>
            <a:off x="3657600" y="182880"/>
            <a:ext cx="5056632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B0B2B5"/>
                </a:solidFill>
              </a:rPr>
              <a:t>01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1" i="0">
                <a:solidFill>
                  <a:srgbClr val="009EE0"/>
                </a:solidFill>
              </a:rPr>
              <a:t>02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03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04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05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646464"/>
                </a:solidFill>
              </a:rPr>
              <a:t>The penalized optimization framework</a:t>
            </a:r>
          </a:p>
        </p:txBody>
      </p:sp>
    </p:spTree>
    <p:extLst>
      <p:ext uri="{BB962C8B-B14F-4D97-AF65-F5344CB8AC3E}">
        <p14:creationId xmlns:p14="http://schemas.microsoft.com/office/powerpoint/2010/main" val="31268936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9851C-3BC0-7FD1-BF16-4B7C206A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18BC53-63C1-1CD5-495A-5A8EBA9EE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noProof="0" dirty="0"/>
              <a:t>Portfolio Optimization with Illiquidity</a:t>
            </a:r>
            <a:endParaRPr lang="en-GB" noProof="0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10465A1-860F-21D3-7CDB-47FE133B0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Pricing Illiquidity in Strategic Asset Allocation  l  October 2026</a:t>
            </a:r>
            <a:endParaRPr lang="en-GB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7610B34-413E-1070-370F-E5DA57528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C6FFC-D040-034F-8B69-20295064E64D}" type="slidenum">
              <a:rPr lang="fr-FR" smtClean="0"/>
              <a:t>6</a:t>
            </a:fld>
            <a:endParaRPr lang="fr-FR" dirty="0"/>
          </a:p>
        </p:txBody>
      </p:sp>
      <p:sp xmlns:a14="http://schemas.microsoft.com/office/drawing/2010/main">
        <p:nvSpPr>
          <p:cNvPr id="6" name="Espace réservé du texte 5">
            <a:extLst>
              <a:ext uri="{FF2B5EF4-FFF2-40B4-BE49-F238E27FC236}">
                <a16:creationId xmlns:a16="http://schemas.microsoft.com/office/drawing/2014/main" id="{DDDEB541-368A-DF6B-8D56-B8586EA6EA7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Net efficient frontiers under the three penalties (α = 0.05, β = 1.6)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53817AC-B1B8-8439-BBC8-C9ADF7903DD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1200"/>
          <a:stretch>
            <a:fillRect/>
          </a:stretch>
        </p:blipFill>
        <p:spPr>
          <a:xfrm>
            <a:off x="4297680" y="1325880"/>
            <a:ext cx="4416552" cy="2349177"/>
          </a:xfrm>
          <a:prstGeom prst="rect">
            <a:avLst/>
          </a:prstGeom>
        </p:spPr>
      </p:pic>
      <p:sp>
        <p:nvSpPr>
          <p:cNvPr id="9" name="Objective panel"/>
          <p:cNvSpPr/>
          <p:nvPr/>
        </p:nvSpPr>
        <p:spPr>
          <a:xfrm>
            <a:off x="429768" y="1143000"/>
            <a:ext cx="3611880" cy="777240"/>
          </a:xfrm>
          <a:prstGeom prst="rect">
            <a:avLst/>
          </a:prstGeom>
          <a:solidFill>
            <a:srgbClr val="E5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61288"/>
            <a:ext cx="361188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003C64"/>
                </a:solidFill>
              </a:rPr>
              <a:t>max  w′μ − (γ/2)·w′Σw − T(L(w))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581912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300"/>
              </a:spcAft>
            </a:pPr>
            <a:r>
              <a:rPr sz="1000" b="0" i="0">
                <a:solidFill>
                  <a:srgbClr val="646464"/>
                </a:solidFill>
              </a:rPr>
              <a:t>L(w) = Σ wᵢ lᵢ ,   T(L) = ∫₀ᴸ c(x) dx</a:t>
            </a:r>
          </a:p>
        </p:txBody>
      </p:sp>
      <p:sp>
        <p:nvSpPr>
          <p:cNvPr id="12" name="Numeral 01"/>
          <p:cNvSpPr txBox="1"/>
          <p:nvPr/>
        </p:nvSpPr>
        <p:spPr>
          <a:xfrm>
            <a:off x="429768" y="2121408"/>
            <a:ext cx="566928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800" b="0" i="0">
                <a:solidFill>
                  <a:srgbClr val="009EE0"/>
                </a:solidFill>
              </a:rPr>
              <a:t>01</a:t>
            </a:r>
          </a:p>
        </p:txBody>
      </p:sp>
      <p:sp>
        <p:nvSpPr>
          <p:cNvPr id="13" name="Row 1"/>
          <p:cNvSpPr txBox="1"/>
          <p:nvPr/>
        </p:nvSpPr>
        <p:spPr>
          <a:xfrm>
            <a:off x="1069848" y="2103120"/>
            <a:ext cx="297180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003C64"/>
                </a:solidFill>
              </a:rPr>
              <a:t>A third trade-off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3C64"/>
                </a:solidFill>
              </a:rPr>
              <a:t>Return, variance and illiquidity cost: the penalty discourages illiquid concentration without hard constraints.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29768" y="2980944"/>
            <a:ext cx="3611880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Numeral 02"/>
          <p:cNvSpPr txBox="1"/>
          <p:nvPr/>
        </p:nvSpPr>
        <p:spPr>
          <a:xfrm>
            <a:off x="429768" y="3035808"/>
            <a:ext cx="566928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800" b="0" i="0">
                <a:solidFill>
                  <a:srgbClr val="009EE0"/>
                </a:solidFill>
              </a:rPr>
              <a:t>02</a:t>
            </a:r>
          </a:p>
        </p:txBody>
      </p:sp>
      <p:sp>
        <p:nvSpPr>
          <p:cNvPr id="16" name="Row 2"/>
          <p:cNvSpPr txBox="1"/>
          <p:nvPr/>
        </p:nvSpPr>
        <p:spPr>
          <a:xfrm>
            <a:off x="1069848" y="3017520"/>
            <a:ext cx="297180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003C64"/>
                </a:solidFill>
              </a:rPr>
              <a:t>The γ → 0 limit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3C64"/>
                </a:solidFill>
              </a:rPr>
              <a:t>The optimizer maximises return net of the penalty and stops there: the more aggressive the penalty, the earlier it stops.</a:t>
            </a:r>
          </a:p>
        </p:txBody>
      </p:sp>
      <p:sp>
        <p:nvSpPr>
          <p:cNvPr id="17" name="Caption"/>
          <p:cNvSpPr txBox="1"/>
          <p:nvPr/>
        </p:nvSpPr>
        <p:spPr>
          <a:xfrm>
            <a:off x="4297680" y="1097280"/>
            <a:ext cx="4416552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4F9F"/>
                </a:solidFill>
              </a:rPr>
              <a:t>Net return μ − T(L) along the efficient frontier</a:t>
            </a:r>
          </a:p>
        </p:txBody>
      </p:sp>
      <p:sp>
        <p:nvSpPr>
          <p:cNvPr id="18" name="Chapter tracker"/>
          <p:cNvSpPr txBox="1"/>
          <p:nvPr/>
        </p:nvSpPr>
        <p:spPr>
          <a:xfrm>
            <a:off x="3657600" y="182880"/>
            <a:ext cx="5056632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B0B2B5"/>
                </a:solidFill>
              </a:rPr>
              <a:t>01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1" i="0">
                <a:solidFill>
                  <a:srgbClr val="009EE0"/>
                </a:solidFill>
              </a:rPr>
              <a:t>02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03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04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05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646464"/>
                </a:solidFill>
              </a:rPr>
              <a:t>The penalized optimization framework</a:t>
            </a:r>
          </a:p>
        </p:txBody>
      </p:sp>
    </p:spTree>
    <p:extLst>
      <p:ext uri="{BB962C8B-B14F-4D97-AF65-F5344CB8AC3E}">
        <p14:creationId xmlns:p14="http://schemas.microsoft.com/office/powerpoint/2010/main" val="2407350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E7869-401F-F546-3A71-86DC9BD0A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55BA765-1A35-A3BA-AEB7-67903551D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652" y="435600"/>
            <a:ext cx="8287200" cy="290620"/>
          </a:xfrm>
        </p:spPr>
        <p:txBody>
          <a:bodyPr/>
          <a:lstStyle/>
          <a:p>
            <a:r>
              <a:rPr lang="it-IT" dirty="0" err="1"/>
              <a:t>Efficient Frontiers &amp; Portfolio Composition</a:t>
            </a:r>
            <a:endParaRPr lang="en-GB" noProof="0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09D9CF0-3172-237B-1F72-5056A21A0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Pricing Illiquidity in Strategic Asset Allocation  l  October 2026</a:t>
            </a:r>
            <a:endParaRPr lang="en-GB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71663D4-C2A5-1E25-C54C-755190643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C6FFC-D040-034F-8B69-20295064E64D}" type="slidenum">
              <a:rPr lang="fr-FR" smtClean="0"/>
              <a:t>7</a:t>
            </a:fld>
            <a:endParaRPr lang="fr-FR" dirty="0"/>
          </a:p>
        </p:txBody>
      </p:sp>
      <p:sp xmlns:a14="http://schemas.microsoft.com/office/drawing/2010/main">
        <p:nvSpPr>
          <p:cNvPr id="6" name="Espace réservé du texte 5">
            <a:extLst>
              <a:ext uri="{FF2B5EF4-FFF2-40B4-BE49-F238E27FC236}">
                <a16:creationId xmlns:a16="http://schemas.microsoft.com/office/drawing/2014/main" id="{F18001E5-45E7-0F86-E9C6-A4ED96C8E3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Portfolio composition along the frontier (α = 0.05, β = 1.6)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ED71D3-3709-D906-9ACA-51B5075B785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000"/>
          <a:stretch>
            <a:fillRect/>
          </a:stretch>
        </p:blipFill>
        <p:spPr>
          <a:xfrm>
            <a:off x="429768" y="1307592"/>
            <a:ext cx="4663440" cy="3168468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29768" y="1097280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4F9F"/>
                </a:solidFill>
              </a:rPr>
              <a:t>Unpenalized  ·  Exponential  ·  Power  ·  Quadratic</a:t>
            </a:r>
          </a:p>
        </p:txBody>
      </p:sp>
      <p:sp>
        <p:nvSpPr>
          <p:cNvPr id="9" name="Numeral 01"/>
          <p:cNvSpPr txBox="1"/>
          <p:nvPr/>
        </p:nvSpPr>
        <p:spPr>
          <a:xfrm>
            <a:off x="5440680" y="1161288"/>
            <a:ext cx="566928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800" b="0" i="0">
                <a:solidFill>
                  <a:srgbClr val="009EE0"/>
                </a:solidFill>
              </a:rPr>
              <a:t>01</a:t>
            </a:r>
          </a:p>
        </p:txBody>
      </p:sp>
      <p:sp>
        <p:nvSpPr>
          <p:cNvPr id="10" name="Row 1"/>
          <p:cNvSpPr txBox="1"/>
          <p:nvPr/>
        </p:nvSpPr>
        <p:spPr>
          <a:xfrm>
            <a:off x="6080760" y="1143000"/>
            <a:ext cx="2633472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003C64"/>
                </a:solidFill>
              </a:rPr>
              <a:t>The penalty reshapes the allocation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3C64"/>
                </a:solidFill>
              </a:rPr>
              <a:t>PE is reduced and the return range compressed; GLOB_EQ becomes the liquid substitute (ρ = 0.87 with PE).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40680" y="2340864"/>
            <a:ext cx="3273552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Numeral 02"/>
          <p:cNvSpPr txBox="1"/>
          <p:nvPr/>
        </p:nvSpPr>
        <p:spPr>
          <a:xfrm>
            <a:off x="5440680" y="2395728"/>
            <a:ext cx="566928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800" b="0" i="0">
                <a:solidFill>
                  <a:srgbClr val="009EE0"/>
                </a:solidFill>
              </a:rPr>
              <a:t>02</a:t>
            </a:r>
          </a:p>
        </p:txBody>
      </p:sp>
      <p:sp>
        <p:nvSpPr>
          <p:cNvPr id="13" name="Row 2"/>
          <p:cNvSpPr txBox="1"/>
          <p:nvPr/>
        </p:nvSpPr>
        <p:spPr>
          <a:xfrm>
            <a:off x="6080760" y="2377440"/>
            <a:ext cx="2633472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003C64"/>
                </a:solidFill>
              </a:rPr>
              <a:t>Only the power form is stable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3C64"/>
                </a:solidFill>
              </a:rPr>
              <a:t>The exponential collapses the frontier to a narrow range; the quadratic shows erratic composition spikes.</a:t>
            </a:r>
          </a:p>
        </p:txBody>
      </p:sp>
      <p:sp>
        <p:nvSpPr>
          <p:cNvPr id="14" name="Chapter tracker"/>
          <p:cNvSpPr txBox="1"/>
          <p:nvPr/>
        </p:nvSpPr>
        <p:spPr>
          <a:xfrm>
            <a:off x="3657600" y="182880"/>
            <a:ext cx="5056632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B0B2B5"/>
                </a:solidFill>
              </a:rPr>
              <a:t>01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1" i="0">
                <a:solidFill>
                  <a:srgbClr val="009EE0"/>
                </a:solidFill>
              </a:rPr>
              <a:t>02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03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04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05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646464"/>
                </a:solidFill>
              </a:rPr>
              <a:t>The penalized optimization framework</a:t>
            </a:r>
          </a:p>
        </p:txBody>
      </p:sp>
    </p:spTree>
    <p:extLst>
      <p:ext uri="{BB962C8B-B14F-4D97-AF65-F5344CB8AC3E}">
        <p14:creationId xmlns:p14="http://schemas.microsoft.com/office/powerpoint/2010/main" val="8068969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5C018-060B-6221-BD5A-2E6E05BBA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A66260-79E2-9971-3AB8-544F97ED8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Simulation Design: Stochastic Dynamics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A304B80-6580-B344-F358-80CBD29BC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Pricing Illiquidity in Strategic Asset Allocation  l  October 2026</a:t>
            </a:r>
            <a:endParaRPr lang="en-GB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E14F486-4A84-9490-AABF-9224CF735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C6FFC-D040-034F-8B69-20295064E64D}" type="slidenum">
              <a:rPr lang="fr-FR" smtClean="0"/>
              <a:t>8</a:t>
            </a:fld>
            <a:endParaRPr lang="fr-FR" dirty="0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D14020F2-97D6-F870-049A-5A1CC817C9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 dirty="0" err="1"/>
              <a:t>Correlated asset returns and a countercyclical payout process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C957474-E3BE-8AC3-3893-0E3156A1B361}"/>
                  </a:ext>
                </a:extLst>
              </p:cNvPr>
              <p:cNvSpPr txBox="1"/>
              <p:nvPr/>
            </p:nvSpPr>
            <p:spPr>
              <a:xfrm>
                <a:off x="337899" y="1073014"/>
                <a:ext cx="8377447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200" dirty="0"/>
                  <a:t>We </a:t>
                </a:r>
                <a:r>
                  <a:rPr lang="en-US" sz="1200" b="1" dirty="0"/>
                  <a:t>estimate </a:t>
                </a:r>
                <a14:m>
                  <m:oMath xmlns:m="http://schemas.openxmlformats.org/officeDocument/2006/math">
                    <m:r>
                      <a:rPr lang="it-IT" sz="1200" i="1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it-IT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12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  <m:r>
                      <a:rPr lang="it-IT" sz="12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200" b="1" dirty="0"/>
                  <a:t>empirically </a:t>
                </a:r>
                <a:r>
                  <a:rPr lang="en-US" sz="1200" dirty="0"/>
                  <a:t>by simulating realistic portfolio dynamics. For each target illiquidity level </a:t>
                </a:r>
                <a14:m>
                  <m:oMath xmlns:m="http://schemas.openxmlformats.org/officeDocument/2006/math">
                    <m:r>
                      <a:rPr lang="it-IT" sz="120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sz="1200" dirty="0"/>
                  <a:t>, we run        </a:t>
                </a:r>
                <a14:m>
                  <m:oMath xmlns:m="http://schemas.openxmlformats.org/officeDocument/2006/math">
                    <m:r>
                      <a:rPr lang="it-IT" sz="12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sz="1200">
                        <a:latin typeface="Cambria Math" panose="02040503050406030204" pitchFamily="18" charset="0"/>
                      </a:rPr>
                      <m:t>𝑁</m:t>
                    </m:r>
                    <m:r>
                      <a:rPr lang="it-IT" sz="1200">
                        <a:latin typeface="Cambria Math" panose="02040503050406030204" pitchFamily="18" charset="0"/>
                      </a:rPr>
                      <m:t>=1000</m:t>
                    </m:r>
                  </m:oMath>
                </a14:m>
                <a:r>
                  <a:rPr lang="en-US" sz="1200" dirty="0"/>
                  <a:t> Monte Carlo scenarios over a 20-year horizon and measure </a:t>
                </a:r>
                <a:r>
                  <a:rPr lang="en-US" sz="1200" b="1" dirty="0"/>
                  <a:t>the average annual return foregone </a:t>
                </a:r>
                <a:r>
                  <a:rPr lang="en-US" sz="1200" dirty="0"/>
                  <a:t>by </a:t>
                </a:r>
                <a:r>
                  <a:rPr lang="en-US" sz="1200" b="1" dirty="0"/>
                  <a:t>operating under lock-up constraints </a:t>
                </a:r>
                <a:r>
                  <a:rPr lang="en-US" sz="1200" dirty="0"/>
                  <a:t>relative to an </a:t>
                </a:r>
                <a:r>
                  <a:rPr lang="en-US" sz="1200" b="1" dirty="0"/>
                  <a:t>unconstrained benchmark</a:t>
                </a:r>
                <a:r>
                  <a:rPr lang="en-US" sz="1200" b="0" i="0" dirty="0">
                    <a:effectLst/>
                    <a:latin typeface="ui-sans-serif"/>
                  </a:rPr>
                  <a:t>. 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it-IT" sz="1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C957474-E3BE-8AC3-3893-0E3156A1B3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899" y="1073014"/>
                <a:ext cx="8377447" cy="830997"/>
              </a:xfrm>
              <a:prstGeom prst="rect">
                <a:avLst/>
              </a:prstGeom>
              <a:blipFill>
                <a:blip r:embed="rId3"/>
                <a:stretch>
                  <a:fillRect t="-73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8132E53B-390D-7EDD-B224-615ABC6E4528}"/>
              </a:ext>
            </a:extLst>
          </p:cNvPr>
          <p:cNvGrpSpPr/>
          <p:nvPr/>
        </p:nvGrpSpPr>
        <p:grpSpPr>
          <a:xfrm>
            <a:off x="428654" y="1870471"/>
            <a:ext cx="3922698" cy="2607928"/>
            <a:chOff x="428399" y="2351138"/>
            <a:chExt cx="3922698" cy="2426938"/>
          </a:xfrm>
        </p:grpSpPr>
        <p:sp>
          <p:nvSpPr>
            <p:cNvPr id="11" name="Rectangle: Top Corners Rounded 10">
              <a:extLst>
                <a:ext uri="{FF2B5EF4-FFF2-40B4-BE49-F238E27FC236}">
                  <a16:creationId xmlns:a16="http://schemas.microsoft.com/office/drawing/2014/main" id="{1D8CBE2D-DBCE-8040-B591-4F4916E577BE}"/>
                </a:ext>
              </a:extLst>
            </p:cNvPr>
            <p:cNvSpPr/>
            <p:nvPr/>
          </p:nvSpPr>
          <p:spPr>
            <a:xfrm>
              <a:off x="428399" y="2388717"/>
              <a:ext cx="3922696" cy="2389359"/>
            </a:xfrm>
            <a:prstGeom prst="round2SameRect">
              <a:avLst>
                <a:gd name="adj1" fmla="val 8835"/>
                <a:gd name="adj2" fmla="val 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2" name="Rectangle: Top Corners Rounded 11">
              <a:extLst>
                <a:ext uri="{FF2B5EF4-FFF2-40B4-BE49-F238E27FC236}">
                  <a16:creationId xmlns:a16="http://schemas.microsoft.com/office/drawing/2014/main" id="{56DE1454-A3FA-0D89-BDE6-571E9C1BE226}"/>
                </a:ext>
              </a:extLst>
            </p:cNvPr>
            <p:cNvSpPr/>
            <p:nvPr/>
          </p:nvSpPr>
          <p:spPr>
            <a:xfrm>
              <a:off x="428399" y="2351138"/>
              <a:ext cx="3922698" cy="233003"/>
            </a:xfrm>
            <a:prstGeom prst="round2SameRect">
              <a:avLst>
                <a:gd name="adj1" fmla="val 46979"/>
                <a:gd name="adj2" fmla="val 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b="1" noProof="0" dirty="0"/>
                <a:t>Asset returns</a:t>
              </a:r>
              <a:endParaRPr lang="en-US" sz="1050" noProof="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B0C2E582-C1E9-C009-81BD-B128730579D7}"/>
                    </a:ext>
                  </a:extLst>
                </p:cNvPr>
                <p:cNvSpPr txBox="1"/>
                <p:nvPr/>
              </p:nvSpPr>
              <p:spPr>
                <a:xfrm>
                  <a:off x="720859" y="2693582"/>
                  <a:ext cx="3337775" cy="177578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6350" algn="ctr"/>
                  <a:r>
                    <a:rPr lang="en-GB" sz="1200" dirty="0"/>
                    <a:t>At each time step, asset returns are drawn from a multivariate normal distribution:</a:t>
                  </a:r>
                </a:p>
                <a:p>
                  <a:pPr marL="6350" algn="ctr"/>
                  <a:endParaRPr lang="en-GB" sz="1100" dirty="0"/>
                </a:p>
                <a:p>
                  <a:pPr marL="6350"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GB" sz="1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GB" sz="1200" b="1" i="1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GB" sz="12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200" b="1" i="1">
                          <a:latin typeface="Cambria Math" panose="02040503050406030204" pitchFamily="18" charset="0"/>
                        </a:rPr>
                        <m:t>𝝁</m:t>
                      </m:r>
                      <m:r>
                        <a:rPr lang="en-GB" sz="12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200" b="1" i="1"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GB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GB" sz="1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1" i="1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GB" sz="1200" b="1" i="1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</m:oMath>
                  </a14:m>
                  <a:r>
                    <a:rPr lang="en-GB" sz="1100" dirty="0"/>
                    <a:t>,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GB" sz="1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1" i="1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GB" sz="1200" b="1" i="1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GB" sz="1200" b="1" i="1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GB" sz="1200" b="1" i="1">
                          <a:latin typeface="Cambria Math" panose="02040503050406030204" pitchFamily="18" charset="0"/>
                        </a:rPr>
                        <m:t>𝓝</m:t>
                      </m:r>
                      <m:d>
                        <m:dPr>
                          <m:ctrlPr>
                            <a:rPr lang="en-GB" sz="1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2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it-IT" sz="1200" b="1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it-IT" sz="12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</m:oMath>
                  </a14:m>
                  <a:endParaRPr lang="en-GB" sz="1100" b="1" dirty="0"/>
                </a:p>
                <a:p>
                  <a:pPr marL="6350" algn="ctr"/>
                  <a:endParaRPr lang="en-GB" sz="1100" b="1" dirty="0"/>
                </a:p>
                <a:p>
                  <a:pPr marL="6350" algn="ctr"/>
                  <a:r>
                    <a:rPr lang="en-GB" sz="1200" dirty="0"/>
                    <a:t>where </a:t>
                  </a:r>
                  <a14:m>
                    <m:oMath xmlns:m="http://schemas.openxmlformats.org/officeDocument/2006/math">
                      <m:r>
                        <a:rPr lang="en-GB" sz="1200">
                          <a:latin typeface="Cambria Math" panose="02040503050406030204" pitchFamily="18" charset="0"/>
                        </a:rPr>
                        <m:t>𝑪</m:t>
                      </m:r>
                    </m:oMath>
                  </a14:m>
                  <a:r>
                    <a:rPr lang="en-GB" sz="1200" dirty="0"/>
                    <a:t> is the Cholesky decomposition of </a:t>
                  </a:r>
                  <a14:m>
                    <m:oMath xmlns:m="http://schemas.openxmlformats.org/officeDocument/2006/math">
                      <m:r>
                        <a:rPr lang="el-GR" sz="1200" b="1" i="1">
                          <a:latin typeface="Cambria Math" panose="02040503050406030204" pitchFamily="18" charset="0"/>
                        </a:rPr>
                        <m:t>𝚺</m:t>
                      </m:r>
                    </m:oMath>
                  </a14:m>
                  <a:r>
                    <a:rPr lang="en-GB" sz="1200" dirty="0"/>
                    <a:t>,</a:t>
                  </a:r>
                  <a:br>
                    <a:rPr lang="en-GB" sz="1200" dirty="0"/>
                  </a:br>
                  <a:r>
                    <a:rPr lang="en-GB" sz="1200" dirty="0"/>
                    <a:t>so that cross-asset correlations are preserved exactly. </a:t>
                  </a:r>
                </a:p>
                <a:p>
                  <a:pPr marL="6350" algn="ctr"/>
                  <a:r>
                    <a:rPr lang="en-GB" sz="1200" dirty="0"/>
                    <a:t>The vector </a:t>
                  </a:r>
                  <a14:m>
                    <m:oMath xmlns:m="http://schemas.openxmlformats.org/officeDocument/2006/math">
                      <m:r>
                        <a:rPr lang="en-GB" sz="1200">
                          <a:latin typeface="Cambria Math" panose="02040503050406030204" pitchFamily="18" charset="0"/>
                        </a:rPr>
                        <m:t>𝝁</m:t>
                      </m:r>
                      <m:r>
                        <a:rPr lang="en-GB" sz="120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GB" sz="1200" dirty="0"/>
                    <a:t>contains the expected returns from Amundi’s CMA.</a:t>
                  </a: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B0C2E582-C1E9-C009-81BD-B128730579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0859" y="2693582"/>
                  <a:ext cx="3337775" cy="1775785"/>
                </a:xfrm>
                <a:prstGeom prst="rect">
                  <a:avLst/>
                </a:prstGeom>
                <a:blipFill>
                  <a:blip r:embed="rId4"/>
                  <a:stretch>
                    <a:fillRect t="-319" r="-365" b="-1278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7C41B3B-74CB-56D9-C99D-54337B743693}"/>
              </a:ext>
            </a:extLst>
          </p:cNvPr>
          <p:cNvGrpSpPr/>
          <p:nvPr/>
        </p:nvGrpSpPr>
        <p:grpSpPr>
          <a:xfrm>
            <a:off x="4793152" y="1870470"/>
            <a:ext cx="3922700" cy="2607929"/>
            <a:chOff x="4792647" y="1750763"/>
            <a:chExt cx="3922700" cy="2426937"/>
          </a:xfrm>
        </p:grpSpPr>
        <p:sp>
          <p:nvSpPr>
            <p:cNvPr id="14" name="Rectangle: Top Corners Rounded 13">
              <a:extLst>
                <a:ext uri="{FF2B5EF4-FFF2-40B4-BE49-F238E27FC236}">
                  <a16:creationId xmlns:a16="http://schemas.microsoft.com/office/drawing/2014/main" id="{8C211B6C-D5A5-D865-C8A8-85A84DBB1C90}"/>
                </a:ext>
              </a:extLst>
            </p:cNvPr>
            <p:cNvSpPr/>
            <p:nvPr/>
          </p:nvSpPr>
          <p:spPr>
            <a:xfrm>
              <a:off x="4792647" y="1832893"/>
              <a:ext cx="3922696" cy="2344807"/>
            </a:xfrm>
            <a:prstGeom prst="round2SameRect">
              <a:avLst>
                <a:gd name="adj1" fmla="val 8835"/>
                <a:gd name="adj2" fmla="val 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GB" sz="1200" dirty="0"/>
            </a:p>
          </p:txBody>
        </p:sp>
        <p:sp>
          <p:nvSpPr>
            <p:cNvPr id="15" name="Rectangle: Top Corners Rounded 14">
              <a:extLst>
                <a:ext uri="{FF2B5EF4-FFF2-40B4-BE49-F238E27FC236}">
                  <a16:creationId xmlns:a16="http://schemas.microsoft.com/office/drawing/2014/main" id="{AA8FFA0C-9F27-92AA-4819-671DB320B610}"/>
                </a:ext>
              </a:extLst>
            </p:cNvPr>
            <p:cNvSpPr/>
            <p:nvPr/>
          </p:nvSpPr>
          <p:spPr>
            <a:xfrm>
              <a:off x="4792649" y="1750763"/>
              <a:ext cx="3922698" cy="233002"/>
            </a:xfrm>
            <a:prstGeom prst="round2SameRect">
              <a:avLst>
                <a:gd name="adj1" fmla="val 46979"/>
                <a:gd name="adj2" fmla="val 0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b="1" noProof="0" dirty="0"/>
                <a:t>Annual Payout</a:t>
              </a:r>
              <a:endParaRPr lang="en-US" sz="1050" noProof="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7401076-A8D9-AA2F-BBB8-A67F340A5224}"/>
                  </a:ext>
                </a:extLst>
              </p:cNvPr>
              <p:cNvSpPr txBox="1"/>
              <p:nvPr/>
            </p:nvSpPr>
            <p:spPr>
              <a:xfrm>
                <a:off x="4991456" y="2202876"/>
                <a:ext cx="3526088" cy="25354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6350" algn="ctr">
                  <a:defRPr sz="1100"/>
                </a:lvl1pPr>
              </a:lstStyle>
              <a:p>
                <a:r>
                  <a:rPr lang="en-GB" sz="1200" dirty="0"/>
                  <a:t>The annual payout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200">
                            <a:latin typeface="Cambria Math" panose="02040503050406030204" pitchFamily="18" charset="0"/>
                          </a:rPr>
                          <m:t>𝜹</m:t>
                        </m:r>
                      </m:e>
                      <m:sub>
                        <m:r>
                          <a:rPr lang="it-IT" sz="120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GB" sz="1200" dirty="0"/>
                  <a:t> follows a mean-reverting AR(1) process, correlated with the equity shock:</a:t>
                </a:r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𝜹</m:t>
                          </m:r>
                        </m:e>
                        <m:sub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it-IT" b="1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𝜹</m:t>
                          </m:r>
                        </m:e>
                      </m:acc>
                      <m:r>
                        <a:rPr lang="it-IT" b="1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𝝆</m:t>
                          </m:r>
                        </m:e>
                        <m:sub>
                          <m:r>
                            <a:rPr lang="it-IT" b="1" i="1">
                              <a:latin typeface="Cambria Math" panose="02040503050406030204" pitchFamily="18" charset="0"/>
                            </a:rPr>
                            <m:t>𝑨𝑹</m:t>
                          </m:r>
                        </m:sub>
                      </m:sSub>
                      <m:d>
                        <m:dPr>
                          <m:ctrlPr>
                            <a:rPr lang="it-IT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𝜹</m:t>
                              </m:r>
                            </m:e>
                            <m:sub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  <m:r>
                                <a:rPr lang="it-IT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it-IT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it-IT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𝜹</m:t>
                              </m:r>
                            </m:e>
                          </m:acc>
                        </m:e>
                      </m:d>
                      <m:r>
                        <a:rPr lang="it-IT" b="1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𝝈</m:t>
                          </m:r>
                        </m:e>
                        <m:sub>
                          <m:r>
                            <a:rPr lang="en-GB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𝜹</m:t>
                          </m:r>
                        </m:sub>
                      </m:sSub>
                      <m:d>
                        <m:dPr>
                          <m:ctrlPr>
                            <a:rPr lang="it-IT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𝝆</m:t>
                          </m:r>
                          <m:r>
                            <a:rPr lang="en-GB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Sup>
                            <m:sSubSupPr>
                              <m:ctrlPr>
                                <a:rPr lang="it-IT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it-IT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it-IT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𝒕</m:t>
                              </m:r>
                            </m:sub>
                            <m:sup>
                              <m:r>
                                <a:rPr lang="it-IT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𝑬𝑸</m:t>
                              </m:r>
                            </m:sup>
                          </m:sSubSup>
                          <m:r>
                            <a:rPr lang="it-IT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ad>
                            <m:radPr>
                              <m:degHide m:val="on"/>
                              <m:ctrlPr>
                                <a:rPr lang="it-IT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it-IT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it-IT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it-IT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it-IT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𝝆</m:t>
                                  </m:r>
                                </m:e>
                                <m:sup>
                                  <m:r>
                                    <a:rPr lang="it-IT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rad>
                          <m:r>
                            <a:rPr lang="en-GB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it-IT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𝜺</m:t>
                              </m:r>
                            </m:e>
                            <m:sub>
                              <m:r>
                                <a:rPr lang="it-IT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𝒕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b="1" dirty="0">
                  <a:effectLst/>
                </a:endParaRPr>
              </a:p>
              <a:p>
                <a:endParaRPr lang="en-GB" dirty="0"/>
              </a:p>
              <a:p>
                <a:r>
                  <a:rPr lang="en-GB" sz="1200" dirty="0"/>
                  <a:t>where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GB" sz="12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200" b="1" i="1">
                            <a:latin typeface="Cambria Math" panose="02040503050406030204" pitchFamily="18" charset="0"/>
                          </a:rPr>
                          <m:t>𝜹</m:t>
                        </m:r>
                      </m:e>
                    </m:acc>
                  </m:oMath>
                </a14:m>
                <a:r>
                  <a:rPr lang="en-GB" sz="1200" dirty="0"/>
                  <a:t> is the long-run mean payout rate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𝝆</m:t>
                        </m:r>
                      </m:e>
                      <m:sub>
                        <m:r>
                          <a:rPr lang="it-IT" sz="1200" b="1" i="1">
                            <a:latin typeface="Cambria Math" panose="02040503050406030204" pitchFamily="18" charset="0"/>
                          </a:rPr>
                          <m:t>𝑨𝑹</m:t>
                        </m:r>
                      </m:sub>
                    </m:sSub>
                  </m:oMath>
                </a14:m>
                <a:r>
                  <a:rPr lang="en-GB" sz="1200" dirty="0"/>
                  <a:t> is the persistence (spending rules change slowly), </a:t>
                </a:r>
                <a14:m>
                  <m:oMath xmlns:m="http://schemas.openxmlformats.org/officeDocument/2006/math">
                    <m:r>
                      <a:rPr lang="it-IT" sz="1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𝝆</m:t>
                    </m:r>
                  </m:oMath>
                </a14:m>
                <a:r>
                  <a:rPr lang="en-GB" sz="1200" dirty="0"/>
                  <a:t> is the correlation with equity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𝜺</m:t>
                        </m:r>
                      </m:e>
                      <m:sub>
                        <m:r>
                          <a:rPr lang="it-IT" sz="1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en-GB" sz="1200" dirty="0"/>
                  <a:t> the idiosyncratic shock.</a:t>
                </a:r>
              </a:p>
              <a:p>
                <a14:m>
                  <m:oMath xmlns:m="http://schemas.openxmlformats.org/officeDocument/2006/math">
                    <m:r>
                      <a:rPr lang="it-IT" sz="1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𝝆</m:t>
                    </m:r>
                    <m:r>
                      <a:rPr lang="it-IT" sz="1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it-IT" sz="1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GB" sz="1200" dirty="0"/>
                  <a:t>: payout pressure is highest when markets are down</a:t>
                </a:r>
              </a:p>
              <a:p>
                <a:endParaRPr lang="en-GB" sz="1200" dirty="0"/>
              </a:p>
              <a:p>
                <a:endParaRPr lang="en-GB" sz="12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7401076-A8D9-AA2F-BBB8-A67F340A52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1456" y="2202876"/>
                <a:ext cx="3526088" cy="2535438"/>
              </a:xfrm>
              <a:prstGeom prst="rect">
                <a:avLst/>
              </a:prstGeom>
              <a:blipFill>
                <a:blip r:embed="rId5"/>
                <a:stretch>
                  <a:fillRect t="-240" r="-51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Chapter tracker"/>
          <p:cNvSpPr txBox="1"/>
          <p:nvPr/>
        </p:nvSpPr>
        <p:spPr>
          <a:xfrm>
            <a:off x="3657600" y="182880"/>
            <a:ext cx="5056632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B0B2B5"/>
                </a:solidFill>
              </a:rPr>
              <a:t>01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02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1" i="0">
                <a:solidFill>
                  <a:srgbClr val="009EE0"/>
                </a:solidFill>
              </a:rPr>
              <a:t>03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04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05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646464"/>
                </a:solidFill>
              </a:rPr>
              <a:t>Calibrating the penalty curve by simulation</a:t>
            </a:r>
          </a:p>
        </p:txBody>
      </p:sp>
    </p:spTree>
    <p:extLst>
      <p:ext uri="{BB962C8B-B14F-4D97-AF65-F5344CB8AC3E}">
        <p14:creationId xmlns:p14="http://schemas.microsoft.com/office/powerpoint/2010/main" val="38779126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699C8-EDE4-212B-85E4-6B03313CB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714C07-FEEB-6AFB-C898-5A0278A62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Simulation Design: Lock-ups, Haircuts &amp; Costs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BC3286A-8F01-ADD7-EC26-608535F70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Pricing Illiquidity in Strategic Asset Allocation  l  October 2026</a:t>
            </a:r>
            <a:endParaRPr lang="en-GB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E660AE3-B14C-1ABB-D8AE-DED24D218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C6FFC-D040-034F-8B69-20295064E64D}" type="slidenum">
              <a:rPr lang="fr-FR" smtClean="0"/>
              <a:t>9</a:t>
            </a:fld>
            <a:endParaRPr lang="fr-FR" dirty="0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D88833E0-B710-E06A-A1B6-1430693C035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 dirty="0" err="1"/>
              <a:t>Tranche tracking and secondary-market frictions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3C764E1-9017-CFF4-657A-C071ACD1D5C3}"/>
                  </a:ext>
                </a:extLst>
              </p:cNvPr>
              <p:cNvSpPr txBox="1"/>
              <p:nvPr/>
            </p:nvSpPr>
            <p:spPr>
              <a:xfrm>
                <a:off x="338405" y="1041118"/>
                <a:ext cx="8377447" cy="23932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GB" sz="1200" dirty="0">
                    <a:latin typeface="Arial"/>
                  </a:rPr>
                  <a:t>Each illiquid asset class is subject to a </a:t>
                </a:r>
                <a:r>
                  <a:rPr lang="en-GB" sz="1200" b="1" dirty="0">
                    <a:latin typeface="Arial"/>
                  </a:rPr>
                  <a:t>lock-up period </a:t>
                </a:r>
                <a:r>
                  <a:rPr lang="en-GB" sz="1200" dirty="0">
                    <a:latin typeface="Arial"/>
                  </a:rPr>
                  <a:t>during which positions cannot be freely liquidated: </a:t>
                </a:r>
                <a:r>
                  <a:rPr lang="en-US" sz="1200" dirty="0">
                    <a:latin typeface="Arial"/>
                  </a:rPr>
                  <a:t>HF_FOF carries a 2-year lock-up, GLOB_RE 5 years, and GLOB_PE 8 years</a:t>
                </a:r>
                <a:r>
                  <a:rPr lang="en-GB" sz="1200" dirty="0">
                    <a:latin typeface="Arial"/>
                  </a:rPr>
                  <a:t>. These constraints are enforced through a </a:t>
                </a:r>
                <a:r>
                  <a:rPr lang="en-GB" sz="1200" b="1" dirty="0">
                    <a:latin typeface="Arial"/>
                  </a:rPr>
                  <a:t>tranche-tracking system </a:t>
                </a:r>
                <a:r>
                  <a:rPr lang="en-GB" sz="1200" dirty="0">
                    <a:latin typeface="Arial"/>
                  </a:rPr>
                  <a:t>that records the purchase date of each position. 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GB" sz="1200" dirty="0">
                  <a:latin typeface="Arial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200" dirty="0">
                    <a:latin typeface="Arial"/>
                  </a:rPr>
                  <a:t>When a locked position must be liquidated before expiry - either to meet the annual payout or to restore the minimum liquidity buffer - the fund incurs an </a:t>
                </a:r>
                <a:r>
                  <a:rPr lang="en-US" sz="1200" b="1" dirty="0">
                    <a:latin typeface="Arial"/>
                  </a:rPr>
                  <a:t>asset-specific haircut</a:t>
                </a:r>
                <a:r>
                  <a:rPr lang="en-US" sz="1200" dirty="0">
                    <a:latin typeface="Arial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200" b="1" i="1" smtClean="0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it-IT" sz="12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1200" b="1" dirty="0">
                    <a:latin typeface="Arial"/>
                  </a:rPr>
                  <a:t> </a:t>
                </a:r>
                <a:r>
                  <a:rPr lang="en-US" sz="1200" dirty="0">
                    <a:latin typeface="Arial"/>
                  </a:rPr>
                  <a:t>reflecting secondary market transaction costs. </a:t>
                </a:r>
                <a:r>
                  <a:rPr lang="en-GB" sz="1200" dirty="0">
                    <a:latin typeface="Arial"/>
                  </a:rPr>
                  <a:t>For example, an early exit from GLOB_PE costs 20%, from GLOB_RE 12%, and from HF_FOF 5%. </a:t>
                </a:r>
                <a:r>
                  <a:rPr lang="en-US" sz="1200" dirty="0">
                    <a:latin typeface="Arial"/>
                  </a:rPr>
                  <a:t>Haircuts are held constant throughout the simulation.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sz="1200" dirty="0">
                  <a:latin typeface="Arial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200" dirty="0">
                    <a:latin typeface="Arial"/>
                  </a:rPr>
                  <a:t>The cost captures </a:t>
                </a:r>
                <a:r>
                  <a:rPr lang="en-US" sz="1200" b="1" dirty="0">
                    <a:latin typeface="Arial"/>
                  </a:rPr>
                  <a:t>three sources of friction</a:t>
                </a:r>
                <a:r>
                  <a:rPr lang="en-US" sz="1200" dirty="0">
                    <a:latin typeface="Arial"/>
                  </a:rPr>
                  <a:t>: </a:t>
                </a:r>
                <a:r>
                  <a:rPr lang="en-US" sz="1200" b="1" dirty="0">
                    <a:latin typeface="Arial"/>
                  </a:rPr>
                  <a:t>rebalancing gap </a:t>
                </a:r>
                <a:r>
                  <a:rPr lang="en-US" sz="1200" dirty="0">
                    <a:latin typeface="Arial"/>
                  </a:rPr>
                  <a:t>from lock-up constraints, and the </a:t>
                </a:r>
                <a:r>
                  <a:rPr lang="en-US" sz="1200" b="1" dirty="0">
                    <a:latin typeface="Arial"/>
                  </a:rPr>
                  <a:t>haircuts</a:t>
                </a:r>
                <a:r>
                  <a:rPr lang="en-US" sz="1200" dirty="0">
                    <a:latin typeface="Arial"/>
                  </a:rPr>
                  <a:t> paid on locked assets sold to restore the liquidity buffer and to meet the proportional payout. Simulated costs are used to fit </a:t>
                </a:r>
                <a14:m>
                  <m:oMath xmlns:m="http://schemas.openxmlformats.org/officeDocument/2006/math">
                    <m:r>
                      <a:rPr lang="it-IT" sz="12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it-IT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12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  <m:r>
                      <a:rPr lang="it-IT" sz="12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it-IT" sz="1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num>
                      <m:den>
                        <m:r>
                          <a:rPr lang="it-IT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  <m:r>
                          <a:rPr lang="it-IT" sz="1200" i="1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  <m:sSup>
                      <m:sSupPr>
                        <m:ctrlPr>
                          <a:rPr lang="it-IT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sz="12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it-IT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  <m:r>
                          <a:rPr lang="it-IT" sz="1200" i="1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</m:oMath>
                </a14:m>
                <a:r>
                  <a:rPr lang="en-US" sz="1200" dirty="0">
                    <a:latin typeface="Arial"/>
                  </a:rPr>
                  <a:t>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sz="1200" dirty="0">
                  <a:latin typeface="Arial"/>
                </a:endParaRPr>
              </a:p>
              <a:p>
                <a:endParaRPr lang="it-IT" sz="12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3C764E1-9017-CFF4-657A-C071ACD1D5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05" y="1041118"/>
                <a:ext cx="8377447" cy="2393219"/>
              </a:xfrm>
              <a:prstGeom prst="rect">
                <a:avLst/>
              </a:prstGeom>
              <a:blipFill>
                <a:blip r:embed="rId3"/>
                <a:stretch>
                  <a:fillRect t="-25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Lock-up and haircut table"/>
          <p:cNvGraphicFramePr>
            <a:graphicFrameLocks noGrp="1"/>
          </p:cNvGraphicFramePr>
          <p:nvPr/>
        </p:nvGraphicFramePr>
        <p:xfrm>
          <a:off x="429768" y="3072384"/>
          <a:ext cx="8284464" cy="1344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325880"/>
                <a:gridCol w="1188720"/>
                <a:gridCol w="1097280"/>
                <a:gridCol w="3483864"/>
              </a:tblGrid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Asset class</a:t>
                      </a:r>
                    </a:p>
                  </a:txBody>
                  <a:tcPr marT="18288" marB="18288" anchor="ctr">
                    <a:solidFill>
                      <a:srgbClr val="003C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Illiquidity index lᵢ</a:t>
                      </a:r>
                    </a:p>
                  </a:txBody>
                  <a:tcPr marT="18288" marB="18288" anchor="ctr">
                    <a:solidFill>
                      <a:srgbClr val="003C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Lock-up (years)</a:t>
                      </a:r>
                    </a:p>
                  </a:txBody>
                  <a:tcPr marT="18288" marB="18288" anchor="ctr">
                    <a:solidFill>
                      <a:srgbClr val="003C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Haircut</a:t>
                      </a:r>
                    </a:p>
                  </a:txBody>
                  <a:tcPr marT="18288" marB="18288" anchor="ctr">
                    <a:solidFill>
                      <a:srgbClr val="003C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Calibration rationale</a:t>
                      </a:r>
                    </a:p>
                  </a:txBody>
                  <a:tcPr marT="18288" marB="18288" anchor="ctr">
                    <a:solidFill>
                      <a:srgbClr val="003C64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3C64"/>
                          </a:solidFill>
                        </a:rPr>
                        <a:t>MM_US</a:t>
                      </a:r>
                    </a:p>
                  </a:txBody>
                  <a:tcPr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3C64"/>
                          </a:solidFill>
                        </a:rPr>
                        <a:t>0.00</a:t>
                      </a:r>
                    </a:p>
                  </a:txBody>
                  <a:tcPr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3C64"/>
                          </a:solidFill>
                        </a:rPr>
                        <a:t>0</a:t>
                      </a:r>
                    </a:p>
                  </a:txBody>
                  <a:tcPr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3C64"/>
                          </a:solidFill>
                        </a:rPr>
                        <a:t>0.05%</a:t>
                      </a:r>
                    </a:p>
                  </a:txBody>
                  <a:tcPr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3C64"/>
                          </a:solidFill>
                        </a:rPr>
                        <a:t>Institutional transaction costs</a:t>
                      </a:r>
                    </a:p>
                  </a:txBody>
                  <a:tcPr marT="18288" marB="18288" anchor="ctr">
                    <a:solidFill>
                      <a:srgbClr val="F2F2F2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3C64"/>
                          </a:solidFill>
                        </a:rPr>
                        <a:t>GLOB_AGG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3C64"/>
                          </a:solidFill>
                        </a:rPr>
                        <a:t>0.11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3C64"/>
                          </a:solidFill>
                        </a:rPr>
                        <a:t>0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3C64"/>
                          </a:solidFill>
                        </a:rPr>
                        <a:t>0.10%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3C64"/>
                          </a:solidFill>
                        </a:rPr>
                        <a:t>Institutional transaction costs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3C64"/>
                          </a:solidFill>
                        </a:rPr>
                        <a:t>GLOB_EQ</a:t>
                      </a:r>
                    </a:p>
                  </a:txBody>
                  <a:tcPr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3C64"/>
                          </a:solidFill>
                        </a:rPr>
                        <a:t>0.13</a:t>
                      </a:r>
                    </a:p>
                  </a:txBody>
                  <a:tcPr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3C64"/>
                          </a:solidFill>
                        </a:rPr>
                        <a:t>0</a:t>
                      </a:r>
                    </a:p>
                  </a:txBody>
                  <a:tcPr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3C64"/>
                          </a:solidFill>
                        </a:rPr>
                        <a:t>0.50%</a:t>
                      </a:r>
                    </a:p>
                  </a:txBody>
                  <a:tcPr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3C64"/>
                          </a:solidFill>
                        </a:rPr>
                        <a:t>Institutional transaction costs</a:t>
                      </a:r>
                    </a:p>
                  </a:txBody>
                  <a:tcPr marT="18288" marB="18288" anchor="ctr">
                    <a:solidFill>
                      <a:srgbClr val="F2F2F2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3C64"/>
                          </a:solidFill>
                        </a:rPr>
                        <a:t>HF_FOF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3C64"/>
                          </a:solidFill>
                        </a:rPr>
                        <a:t>0.38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3C64"/>
                          </a:solidFill>
                        </a:rPr>
                        <a:t>2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E6325E"/>
                          </a:solidFill>
                        </a:rPr>
                        <a:t>5.0%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3C64"/>
                          </a:solidFill>
                        </a:rPr>
                        <a:t>Redemption gates and notice periods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3C64"/>
                          </a:solidFill>
                        </a:rPr>
                        <a:t>GLOB_RE</a:t>
                      </a:r>
                    </a:p>
                  </a:txBody>
                  <a:tcPr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3C64"/>
                          </a:solidFill>
                        </a:rPr>
                        <a:t>0.50</a:t>
                      </a:r>
                    </a:p>
                  </a:txBody>
                  <a:tcPr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3C64"/>
                          </a:solidFill>
                        </a:rPr>
                        <a:t>5</a:t>
                      </a:r>
                    </a:p>
                  </a:txBody>
                  <a:tcPr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E6325E"/>
                          </a:solidFill>
                        </a:rPr>
                        <a:t>12.0%</a:t>
                      </a:r>
                    </a:p>
                  </a:txBody>
                  <a:tcPr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3C64"/>
                          </a:solidFill>
                        </a:rPr>
                        <a:t>RE fund secondaries, lower end of range</a:t>
                      </a:r>
                    </a:p>
                  </a:txBody>
                  <a:tcPr marT="18288" marB="18288" anchor="ctr">
                    <a:solidFill>
                      <a:srgbClr val="F2F2F2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3C64"/>
                          </a:solidFill>
                        </a:rPr>
                        <a:t>GLOB_PE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3C64"/>
                          </a:solidFill>
                        </a:rPr>
                        <a:t>1.00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3C64"/>
                          </a:solidFill>
                        </a:rPr>
                        <a:t>8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E6325E"/>
                          </a:solidFill>
                        </a:rPr>
                        <a:t>20.0%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3C64"/>
                          </a:solidFill>
                        </a:rPr>
                        <a:t>Avg. discount 13.8%, higher in stress (Nadauld et al.)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Chapter tracker"/>
          <p:cNvSpPr txBox="1"/>
          <p:nvPr/>
        </p:nvSpPr>
        <p:spPr>
          <a:xfrm>
            <a:off x="3657600" y="182880"/>
            <a:ext cx="5056632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B0B2B5"/>
                </a:solidFill>
              </a:rPr>
              <a:t>01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02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1" i="0">
                <a:solidFill>
                  <a:srgbClr val="009EE0"/>
                </a:solidFill>
              </a:rPr>
              <a:t>03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04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05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646464"/>
                </a:solidFill>
              </a:rPr>
              <a:t>Calibrating the penalty curve by simulation</a:t>
            </a:r>
          </a:p>
        </p:txBody>
      </p:sp>
    </p:spTree>
    <p:extLst>
      <p:ext uri="{BB962C8B-B14F-4D97-AF65-F5344CB8AC3E}">
        <p14:creationId xmlns:p14="http://schemas.microsoft.com/office/powerpoint/2010/main" val="22266565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954C4-8D2E-2DC1-25CB-150BAB50F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rved Right Arrow 91">
            <a:extLst>
              <a:ext uri="{FF2B5EF4-FFF2-40B4-BE49-F238E27FC236}">
                <a16:creationId xmlns:a16="http://schemas.microsoft.com/office/drawing/2014/main" id="{DE9C3BFE-52D3-F85A-C60D-7B07FFD535C4}"/>
              </a:ext>
            </a:extLst>
          </p:cNvPr>
          <p:cNvSpPr>
            <a:spLocks/>
          </p:cNvSpPr>
          <p:nvPr/>
        </p:nvSpPr>
        <p:spPr>
          <a:xfrm rot="5400000">
            <a:off x="3405120" y="-398608"/>
            <a:ext cx="447215" cy="7077121"/>
          </a:xfrm>
          <a:prstGeom prst="curvedRightArrow">
            <a:avLst>
              <a:gd name="adj1" fmla="val 41956"/>
              <a:gd name="adj2" fmla="val 87186"/>
              <a:gd name="adj3" fmla="val 23553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sz="100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F99C507-C04A-AF79-2DD7-79FA52D62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The Annual Simulation Cycle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778F393-3C54-07A7-0C84-59B3503BA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Pricing Illiquidity in Strategic Asset Allocation  l  October 2026</a:t>
            </a:r>
            <a:endParaRPr lang="en-GB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913B00C-E561-312B-CF56-F8DADEDD3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C6FFC-D040-034F-8B69-20295064E64D}" type="slidenum">
              <a:rPr lang="fr-FR" smtClean="0"/>
              <a:t>10</a:t>
            </a:fld>
            <a:endParaRPr lang="fr-FR" dirty="0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6F205DB0-8A1E-1453-A7C2-C1BC6F1769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 dirty="0"/>
              <a:t>Five steps from market returns to the fitted penalty</a:t>
            </a:r>
            <a:endParaRPr lang="it-IT" dirty="0"/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DA6EFD00-B3D0-D72C-9066-1B16B7FE89AE}"/>
              </a:ext>
            </a:extLst>
          </p:cNvPr>
          <p:cNvGrpSpPr/>
          <p:nvPr/>
        </p:nvGrpSpPr>
        <p:grpSpPr>
          <a:xfrm>
            <a:off x="136502" y="1191037"/>
            <a:ext cx="8870995" cy="2930003"/>
            <a:chOff x="337757" y="1325780"/>
            <a:chExt cx="8972390" cy="3182546"/>
          </a:xfrm>
        </p:grpSpPr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173EFB28-E7D9-836B-EA7D-24D8096BA110}"/>
                </a:ext>
              </a:extLst>
            </p:cNvPr>
            <p:cNvGrpSpPr/>
            <p:nvPr/>
          </p:nvGrpSpPr>
          <p:grpSpPr>
            <a:xfrm>
              <a:off x="337757" y="1326906"/>
              <a:ext cx="1952228" cy="3180294"/>
              <a:chOff x="273005" y="1913562"/>
              <a:chExt cx="1952228" cy="2801538"/>
            </a:xfrm>
          </p:grpSpPr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6A207CE4-766D-1D0E-F7C9-2F5920FFFB21}"/>
                  </a:ext>
                </a:extLst>
              </p:cNvPr>
              <p:cNvGrpSpPr/>
              <p:nvPr/>
            </p:nvGrpSpPr>
            <p:grpSpPr>
              <a:xfrm>
                <a:off x="428652" y="1913562"/>
                <a:ext cx="1610424" cy="2801538"/>
                <a:chOff x="428652" y="1913562"/>
                <a:chExt cx="1610424" cy="2801538"/>
              </a:xfrm>
            </p:grpSpPr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6FDC196C-CFD7-63F1-1390-3BB4EEAFE92D}"/>
                    </a:ext>
                  </a:extLst>
                </p:cNvPr>
                <p:cNvSpPr/>
                <p:nvPr/>
              </p:nvSpPr>
              <p:spPr>
                <a:xfrm>
                  <a:off x="428652" y="1996888"/>
                  <a:ext cx="1610424" cy="2718212"/>
                </a:xfrm>
                <a:prstGeom prst="rect">
                  <a:avLst/>
                </a:prstGeom>
                <a:solidFill>
                  <a:srgbClr val="FCEAE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it-IT" sz="14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" name="Rectangle: Rounded Corners 16">
                  <a:extLst>
                    <a:ext uri="{FF2B5EF4-FFF2-40B4-BE49-F238E27FC236}">
                      <a16:creationId xmlns:a16="http://schemas.microsoft.com/office/drawing/2014/main" id="{D9271600-7FA6-C3F6-46AA-67EBD384ACE3}"/>
                    </a:ext>
                  </a:extLst>
                </p:cNvPr>
                <p:cNvSpPr/>
                <p:nvPr/>
              </p:nvSpPr>
              <p:spPr>
                <a:xfrm>
                  <a:off x="560951" y="1913562"/>
                  <a:ext cx="1376336" cy="329790"/>
                </a:xfrm>
                <a:prstGeom prst="roundRect">
                  <a:avLst/>
                </a:prstGeom>
                <a:solidFill>
                  <a:srgbClr val="004F9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it-IT" sz="1400" b="1" dirty="0">
                    <a:solidFill>
                      <a:srgbClr val="FFFFFF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1" name="TextBox 20">
                      <a:extLst>
                        <a:ext uri="{FF2B5EF4-FFF2-40B4-BE49-F238E27FC236}">
                          <a16:creationId xmlns:a16="http://schemas.microsoft.com/office/drawing/2014/main" id="{8C871197-F84C-47A5-BD88-AC71F7A2971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85993" y="2350376"/>
                      <a:ext cx="1508961" cy="14504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 algn="ctr"/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en-US" sz="8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800" b="1" i="1" dirty="0" smtClean="0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it-IT" sz="800" b="1" i="1" dirty="0" smtClean="0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b>
                          </m:sSub>
                          <m:r>
                            <a:rPr lang="en-US" sz="800" b="1" i="1" dirty="0">
                              <a:latin typeface="Cambria Math" panose="02040503050406030204" pitchFamily="18" charset="0"/>
                            </a:rPr>
                            <m:t> ~ </m:t>
                          </m:r>
                          <m:r>
                            <a:rPr lang="en-US" sz="800" b="1" i="1" dirty="0">
                              <a:latin typeface="Cambria Math" panose="02040503050406030204" pitchFamily="18" charset="0"/>
                            </a:rPr>
                            <m:t>𝑵</m:t>
                          </m:r>
                          <m:r>
                            <a:rPr lang="en-US" sz="800" b="1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800" b="1" i="1" dirty="0" err="1">
                              <a:latin typeface="Cambria Math" panose="02040503050406030204" pitchFamily="18" charset="0"/>
                            </a:rPr>
                            <m:t>𝝁</m:t>
                          </m:r>
                          <m:r>
                            <a:rPr lang="it-IT" sz="800" b="1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800" b="1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800" b="1" i="0" dirty="0">
                              <a:latin typeface="Cambria Math" panose="02040503050406030204" pitchFamily="18" charset="0"/>
                            </a:rPr>
                            <m:t>𝚺</m:t>
                          </m:r>
                          <m:r>
                            <a:rPr lang="en-US" sz="800" b="1" i="1" dirty="0">
                              <a:latin typeface="Cambria Math" panose="02040503050406030204" pitchFamily="18" charset="0"/>
                            </a:rPr>
                            <m:t>) </m:t>
                          </m:r>
                        </m:oMath>
                      </a14:m>
                      <a:r>
                        <a:rPr lang="en-US" sz="800" b="1" dirty="0"/>
                        <a:t> </a:t>
                      </a:r>
                    </a:p>
                    <a:p>
                      <a:pPr algn="ctr"/>
                      <a:endParaRPr lang="en-US" sz="800" dirty="0"/>
                    </a:p>
                    <a:p>
                      <a:pPr algn="ctr"/>
                      <a:r>
                        <a:rPr lang="en-US" sz="800" b="1" dirty="0"/>
                        <a:t>Same realization </a:t>
                      </a:r>
                      <a:r>
                        <a:rPr lang="en-US" sz="800" dirty="0"/>
                        <a:t>shared by both </a:t>
                      </a:r>
                      <a:r>
                        <a:rPr lang="en-US" sz="800" b="1" dirty="0"/>
                        <a:t>benchmark and actual </a:t>
                      </a:r>
                      <a:r>
                        <a:rPr lang="en-US" sz="800" dirty="0"/>
                        <a:t>portfolio</a:t>
                      </a:r>
                    </a:p>
                    <a:p>
                      <a:pPr algn="ctr"/>
                      <a:endParaRPr lang="en-US" sz="800" dirty="0"/>
                    </a:p>
                    <a:p>
                      <a:pPr algn="ctr"/>
                      <a:r>
                        <a:rPr lang="en-US" sz="800" dirty="0"/>
                        <a:t>Ensures: any </a:t>
                      </a:r>
                      <a:r>
                        <a:rPr lang="en-US" sz="800" b="1" dirty="0"/>
                        <a:t>return difference captures </a:t>
                      </a:r>
                      <a:r>
                        <a:rPr lang="en-US" sz="800" dirty="0"/>
                        <a:t>only the effect of </a:t>
                      </a:r>
                      <a:r>
                        <a:rPr lang="en-US" sz="800" b="1" dirty="0"/>
                        <a:t>illiquidity constraints</a:t>
                      </a:r>
                      <a:r>
                        <a:rPr lang="en-US" sz="800" dirty="0"/>
                        <a:t>, not different market outcomes</a:t>
                      </a:r>
                    </a:p>
                    <a:p>
                      <a:pPr algn="ctr"/>
                      <a:endParaRPr lang="en-US" sz="800" dirty="0"/>
                    </a:p>
                    <a:p>
                      <a:pPr algn="ctr"/>
                      <a:endParaRPr lang="it-IT" sz="200" dirty="0"/>
                    </a:p>
                  </p:txBody>
                </p:sp>
              </mc:Choice>
              <mc:Fallback xmlns="">
                <p:sp>
                  <p:nvSpPr>
                    <p:cNvPr id="21" name="TextBox 20">
                      <a:extLst>
                        <a:ext uri="{FF2B5EF4-FFF2-40B4-BE49-F238E27FC236}">
                          <a16:creationId xmlns:a16="http://schemas.microsoft.com/office/drawing/2014/main" id="{8C871197-F84C-47A5-BD88-AC71F7A2971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85993" y="2350376"/>
                      <a:ext cx="1508961" cy="1450465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r="-40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it-IT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D56A9C6-8E59-515B-CC41-5A2B5187DF0E}"/>
                  </a:ext>
                </a:extLst>
              </p:cNvPr>
              <p:cNvSpPr txBox="1"/>
              <p:nvPr/>
            </p:nvSpPr>
            <p:spPr>
              <a:xfrm>
                <a:off x="273005" y="1970735"/>
                <a:ext cx="1952228" cy="215444"/>
              </a:xfrm>
              <a:prstGeom prst="rect">
                <a:avLst/>
              </a:prstGeom>
              <a:noFill/>
              <a:effectLst>
                <a:outerShdw blurRad="50800" dist="50800" dir="5400000" algn="ctr" rotWithShape="0">
                  <a:srgbClr val="000000">
                    <a:alpha val="20000"/>
                  </a:srgbClr>
                </a:outerShdw>
              </a:effectLst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800" i="1" u="sng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Step A – Market Returns</a:t>
                </a:r>
                <a:endParaRPr lang="it-IT" sz="800" i="1" u="sng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9E5E77C6-4329-786E-73F1-DEC06196792C}"/>
                </a:ext>
              </a:extLst>
            </p:cNvPr>
            <p:cNvGrpSpPr/>
            <p:nvPr/>
          </p:nvGrpSpPr>
          <p:grpSpPr>
            <a:xfrm>
              <a:off x="2103828" y="1325780"/>
              <a:ext cx="7206319" cy="3182546"/>
              <a:chOff x="2103828" y="1325780"/>
              <a:chExt cx="7206319" cy="3182546"/>
            </a:xfrm>
          </p:grpSpPr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52475845-A1D8-0772-A1ED-88A49AAD94EF}"/>
                  </a:ext>
                </a:extLst>
              </p:cNvPr>
              <p:cNvGrpSpPr/>
              <p:nvPr/>
            </p:nvGrpSpPr>
            <p:grpSpPr>
              <a:xfrm>
                <a:off x="2103828" y="1325780"/>
                <a:ext cx="1952228" cy="3180294"/>
                <a:chOff x="273005" y="1913562"/>
                <a:chExt cx="1952228" cy="2801538"/>
              </a:xfrm>
            </p:grpSpPr>
            <p:grpSp>
              <p:nvGrpSpPr>
                <p:cNvPr id="61" name="Group 60">
                  <a:extLst>
                    <a:ext uri="{FF2B5EF4-FFF2-40B4-BE49-F238E27FC236}">
                      <a16:creationId xmlns:a16="http://schemas.microsoft.com/office/drawing/2014/main" id="{4B5FDE46-5309-3530-9301-C863B9C20983}"/>
                    </a:ext>
                  </a:extLst>
                </p:cNvPr>
                <p:cNvGrpSpPr/>
                <p:nvPr/>
              </p:nvGrpSpPr>
              <p:grpSpPr>
                <a:xfrm>
                  <a:off x="428652" y="1913562"/>
                  <a:ext cx="1610424" cy="2801538"/>
                  <a:chOff x="428652" y="1913562"/>
                  <a:chExt cx="1610424" cy="2801538"/>
                </a:xfrm>
              </p:grpSpPr>
              <p:sp>
                <p:nvSpPr>
                  <p:cNvPr id="63" name="Rectangle 62">
                    <a:extLst>
                      <a:ext uri="{FF2B5EF4-FFF2-40B4-BE49-F238E27FC236}">
                        <a16:creationId xmlns:a16="http://schemas.microsoft.com/office/drawing/2014/main" id="{44ECFCFA-84D3-5384-87E8-4A008BDCFCA1}"/>
                      </a:ext>
                    </a:extLst>
                  </p:cNvPr>
                  <p:cNvSpPr/>
                  <p:nvPr/>
                </p:nvSpPr>
                <p:spPr>
                  <a:xfrm>
                    <a:off x="428652" y="1996888"/>
                    <a:ext cx="1610424" cy="2718212"/>
                  </a:xfrm>
                  <a:prstGeom prst="rect">
                    <a:avLst/>
                  </a:prstGeom>
                  <a:solidFill>
                    <a:srgbClr val="F3F8FF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 defTabSz="457200"/>
                    <a:endParaRPr lang="it-IT" sz="1400" b="1" dirty="0">
                      <a:solidFill>
                        <a:srgbClr val="FFFF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64" name="Rectangle: Rounded Corners 63">
                    <a:extLst>
                      <a:ext uri="{FF2B5EF4-FFF2-40B4-BE49-F238E27FC236}">
                        <a16:creationId xmlns:a16="http://schemas.microsoft.com/office/drawing/2014/main" id="{C70D6652-7A0F-42FF-6CA0-B222F8CD75C5}"/>
                      </a:ext>
                    </a:extLst>
                  </p:cNvPr>
                  <p:cNvSpPr/>
                  <p:nvPr/>
                </p:nvSpPr>
                <p:spPr>
                  <a:xfrm>
                    <a:off x="560951" y="1913562"/>
                    <a:ext cx="1376336" cy="329790"/>
                  </a:xfrm>
                  <a:prstGeom prst="roundRect">
                    <a:avLst/>
                  </a:prstGeom>
                  <a:solidFill>
                    <a:srgbClr val="004F9F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it-IT" sz="1400" b="1" dirty="0">
                      <a:solidFill>
                        <a:srgbClr val="FFFF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5" name="TextBox 64">
                        <a:extLst>
                          <a:ext uri="{FF2B5EF4-FFF2-40B4-BE49-F238E27FC236}">
                            <a16:creationId xmlns:a16="http://schemas.microsoft.com/office/drawing/2014/main" id="{3412BB32-E7B6-83A9-1D4E-F6BD99F958F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85993" y="2350376"/>
                        <a:ext cx="1508961" cy="166635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pPr algn="ctr"/>
                        <a:r>
                          <a:rPr lang="en-US" sz="800" dirty="0"/>
                          <a:t>Portfolio with </a:t>
                        </a:r>
                        <a:r>
                          <a:rPr lang="en-US" sz="800" b="1" dirty="0"/>
                          <a:t>no</a:t>
                        </a:r>
                        <a:r>
                          <a:rPr lang="en-US" sz="800" dirty="0"/>
                          <a:t> illiquidity </a:t>
                        </a:r>
                        <a:r>
                          <a:rPr lang="en-US" sz="800" b="1" dirty="0"/>
                          <a:t>constraints,</a:t>
                        </a:r>
                        <a:r>
                          <a:rPr lang="en-US" sz="800" dirty="0"/>
                          <a:t> </a:t>
                        </a:r>
                        <a:r>
                          <a:rPr lang="en-US" sz="800" b="1" dirty="0"/>
                          <a:t>resets to </a:t>
                        </a:r>
                        <a14:m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800" b="1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sz="800" b="1" i="1" dirty="0"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  <m:sub>
                                <m:r>
                                  <a:rPr lang="it-IT" sz="800" b="1" i="1" dirty="0" smtClean="0">
                                    <a:latin typeface="Cambria Math" panose="02040503050406030204" pitchFamily="18" charset="0"/>
                                  </a:rPr>
                                  <m:t>𝒕𝒂𝒓𝒈𝒆𝒕</m:t>
                                </m:r>
                              </m:sub>
                            </m:sSub>
                            <m:r>
                              <a:rPr lang="it-IT" sz="800" b="1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oMath>
                        </a14:m>
                        <a:r>
                          <a:rPr lang="en-US" sz="800" dirty="0"/>
                          <a:t>every year</a:t>
                        </a:r>
                      </a:p>
                      <a:p>
                        <a:endParaRPr lang="en-US" sz="800" dirty="0"/>
                      </a:p>
                      <a:p>
                        <a:pPr algn="ctr"/>
                        <a:r>
                          <a:rPr lang="en-US" sz="800" dirty="0"/>
                          <a:t>Weights drift with the market:</a:t>
                        </a:r>
                      </a:p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pl-PL" sz="8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it-IT" sz="800" b="1" i="1" dirty="0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  <m:sub>
                                  <m:r>
                                    <a:rPr lang="it-IT" sz="800" b="1" i="1" dirty="0">
                                      <a:latin typeface="Cambria Math" panose="02040503050406030204" pitchFamily="18" charset="0"/>
                                    </a:rPr>
                                    <m:t>𝒃𝒅</m:t>
                                  </m:r>
                                </m:sub>
                                <m:sup>
                                  <m:r>
                                    <a:rPr lang="it-IT" sz="800" b="1" i="1" dirty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bSup>
                              <m:r>
                                <a:rPr lang="pl-PL" sz="800" b="1" i="1" dirty="0">
                                  <a:latin typeface="Cambria Math" panose="02040503050406030204" pitchFamily="18" charset="0"/>
                                </a:rPr>
                                <m:t>= </m:t>
                              </m:r>
                              <m:f>
                                <m:fPr>
                                  <m:ctrlPr>
                                    <a:rPr lang="pl-PL" sz="800" b="1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pl-PL" sz="800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it-IT" sz="800" b="1" i="1" dirty="0">
                                          <a:latin typeface="Cambria Math" panose="02040503050406030204" pitchFamily="18" charset="0"/>
                                        </a:rPr>
                                        <m:t>𝒘</m:t>
                                      </m:r>
                                    </m:e>
                                    <m:sub>
                                      <m:r>
                                        <a:rPr lang="it-IT" sz="800" b="1" i="1" dirty="0" smtClean="0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  <m:sup>
                                      <m:r>
                                        <a:rPr lang="it-IT" sz="800" b="1" i="1" dirty="0" smtClean="0">
                                          <a:latin typeface="Cambria Math" panose="02040503050406030204" pitchFamily="18" charset="0"/>
                                        </a:rPr>
                                        <m:t>𝒕𝒂𝒓𝒈𝒆𝒕</m:t>
                                      </m:r>
                                    </m:sup>
                                  </m:sSubSup>
                                  <m:r>
                                    <a:rPr lang="pt-BR" sz="800" b="1" i="1" dirty="0">
                                      <a:latin typeface="Cambria Math" panose="02040503050406030204" pitchFamily="18" charset="0"/>
                                    </a:rPr>
                                    <m:t>·</m:t>
                                  </m:r>
                                  <m:r>
                                    <a:rPr lang="pl-PL" sz="800" b="1" i="1" dirty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pl-PL" sz="800" b="1" i="1" dirty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  <m:r>
                                    <a:rPr lang="pl-PL" sz="800" b="1" i="1" dirty="0">
                                      <a:latin typeface="Cambria Math" panose="02040503050406030204" pitchFamily="18" charset="0"/>
                                    </a:rPr>
                                    <m:t> +</m:t>
                                  </m:r>
                                  <m:sSub>
                                    <m:sSubPr>
                                      <m:ctrlPr>
                                        <a:rPr lang="en-US" sz="800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sz="800" b="1" i="1" dirty="0">
                                          <a:latin typeface="Cambria Math" panose="02040503050406030204" pitchFamily="18" charset="0"/>
                                        </a:rPr>
                                        <m:t>𝒓</m:t>
                                      </m:r>
                                    </m:e>
                                    <m:sub>
                                      <m:r>
                                        <a:rPr lang="it-IT" sz="800" b="1" i="1" dirty="0" smtClean="0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  <m:r>
                                    <a:rPr lang="pl-PL" sz="800" b="1" i="1" dirty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nary>
                                    <m:naryPr>
                                      <m:chr m:val="∑"/>
                                      <m:limLoc m:val="subSup"/>
                                      <m:supHide m:val="on"/>
                                      <m:ctrlPr>
                                        <a:rPr lang="pl-PL" sz="800" b="1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9"/>
                                        </m:rPr>
                                        <a:rPr lang="it-IT" sz="800" b="1" i="1" dirty="0" smtClean="0">
                                          <a:latin typeface="Cambria Math" panose="02040503050406030204" pitchFamily="18" charset="0"/>
                                        </a:rPr>
                                        <m:t>𝒋</m:t>
                                      </m:r>
                                    </m:sub>
                                    <m:sup/>
                                    <m:e>
                                      <m:sSubSup>
                                        <m:sSubSupPr>
                                          <m:ctrlPr>
                                            <a:rPr lang="pl-PL" sz="800" b="1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it-IT" sz="800" b="1" i="1" dirty="0">
                                              <a:latin typeface="Cambria Math" panose="02040503050406030204" pitchFamily="18" charset="0"/>
                                            </a:rPr>
                                            <m:t>𝒘</m:t>
                                          </m:r>
                                        </m:e>
                                        <m:sub>
                                          <m:r>
                                            <a:rPr lang="it-IT" sz="800" b="1" i="1" dirty="0" smtClean="0">
                                              <a:latin typeface="Cambria Math" panose="02040503050406030204" pitchFamily="18" charset="0"/>
                                            </a:rPr>
                                            <m:t>𝒋</m:t>
                                          </m:r>
                                        </m:sub>
                                        <m:sup>
                                          <m:r>
                                            <a:rPr lang="it-IT" sz="800" b="1" i="1" dirty="0" smtClean="0">
                                              <a:latin typeface="Cambria Math" panose="02040503050406030204" pitchFamily="18" charset="0"/>
                                            </a:rPr>
                                            <m:t>𝒕𝒂𝒓𝒈𝒆𝒕</m:t>
                                          </m:r>
                                        </m:sup>
                                      </m:sSubSup>
                                      <m:r>
                                        <a:rPr lang="pt-BR" sz="800" b="1" i="1" dirty="0">
                                          <a:latin typeface="Cambria Math" panose="02040503050406030204" pitchFamily="18" charset="0"/>
                                        </a:rPr>
                                        <m:t>·</m:t>
                                      </m:r>
                                      <m:r>
                                        <a:rPr lang="pl-PL" sz="800" b="1" i="1" dirty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pl-PL" sz="800" b="1" i="1" dirty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  <m:r>
                                        <a:rPr lang="pl-PL" sz="800" b="1" i="1" dirty="0">
                                          <a:latin typeface="Cambria Math" panose="02040503050406030204" pitchFamily="18" charset="0"/>
                                        </a:rPr>
                                        <m:t> +</m:t>
                                      </m:r>
                                      <m:sSub>
                                        <m:sSubPr>
                                          <m:ctrlPr>
                                            <a:rPr lang="en-US" sz="800" b="1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it-IT" sz="800" b="1" i="1" dirty="0">
                                              <a:latin typeface="Cambria Math" panose="02040503050406030204" pitchFamily="18" charset="0"/>
                                            </a:rPr>
                                            <m:t>𝒓</m:t>
                                          </m:r>
                                        </m:e>
                                        <m:sub>
                                          <m:r>
                                            <a:rPr lang="it-IT" sz="800" b="1" i="1" dirty="0" smtClean="0">
                                              <a:latin typeface="Cambria Math" panose="02040503050406030204" pitchFamily="18" charset="0"/>
                                            </a:rPr>
                                            <m:t>𝒋</m:t>
                                          </m:r>
                                        </m:sub>
                                      </m:sSub>
                                      <m:r>
                                        <a:rPr lang="pl-PL" sz="800" b="1" i="1" dirty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nary>
                                  <m:r>
                                    <a:rPr lang="pl-PL" sz="800" b="1" i="1" dirty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den>
                              </m:f>
                            </m:oMath>
                          </m:oMathPara>
                        </a14:m>
                        <a:endParaRPr lang="it-IT" sz="800" b="1" dirty="0"/>
                      </a:p>
                      <a:p>
                        <a:endParaRPr lang="en-US" sz="800" dirty="0"/>
                      </a:p>
                      <a:p>
                        <a:pPr algn="ctr"/>
                        <a:r>
                          <a:rPr lang="en-US" sz="800" b="1" dirty="0"/>
                          <a:t>Return</a:t>
                        </a:r>
                        <a:r>
                          <a:rPr lang="en-US" sz="800" dirty="0"/>
                          <a:t> computed </a:t>
                        </a:r>
                        <a:r>
                          <a:rPr lang="en-US" sz="800" b="1" dirty="0"/>
                          <a:t>on</a:t>
                        </a:r>
                        <a:r>
                          <a:rPr lang="en-US" sz="800" dirty="0"/>
                          <a:t> </a:t>
                        </a:r>
                        <a:r>
                          <a:rPr lang="en-US" sz="800" b="1" dirty="0"/>
                          <a:t>post-drift weights</a:t>
                        </a:r>
                        <a:r>
                          <a:rPr lang="en-US" sz="800" dirty="0"/>
                          <a:t>:</a:t>
                        </a:r>
                      </a:p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8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800" b="1" i="1" dirty="0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it-IT" sz="800" b="1" i="1" dirty="0">
                                      <a:latin typeface="Cambria Math" panose="02040503050406030204" pitchFamily="18" charset="0"/>
                                    </a:rPr>
                                    <m:t>𝒃𝒆𝒏𝒄𝒉</m:t>
                                  </m:r>
                                </m:sub>
                              </m:sSub>
                              <m:r>
                                <a:rPr lang="pt-BR" sz="800" b="1" i="1" dirty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8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800" b="1" i="1" dirty="0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  <m:sub>
                                  <m:r>
                                    <a:rPr lang="it-IT" sz="800" b="1" i="1" dirty="0">
                                      <a:latin typeface="Cambria Math" panose="02040503050406030204" pitchFamily="18" charset="0"/>
                                    </a:rPr>
                                    <m:t>𝒃𝒅</m:t>
                                  </m:r>
                                </m:sub>
                              </m:sSub>
                              <m:r>
                                <a:rPr lang="pt-BR" sz="800" b="1" i="1" dirty="0">
                                  <a:latin typeface="Cambria Math" panose="02040503050406030204" pitchFamily="18" charset="0"/>
                                </a:rPr>
                                <m:t>·</m:t>
                              </m:r>
                              <m:sSub>
                                <m:sSubPr>
                                  <m:ctrlPr>
                                    <a:rPr lang="en-US" sz="8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800" b="1" i="1" dirty="0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it-IT" sz="800" b="1" i="1" dirty="0"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800" b="1" dirty="0"/>
                      </a:p>
                      <a:p>
                        <a:pPr algn="ctr"/>
                        <a:endParaRPr lang="en-US" sz="800" dirty="0"/>
                      </a:p>
                      <a:p>
                        <a:endParaRPr lang="it-IT" sz="200" dirty="0"/>
                      </a:p>
                    </p:txBody>
                  </p:sp>
                </mc:Choice>
                <mc:Fallback xmlns="">
                  <p:sp>
                    <p:nvSpPr>
                      <p:cNvPr id="65" name="TextBox 64">
                        <a:extLst>
                          <a:ext uri="{FF2B5EF4-FFF2-40B4-BE49-F238E27FC236}">
                            <a16:creationId xmlns:a16="http://schemas.microsoft.com/office/drawing/2014/main" id="{3412BB32-E7B6-83A9-1D4E-F6BD99F958FE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85993" y="2350376"/>
                        <a:ext cx="1508961" cy="1666351"/>
                      </a:xfrm>
                      <a:prstGeom prst="rect">
                        <a:avLst/>
                      </a:prstGeom>
                      <a:blipFill>
                        <a:blip r:embed="rId4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it-IT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B9B20B70-B38F-8188-AF69-4D59BFCFB8A8}"/>
                    </a:ext>
                  </a:extLst>
                </p:cNvPr>
                <p:cNvSpPr txBox="1"/>
                <p:nvPr/>
              </p:nvSpPr>
              <p:spPr>
                <a:xfrm>
                  <a:off x="273005" y="1970735"/>
                  <a:ext cx="1952228" cy="195255"/>
                </a:xfrm>
                <a:prstGeom prst="rect">
                  <a:avLst/>
                </a:prstGeom>
                <a:noFill/>
                <a:effectLst>
                  <a:outerShdw blurRad="50800" dist="50800" dir="5400000" algn="ctr" rotWithShape="0">
                    <a:srgbClr val="000000">
                      <a:alpha val="20000"/>
                    </a:srgbClr>
                  </a:outerShdw>
                </a:effectLst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800" i="1" u="sng" dirty="0">
                      <a:solidFill>
                        <a:schemeClr val="bg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Step B – Benchmark</a:t>
                  </a:r>
                  <a:endParaRPr lang="it-IT" sz="800" i="1" u="sng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66" name="Group 65">
                <a:extLst>
                  <a:ext uri="{FF2B5EF4-FFF2-40B4-BE49-F238E27FC236}">
                    <a16:creationId xmlns:a16="http://schemas.microsoft.com/office/drawing/2014/main" id="{8721F139-B7E2-E846-0A93-66995E30C7D6}"/>
                  </a:ext>
                </a:extLst>
              </p:cNvPr>
              <p:cNvGrpSpPr/>
              <p:nvPr/>
            </p:nvGrpSpPr>
            <p:grpSpPr>
              <a:xfrm>
                <a:off x="3869899" y="1326906"/>
                <a:ext cx="1952228" cy="3180294"/>
                <a:chOff x="273005" y="1913562"/>
                <a:chExt cx="1952228" cy="2801538"/>
              </a:xfrm>
            </p:grpSpPr>
            <p:grpSp>
              <p:nvGrpSpPr>
                <p:cNvPr id="67" name="Group 66">
                  <a:extLst>
                    <a:ext uri="{FF2B5EF4-FFF2-40B4-BE49-F238E27FC236}">
                      <a16:creationId xmlns:a16="http://schemas.microsoft.com/office/drawing/2014/main" id="{9666BDE7-8E02-BFED-62E5-A5D86DCF9AC9}"/>
                    </a:ext>
                  </a:extLst>
                </p:cNvPr>
                <p:cNvGrpSpPr/>
                <p:nvPr/>
              </p:nvGrpSpPr>
              <p:grpSpPr>
                <a:xfrm>
                  <a:off x="428652" y="1913562"/>
                  <a:ext cx="1610424" cy="2801538"/>
                  <a:chOff x="428652" y="1913562"/>
                  <a:chExt cx="1610424" cy="2801538"/>
                </a:xfrm>
              </p:grpSpPr>
              <p:sp>
                <p:nvSpPr>
                  <p:cNvPr id="69" name="Rectangle 68">
                    <a:extLst>
                      <a:ext uri="{FF2B5EF4-FFF2-40B4-BE49-F238E27FC236}">
                        <a16:creationId xmlns:a16="http://schemas.microsoft.com/office/drawing/2014/main" id="{BE5DF545-A61D-FCA2-ED8D-A2DB51D543B7}"/>
                      </a:ext>
                    </a:extLst>
                  </p:cNvPr>
                  <p:cNvSpPr/>
                  <p:nvPr/>
                </p:nvSpPr>
                <p:spPr>
                  <a:xfrm>
                    <a:off x="428652" y="1996888"/>
                    <a:ext cx="1610424" cy="2718212"/>
                  </a:xfrm>
                  <a:prstGeom prst="rect">
                    <a:avLst/>
                  </a:prstGeom>
                  <a:solidFill>
                    <a:srgbClr val="FFF4E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 defTabSz="457200"/>
                    <a:endParaRPr lang="it-IT" sz="1400" b="1" dirty="0">
                      <a:solidFill>
                        <a:srgbClr val="FFFF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70" name="Rectangle: Rounded Corners 69">
                    <a:extLst>
                      <a:ext uri="{FF2B5EF4-FFF2-40B4-BE49-F238E27FC236}">
                        <a16:creationId xmlns:a16="http://schemas.microsoft.com/office/drawing/2014/main" id="{3AAE9F15-CDBA-E5EB-E9F2-06C6E82326E1}"/>
                      </a:ext>
                    </a:extLst>
                  </p:cNvPr>
                  <p:cNvSpPr/>
                  <p:nvPr/>
                </p:nvSpPr>
                <p:spPr>
                  <a:xfrm>
                    <a:off x="560951" y="1913562"/>
                    <a:ext cx="1376336" cy="329790"/>
                  </a:xfrm>
                  <a:prstGeom prst="roundRect">
                    <a:avLst/>
                  </a:prstGeom>
                  <a:solidFill>
                    <a:srgbClr val="004F9F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it-IT" sz="1400" b="1" dirty="0">
                      <a:solidFill>
                        <a:srgbClr val="FFFF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71" name="TextBox 70">
                        <a:extLst>
                          <a:ext uri="{FF2B5EF4-FFF2-40B4-BE49-F238E27FC236}">
                            <a16:creationId xmlns:a16="http://schemas.microsoft.com/office/drawing/2014/main" id="{059E75A6-920F-661A-F0AA-6F8A0A263CD3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85993" y="2350375"/>
                        <a:ext cx="1508961" cy="205180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pPr algn="ctr"/>
                        <a:r>
                          <a:rPr lang="en-US" sz="800" b="1" dirty="0"/>
                          <a:t>Drift</a:t>
                        </a:r>
                        <a:r>
                          <a:rPr lang="en-US" sz="800" dirty="0"/>
                          <a:t>: </a:t>
                        </a:r>
                        <a14:m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pl-PL" sz="800" b="1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it-IT" sz="800" b="1" i="1" dirty="0"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  <m:sub>
                                <m:r>
                                  <a:rPr lang="it-IT" sz="800" b="1" i="1" dirty="0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  <m:sup>
                                <m:r>
                                  <a:rPr lang="it-IT" sz="800" b="1" i="1" dirty="0" smtClean="0">
                                    <a:latin typeface="Cambria Math" panose="02040503050406030204" pitchFamily="18" charset="0"/>
                                  </a:rPr>
                                  <m:t>𝒏𝒆𝒘</m:t>
                                </m:r>
                              </m:sup>
                            </m:sSubSup>
                            <m:r>
                              <a:rPr lang="pl-PL" sz="800" b="1" i="1" dirty="0">
                                <a:latin typeface="Cambria Math" panose="02040503050406030204" pitchFamily="18" charset="0"/>
                              </a:rPr>
                              <m:t>= </m:t>
                            </m:r>
                            <m:f>
                              <m:fPr>
                                <m:ctrlPr>
                                  <a:rPr lang="pl-PL" sz="800" b="1" i="1" dirty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Sup>
                                  <m:sSubSupPr>
                                    <m:ctrlPr>
                                      <a:rPr lang="pl-PL" sz="800" b="1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it-IT" sz="800" b="1" i="1" dirty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it-IT" sz="800" b="1" i="1" dirty="0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  <m:sup>
                                    <m:r>
                                      <a:rPr lang="it-IT" sz="800" b="1" i="1" dirty="0" smtClean="0">
                                        <a:latin typeface="Cambria Math" panose="02040503050406030204" pitchFamily="18" charset="0"/>
                                      </a:rPr>
                                      <m:t>𝒕𝒂𝒓𝒈𝒆𝒕</m:t>
                                    </m:r>
                                  </m:sup>
                                </m:sSubSup>
                                <m:r>
                                  <a:rPr lang="pt-BR" sz="800" b="1" i="1" dirty="0">
                                    <a:latin typeface="Cambria Math" panose="02040503050406030204" pitchFamily="18" charset="0"/>
                                  </a:rPr>
                                  <m:t>·</m:t>
                                </m:r>
                                <m:r>
                                  <a:rPr lang="pl-PL" sz="800" b="1" i="1" dirty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pl-PL" sz="800" b="1" i="1" dirty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pl-PL" sz="800" b="1" i="1" dirty="0">
                                    <a:latin typeface="Cambria Math" panose="02040503050406030204" pitchFamily="18" charset="0"/>
                                  </a:rPr>
                                  <m:t> +</m:t>
                                </m:r>
                                <m:sSub>
                                  <m:sSubPr>
                                    <m:ctrlPr>
                                      <a:rPr lang="en-US" sz="800" b="1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800" b="1" i="1" dirty="0"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</m:e>
                                  <m:sub>
                                    <m:r>
                                      <a:rPr lang="it-IT" sz="800" b="1" i="1" dirty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pl-PL" sz="800" b="1" i="1" dirty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num>
                              <m:den>
                                <m:nary>
                                  <m:naryPr>
                                    <m:chr m:val="∑"/>
                                    <m:limLoc m:val="subSup"/>
                                    <m:supHide m:val="on"/>
                                    <m:ctrlPr>
                                      <a:rPr lang="pl-PL" sz="800" b="1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9"/>
                                      </m:rPr>
                                      <a:rPr lang="it-IT" sz="800" b="1" i="1" dirty="0">
                                        <a:latin typeface="Cambria Math" panose="02040503050406030204" pitchFamily="18" charset="0"/>
                                      </a:rPr>
                                      <m:t>𝒋</m:t>
                                    </m:r>
                                  </m:sub>
                                  <m:sup/>
                                  <m:e>
                                    <m:sSubSup>
                                      <m:sSubSupPr>
                                        <m:ctrlPr>
                                          <a:rPr lang="pl-PL" sz="800" b="1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it-IT" sz="800" b="1" i="1" dirty="0">
                                            <a:latin typeface="Cambria Math" panose="02040503050406030204" pitchFamily="18" charset="0"/>
                                          </a:rPr>
                                          <m:t>𝒘</m:t>
                                        </m:r>
                                      </m:e>
                                      <m:sub>
                                        <m:r>
                                          <a:rPr lang="it-IT" sz="800" b="1" i="1" dirty="0" smtClean="0">
                                            <a:latin typeface="Cambria Math" panose="02040503050406030204" pitchFamily="18" charset="0"/>
                                          </a:rPr>
                                          <m:t>𝒋</m:t>
                                        </m:r>
                                      </m:sub>
                                      <m:sup>
                                        <m:r>
                                          <a:rPr lang="it-IT" sz="800" b="1" i="1" dirty="0" smtClean="0">
                                            <a:latin typeface="Cambria Math" panose="02040503050406030204" pitchFamily="18" charset="0"/>
                                          </a:rPr>
                                          <m:t>𝒕𝒂𝒓𝒈𝒆𝒕</m:t>
                                        </m:r>
                                      </m:sup>
                                    </m:sSubSup>
                                    <m:r>
                                      <a:rPr lang="pt-BR" sz="800" b="1" i="1" dirty="0">
                                        <a:latin typeface="Cambria Math" panose="02040503050406030204" pitchFamily="18" charset="0"/>
                                      </a:rPr>
                                      <m:t>·</m:t>
                                    </m:r>
                                    <m:r>
                                      <a:rPr lang="pl-PL" sz="800" b="1" i="1" dirty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pl-PL" sz="800" b="1" i="1" dirty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pl-PL" sz="800" b="1" i="1" dirty="0">
                                        <a:latin typeface="Cambria Math" panose="02040503050406030204" pitchFamily="18" charset="0"/>
                                      </a:rPr>
                                      <m:t> +</m:t>
                                    </m:r>
                                    <m:sSub>
                                      <m:sSubPr>
                                        <m:ctrlPr>
                                          <a:rPr lang="en-US" sz="800" b="1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it-IT" sz="800" b="1" i="1" dirty="0">
                                            <a:latin typeface="Cambria Math" panose="02040503050406030204" pitchFamily="18" charset="0"/>
                                          </a:rPr>
                                          <m:t>𝒓</m:t>
                                        </m:r>
                                      </m:e>
                                      <m:sub>
                                        <m:r>
                                          <a:rPr lang="it-IT" sz="800" b="1" i="1" dirty="0">
                                            <a:latin typeface="Cambria Math" panose="02040503050406030204" pitchFamily="18" charset="0"/>
                                          </a:rPr>
                                          <m:t>𝒋</m:t>
                                        </m:r>
                                      </m:sub>
                                    </m:sSub>
                                    <m:r>
                                      <a:rPr lang="pl-PL" sz="800" b="1" i="1" dirty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nary>
                                <m:r>
                                  <a:rPr lang="pl-PL" sz="800" b="1" i="1" dirty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den>
                            </m:f>
                          </m:oMath>
                        </a14:m>
                        <a:endParaRPr lang="en-US" sz="800" dirty="0"/>
                      </a:p>
                      <a:p>
                        <a:pPr algn="ctr"/>
                        <a:endParaRPr lang="en-US" sz="800" dirty="0"/>
                      </a:p>
                      <a:p>
                        <a:pPr algn="ctr"/>
                        <a:r>
                          <a:rPr lang="en-US" sz="800" b="1" dirty="0"/>
                          <a:t>Proportional payout </a:t>
                        </a:r>
                        <a:r>
                          <a:rPr lang="en-US" sz="800" dirty="0"/>
                          <a:t>(</a:t>
                        </a:r>
                        <a14:m>
                          <m:oMath xmlns:m="http://schemas.openxmlformats.org/officeDocument/2006/math">
                            <m:sSub>
                              <m:sSubPr>
                                <m:ctrlPr>
                                  <a:rPr lang="el-GR" sz="8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l-GR" sz="800" i="1" dirty="0"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</m:e>
                              <m:sub>
                                <m:r>
                                  <a:rPr lang="it-IT" sz="800" b="0" i="1" dirty="0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oMath>
                        </a14:m>
                        <a:r>
                          <a:rPr lang="el-GR" sz="800" dirty="0"/>
                          <a:t>): </a:t>
                        </a:r>
                        <a:r>
                          <a:rPr lang="en-US" sz="800" dirty="0"/>
                          <a:t>free assets → direct sale; locked assets → secondary market haircut</a:t>
                        </a:r>
                      </a:p>
                      <a:p>
                        <a:pPr algn="ctr"/>
                        <a:endParaRPr lang="en-US" sz="800" dirty="0"/>
                      </a:p>
                      <a:p>
                        <a:pPr algn="ctr"/>
                        <a:r>
                          <a:rPr lang="en-US" sz="800" b="1" dirty="0"/>
                          <a:t>Liquidity buffer restore</a:t>
                        </a:r>
                        <a:r>
                          <a:rPr lang="en-US" sz="800" dirty="0"/>
                          <a:t>: first unlocked illiquid assets (no haircut), then locked (with haircut)</a:t>
                        </a:r>
                      </a:p>
                      <a:p>
                        <a:pPr algn="ctr"/>
                        <a:endParaRPr lang="en-US" sz="800" dirty="0"/>
                      </a:p>
                      <a:p>
                        <a:pPr algn="ctr"/>
                        <a:r>
                          <a:rPr lang="en-US" sz="800" b="1" dirty="0"/>
                          <a:t>Constrained rebalancing</a:t>
                        </a:r>
                        <a:r>
                          <a:rPr lang="en-US" sz="800" dirty="0"/>
                          <a:t>: </a:t>
                        </a:r>
                        <a14:m>
                          <m:oMath xmlns:m="http://schemas.openxmlformats.org/officeDocument/2006/math">
                            <m:func>
                              <m:funcPr>
                                <m:ctrlPr>
                                  <a:rPr lang="en-US" sz="8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limLow>
                                  <m:limLowPr>
                                    <m:ctrlPr>
                                      <a:rPr lang="en-US" sz="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limLow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800" i="0" dirty="0" smtClean="0">
                                        <a:latin typeface="Cambria Math" panose="02040503050406030204" pitchFamily="18" charset="0"/>
                                      </a:rPr>
                                      <m:t>min</m:t>
                                    </m:r>
                                  </m:e>
                                  <m:lim>
                                    <m:r>
                                      <a:rPr lang="it-IT" sz="800" b="0" i="1" dirty="0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lim>
                                </m:limLow>
                              </m:fName>
                              <m:e>
                                <m:nary>
                                  <m:naryPr>
                                    <m:chr m:val="∑"/>
                                    <m:limLoc m:val="subSup"/>
                                    <m:supHide m:val="on"/>
                                    <m:ctrlPr>
                                      <a:rPr lang="en-US" sz="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9"/>
                                      </m:rPr>
                                      <a:rPr lang="it-IT" sz="800" b="0" i="1" dirty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/>
                                  <m:e>
                                    <m:sSup>
                                      <m:sSupPr>
                                        <m:ctrlPr>
                                          <a:rPr lang="en-US" sz="80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it-IT" sz="800" i="1" dirty="0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800" b="1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it-IT" sz="800" b="1" i="1" dirty="0">
                                                <a:latin typeface="Cambria Math" panose="02040503050406030204" pitchFamily="18" charset="0"/>
                                              </a:rPr>
                                              <m:t>𝒘</m:t>
                                            </m:r>
                                          </m:e>
                                          <m:sub>
                                            <m:r>
                                              <a:rPr lang="it-IT" sz="800" b="1" i="1" dirty="0">
                                                <a:latin typeface="Cambria Math" panose="02040503050406030204" pitchFamily="18" charset="0"/>
                                              </a:rPr>
                                              <m:t>𝒊</m:t>
                                            </m:r>
                                          </m:sub>
                                        </m:sSub>
                                        <m:r>
                                          <a:rPr lang="it-IT" sz="800" i="1" dirty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Sup>
                                          <m:sSubSupPr>
                                            <m:ctrlPr>
                                              <a:rPr lang="pl-PL" sz="800" b="1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it-IT" sz="800" b="1" i="1" dirty="0">
                                                <a:latin typeface="Cambria Math" panose="02040503050406030204" pitchFamily="18" charset="0"/>
                                              </a:rPr>
                                              <m:t>𝒘</m:t>
                                            </m:r>
                                          </m:e>
                                          <m:sub>
                                            <m:r>
                                              <a:rPr lang="it-IT" sz="800" b="1" i="1" dirty="0">
                                                <a:latin typeface="Cambria Math" panose="02040503050406030204" pitchFamily="18" charset="0"/>
                                              </a:rPr>
                                              <m:t>𝒊</m:t>
                                            </m:r>
                                          </m:sub>
                                          <m:sup>
                                            <m:r>
                                              <a:rPr lang="it-IT" sz="800" b="1" i="1" dirty="0">
                                                <a:latin typeface="Cambria Math" panose="02040503050406030204" pitchFamily="18" charset="0"/>
                                              </a:rPr>
                                              <m:t>𝒕𝒂𝒓𝒈𝒆𝒕</m:t>
                                            </m:r>
                                          </m:sup>
                                        </m:sSubSup>
                                        <m:r>
                                          <a:rPr lang="it-IT" sz="800" i="1" dirty="0"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e>
                                      <m:sup>
                                        <m:r>
                                          <a:rPr lang="it-IT" sz="800" b="0" i="1" dirty="0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nary>
                              </m:e>
                            </m:func>
                          </m:oMath>
                        </a14:m>
                        <a:endParaRPr lang="it-IT" sz="800" i="1" dirty="0">
                          <a:latin typeface="Cambria Math" panose="02040503050406030204" pitchFamily="18" charset="0"/>
                        </a:endParaRPr>
                      </a:p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800" i="1" dirty="0" err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800" i="1" dirty="0" err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sz="800" i="1" dirty="0" err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800" i="1" dirty="0" err="1" smtClean="0">
                                  <a:latin typeface="Cambria Math" panose="02040503050406030204" pitchFamily="18" charset="0"/>
                                </a:rPr>
                                <m:t>.  </m:t>
                              </m:r>
                              <m:r>
                                <a:rPr lang="en-US" sz="800" i="1" dirty="0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sz="800" i="1" dirty="0" smtClean="0">
                                  <a:latin typeface="Cambria Math" panose="02040503050406030204" pitchFamily="18" charset="0"/>
                                </a:rPr>
                                <m:t>ᵢ ≥</m:t>
                              </m:r>
                              <m:sSubSup>
                                <m:sSubSupPr>
                                  <m:ctrlPr>
                                    <a:rPr lang="pl-PL" sz="8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it-IT" sz="800" b="1" i="1" dirty="0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  <m:sub>
                                  <m:r>
                                    <a:rPr lang="it-IT" sz="800" b="1" i="1" dirty="0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  <m:sup>
                                  <m:r>
                                    <a:rPr lang="it-IT" sz="800" b="1" i="1" dirty="0" smtClean="0">
                                      <a:latin typeface="Cambria Math" panose="02040503050406030204" pitchFamily="18" charset="0"/>
                                    </a:rPr>
                                    <m:t>𝒍𝒐𝒄𝒌𝒆𝒅</m:t>
                                  </m:r>
                                </m:sup>
                              </m:sSubSup>
                            </m:oMath>
                          </m:oMathPara>
                        </a14:m>
                        <a:endParaRPr lang="it-IT" sz="200" dirty="0"/>
                      </a:p>
                    </p:txBody>
                  </p:sp>
                </mc:Choice>
                <mc:Fallback xmlns="">
                  <p:sp>
                    <p:nvSpPr>
                      <p:cNvPr id="71" name="TextBox 70">
                        <a:extLst>
                          <a:ext uri="{FF2B5EF4-FFF2-40B4-BE49-F238E27FC236}">
                            <a16:creationId xmlns:a16="http://schemas.microsoft.com/office/drawing/2014/main" id="{059E75A6-920F-661A-F0AA-6F8A0A263CD3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85993" y="2350375"/>
                        <a:ext cx="1508961" cy="2051802"/>
                      </a:xfrm>
                      <a:prstGeom prst="rect">
                        <a:avLst/>
                      </a:prstGeom>
                      <a:blipFill>
                        <a:blip r:embed="rId5"/>
                        <a:stretch>
                          <a:fillRect b="-4545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GB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3AE9C4CE-F402-7919-A6AC-E86EBEBA3D50}"/>
                    </a:ext>
                  </a:extLst>
                </p:cNvPr>
                <p:cNvSpPr txBox="1"/>
                <p:nvPr/>
              </p:nvSpPr>
              <p:spPr>
                <a:xfrm>
                  <a:off x="273005" y="1970735"/>
                  <a:ext cx="1952228" cy="195255"/>
                </a:xfrm>
                <a:prstGeom prst="rect">
                  <a:avLst/>
                </a:prstGeom>
                <a:noFill/>
                <a:effectLst>
                  <a:outerShdw blurRad="50800" dist="50800" dir="5400000" algn="ctr" rotWithShape="0">
                    <a:srgbClr val="000000">
                      <a:alpha val="20000"/>
                    </a:srgbClr>
                  </a:outerShdw>
                </a:effectLst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800" i="1" u="sng" dirty="0">
                      <a:solidFill>
                        <a:schemeClr val="bg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Step C – Actual</a:t>
                  </a:r>
                  <a:endParaRPr lang="it-IT" sz="800" i="1" u="sng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72" name="Group 71">
                <a:extLst>
                  <a:ext uri="{FF2B5EF4-FFF2-40B4-BE49-F238E27FC236}">
                    <a16:creationId xmlns:a16="http://schemas.microsoft.com/office/drawing/2014/main" id="{3FE6DAA1-8AB2-BD39-369A-64518E3A076A}"/>
                  </a:ext>
                </a:extLst>
              </p:cNvPr>
              <p:cNvGrpSpPr/>
              <p:nvPr/>
            </p:nvGrpSpPr>
            <p:grpSpPr>
              <a:xfrm>
                <a:off x="5591848" y="1326906"/>
                <a:ext cx="1952228" cy="3180294"/>
                <a:chOff x="273005" y="1913562"/>
                <a:chExt cx="1952228" cy="2801538"/>
              </a:xfrm>
            </p:grpSpPr>
            <p:grpSp>
              <p:nvGrpSpPr>
                <p:cNvPr id="73" name="Group 72">
                  <a:extLst>
                    <a:ext uri="{FF2B5EF4-FFF2-40B4-BE49-F238E27FC236}">
                      <a16:creationId xmlns:a16="http://schemas.microsoft.com/office/drawing/2014/main" id="{640FC0F4-C9C7-C5E4-8554-CDF73F74216E}"/>
                    </a:ext>
                  </a:extLst>
                </p:cNvPr>
                <p:cNvGrpSpPr/>
                <p:nvPr/>
              </p:nvGrpSpPr>
              <p:grpSpPr>
                <a:xfrm>
                  <a:off x="428652" y="1913562"/>
                  <a:ext cx="1610424" cy="2801538"/>
                  <a:chOff x="428652" y="1913562"/>
                  <a:chExt cx="1610424" cy="2801538"/>
                </a:xfrm>
              </p:grpSpPr>
              <p:sp>
                <p:nvSpPr>
                  <p:cNvPr id="75" name="Rectangle 74">
                    <a:extLst>
                      <a:ext uri="{FF2B5EF4-FFF2-40B4-BE49-F238E27FC236}">
                        <a16:creationId xmlns:a16="http://schemas.microsoft.com/office/drawing/2014/main" id="{C272A912-57E4-F359-61BC-CA6185D3F692}"/>
                      </a:ext>
                    </a:extLst>
                  </p:cNvPr>
                  <p:cNvSpPr/>
                  <p:nvPr/>
                </p:nvSpPr>
                <p:spPr>
                  <a:xfrm>
                    <a:off x="428652" y="1996888"/>
                    <a:ext cx="1610424" cy="2718212"/>
                  </a:xfrm>
                  <a:prstGeom prst="rect">
                    <a:avLst/>
                  </a:prstGeom>
                  <a:solidFill>
                    <a:srgbClr val="EAFCE5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 defTabSz="457200"/>
                    <a:endParaRPr lang="it-IT" sz="1400" b="1" dirty="0">
                      <a:solidFill>
                        <a:srgbClr val="FFFF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76" name="Rectangle: Rounded Corners 75">
                    <a:extLst>
                      <a:ext uri="{FF2B5EF4-FFF2-40B4-BE49-F238E27FC236}">
                        <a16:creationId xmlns:a16="http://schemas.microsoft.com/office/drawing/2014/main" id="{18EEE3D3-3BC8-714F-B521-A3E06CD7A835}"/>
                      </a:ext>
                    </a:extLst>
                  </p:cNvPr>
                  <p:cNvSpPr/>
                  <p:nvPr/>
                </p:nvSpPr>
                <p:spPr>
                  <a:xfrm>
                    <a:off x="560951" y="1913562"/>
                    <a:ext cx="1376336" cy="329790"/>
                  </a:xfrm>
                  <a:prstGeom prst="roundRect">
                    <a:avLst/>
                  </a:prstGeom>
                  <a:solidFill>
                    <a:srgbClr val="004F9F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it-IT" sz="1400" b="1" dirty="0">
                      <a:solidFill>
                        <a:srgbClr val="FFFF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77" name="TextBox 76">
                        <a:extLst>
                          <a:ext uri="{FF2B5EF4-FFF2-40B4-BE49-F238E27FC236}">
                            <a16:creationId xmlns:a16="http://schemas.microsoft.com/office/drawing/2014/main" id="{DC757AF9-D473-CBDC-349C-6A9E04C67D77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85993" y="2350376"/>
                        <a:ext cx="1508961" cy="98496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pPr algn="ctr"/>
                        <a:r>
                          <a:rPr lang="en-US" sz="800" b="1" dirty="0"/>
                          <a:t>Cost</a:t>
                        </a:r>
                        <a:r>
                          <a:rPr lang="en-US" sz="800" dirty="0"/>
                          <a:t> is measured </a:t>
                        </a:r>
                        <a:r>
                          <a:rPr lang="en-US" sz="800" b="1" dirty="0"/>
                          <a:t>on</a:t>
                        </a:r>
                        <a:r>
                          <a:rPr lang="en-US" sz="800" dirty="0"/>
                          <a:t> </a:t>
                        </a:r>
                        <a:r>
                          <a:rPr lang="en-US" sz="800" b="1" dirty="0"/>
                          <a:t>weights after drift, payout and restore</a:t>
                        </a:r>
                        <a:r>
                          <a:rPr lang="en-US" sz="800" dirty="0"/>
                          <a:t> - before year-end rebalancing:</a:t>
                        </a:r>
                      </a:p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"/>
                            </m:oMathParaPr>
                            <m:oMath xmlns:m="http://schemas.openxmlformats.org/officeDocument/2006/math">
                              <m:r>
                                <a:rPr lang="en-US" sz="800" b="1" i="1" dirty="0" smtClean="0">
                                  <a:latin typeface="Cambria Math" panose="02040503050406030204" pitchFamily="18" charset="0"/>
                                </a:rPr>
                                <m:t>𝒄𝒐𝒔</m:t>
                              </m:r>
                              <m:sSub>
                                <m:sSubPr>
                                  <m:ctrlPr>
                                    <a:rPr lang="en-US" sz="800" b="1" i="1" err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b="1" i="1" dirty="0" smtClean="0"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e>
                                <m:sub>
                                  <m:r>
                                    <a:rPr lang="en-US" sz="800" b="1" i="1" smtClean="0"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sub>
                              </m:sSub>
                              <m:r>
                                <a:rPr lang="en-US" sz="800" b="1" i="1">
                                  <a:latin typeface="Cambria Math" panose="02040503050406030204" pitchFamily="18" charset="0"/>
                                </a:rPr>
                                <m:t>= </m:t>
                              </m:r>
                            </m:oMath>
                          </m:oMathPara>
                        </a14:m>
                        <a:endParaRPr lang="it-IT" sz="800" b="1" i="1" dirty="0">
                          <a:latin typeface="Cambria Math" panose="02040503050406030204" pitchFamily="18" charset="0"/>
                        </a:endParaRPr>
                      </a:p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"/>
                            </m:oMathParaPr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800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sz="800" b="1" i="1" dirty="0">
                                          <a:latin typeface="Cambria Math" panose="02040503050406030204" pitchFamily="18" charset="0"/>
                                        </a:rPr>
                                        <m:t>𝒓</m:t>
                                      </m:r>
                                    </m:e>
                                    <m:sub>
                                      <m:r>
                                        <a:rPr lang="it-IT" sz="800" b="1" i="1" dirty="0">
                                          <a:latin typeface="Cambria Math" panose="02040503050406030204" pitchFamily="18" charset="0"/>
                                        </a:rPr>
                                        <m:t>𝒃𝒆𝒏𝒄𝒉</m:t>
                                      </m:r>
                                    </m:sub>
                                  </m:sSub>
                                  <m:r>
                                    <a:rPr lang="it-IT" sz="800" b="1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800" b="1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sz="800" b="1" i="1" dirty="0">
                                          <a:latin typeface="Cambria Math" panose="02040503050406030204" pitchFamily="18" charset="0"/>
                                        </a:rPr>
                                        <m:t>𝒓</m:t>
                                      </m:r>
                                    </m:e>
                                    <m:sub>
                                      <m:r>
                                        <a:rPr lang="it-IT" sz="800" b="1" i="1" dirty="0" smtClean="0">
                                          <a:latin typeface="Cambria Math" panose="02040503050406030204" pitchFamily="18" charset="0"/>
                                        </a:rPr>
                                        <m:t>𝒂𝒄𝒕𝒖𝒂𝒍</m:t>
                                      </m:r>
                                    </m:sub>
                                  </m:sSub>
                                </m:e>
                              </m:d>
                            </m:oMath>
                          </m:oMathPara>
                        </a14:m>
                        <a:endParaRPr lang="it-IT" sz="800" b="1" i="1" dirty="0">
                          <a:latin typeface="Cambria Math" panose="02040503050406030204" pitchFamily="18" charset="0"/>
                        </a:endParaRPr>
                      </a:p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"/>
                            </m:oMathParaPr>
                            <m:oMath xmlns:m="http://schemas.openxmlformats.org/officeDocument/2006/math">
                              <m:r>
                                <a:rPr lang="en-US" sz="800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800" b="1" i="1" dirty="0">
                                  <a:latin typeface="Cambria Math" panose="02040503050406030204" pitchFamily="18" charset="0"/>
                                </a:rPr>
                                <m:t>𝒄𝒐𝒔</m:t>
                              </m:r>
                              <m:sSub>
                                <m:sSubPr>
                                  <m:ctrlPr>
                                    <a:rPr lang="en-US" sz="800" b="1" i="1" err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b="1" i="1" dirty="0"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e>
                                <m:sub>
                                  <m:r>
                                    <a:rPr lang="it-IT" sz="800" b="1" i="1" dirty="0" smtClean="0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sub>
                              </m:sSub>
                              <m:r>
                                <a:rPr lang="en-US" sz="800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800" b="1" i="1" dirty="0">
                                  <a:latin typeface="Cambria Math" panose="02040503050406030204" pitchFamily="18" charset="0"/>
                                </a:rPr>
                                <m:t>𝒄𝒐𝒔</m:t>
                              </m:r>
                              <m:sSub>
                                <m:sSubPr>
                                  <m:ctrlPr>
                                    <a:rPr lang="en-US" sz="800" b="1" i="1" err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b="1" i="1" dirty="0"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e>
                                <m:sub>
                                  <m:r>
                                    <a:rPr lang="it-IT" sz="800" b="1" i="1" dirty="0" smtClean="0">
                                      <a:latin typeface="Cambria Math" panose="02040503050406030204" pitchFamily="18" charset="0"/>
                                    </a:rPr>
                                    <m:t>𝒇𝒑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it-IT" sz="800" b="1" i="1" dirty="0">
                          <a:latin typeface="Cambria Math" panose="02040503050406030204" pitchFamily="18" charset="0"/>
                        </a:endParaRPr>
                      </a:p>
                      <a:p>
                        <a:pPr algn="ctr"/>
                        <a:endParaRPr lang="it-IT" sz="200" dirty="0"/>
                      </a:p>
                    </p:txBody>
                  </p:sp>
                </mc:Choice>
                <mc:Fallback xmlns="">
                  <p:sp>
                    <p:nvSpPr>
                      <p:cNvPr id="77" name="TextBox 76">
                        <a:extLst>
                          <a:ext uri="{FF2B5EF4-FFF2-40B4-BE49-F238E27FC236}">
                            <a16:creationId xmlns:a16="http://schemas.microsoft.com/office/drawing/2014/main" id="{DC757AF9-D473-CBDC-349C-6A9E04C67D77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85993" y="2350376"/>
                        <a:ext cx="1508961" cy="984960"/>
                      </a:xfrm>
                      <a:prstGeom prst="rect">
                        <a:avLst/>
                      </a:prstGeom>
                      <a:blipFill>
                        <a:blip r:embed="rId6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it-IT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42192D1C-482D-CCA4-8BE5-519D8DB35A91}"/>
                    </a:ext>
                  </a:extLst>
                </p:cNvPr>
                <p:cNvSpPr txBox="1"/>
                <p:nvPr/>
              </p:nvSpPr>
              <p:spPr>
                <a:xfrm>
                  <a:off x="273005" y="1970735"/>
                  <a:ext cx="1952228" cy="215444"/>
                </a:xfrm>
                <a:prstGeom prst="rect">
                  <a:avLst/>
                </a:prstGeom>
                <a:noFill/>
                <a:effectLst>
                  <a:outerShdw blurRad="50800" dist="50800" dir="5400000" algn="ctr" rotWithShape="0">
                    <a:srgbClr val="000000">
                      <a:alpha val="20000"/>
                    </a:srgbClr>
                  </a:outerShdw>
                </a:effectLst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800" i="1" u="sng" dirty="0">
                      <a:solidFill>
                        <a:schemeClr val="bg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Step D – Annual Cost</a:t>
                  </a:r>
                  <a:endParaRPr lang="it-IT" sz="800" i="1" u="sng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78" name="Group 77">
                <a:extLst>
                  <a:ext uri="{FF2B5EF4-FFF2-40B4-BE49-F238E27FC236}">
                    <a16:creationId xmlns:a16="http://schemas.microsoft.com/office/drawing/2014/main" id="{8E3F1BD2-0679-620E-54CE-FF2F8008E212}"/>
                  </a:ext>
                </a:extLst>
              </p:cNvPr>
              <p:cNvGrpSpPr/>
              <p:nvPr/>
            </p:nvGrpSpPr>
            <p:grpSpPr>
              <a:xfrm>
                <a:off x="7357919" y="1328032"/>
                <a:ext cx="1952228" cy="3180294"/>
                <a:chOff x="273005" y="1913562"/>
                <a:chExt cx="1952228" cy="2801538"/>
              </a:xfrm>
            </p:grpSpPr>
            <p:grpSp>
              <p:nvGrpSpPr>
                <p:cNvPr id="79" name="Group 78">
                  <a:extLst>
                    <a:ext uri="{FF2B5EF4-FFF2-40B4-BE49-F238E27FC236}">
                      <a16:creationId xmlns:a16="http://schemas.microsoft.com/office/drawing/2014/main" id="{D365CECF-1E07-7A79-EF2A-25317183A340}"/>
                    </a:ext>
                  </a:extLst>
                </p:cNvPr>
                <p:cNvGrpSpPr/>
                <p:nvPr/>
              </p:nvGrpSpPr>
              <p:grpSpPr>
                <a:xfrm>
                  <a:off x="428652" y="1913562"/>
                  <a:ext cx="1610424" cy="2801538"/>
                  <a:chOff x="428652" y="1913562"/>
                  <a:chExt cx="1610424" cy="2801538"/>
                </a:xfrm>
              </p:grpSpPr>
              <p:sp>
                <p:nvSpPr>
                  <p:cNvPr id="81" name="Rectangle 80">
                    <a:extLst>
                      <a:ext uri="{FF2B5EF4-FFF2-40B4-BE49-F238E27FC236}">
                        <a16:creationId xmlns:a16="http://schemas.microsoft.com/office/drawing/2014/main" id="{789F2AAE-B4AB-79A2-6D6B-0F5A93458EE9}"/>
                      </a:ext>
                    </a:extLst>
                  </p:cNvPr>
                  <p:cNvSpPr/>
                  <p:nvPr/>
                </p:nvSpPr>
                <p:spPr>
                  <a:xfrm>
                    <a:off x="428652" y="1996888"/>
                    <a:ext cx="1610424" cy="2718212"/>
                  </a:xfrm>
                  <a:prstGeom prst="rect">
                    <a:avLst/>
                  </a:prstGeom>
                  <a:solidFill>
                    <a:srgbClr val="E2CED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 defTabSz="457200"/>
                    <a:endParaRPr lang="it-IT" sz="1400" b="1" dirty="0">
                      <a:solidFill>
                        <a:srgbClr val="FFFF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82" name="Rectangle: Rounded Corners 81">
                    <a:extLst>
                      <a:ext uri="{FF2B5EF4-FFF2-40B4-BE49-F238E27FC236}">
                        <a16:creationId xmlns:a16="http://schemas.microsoft.com/office/drawing/2014/main" id="{A42626AA-C60F-20C1-B837-A91C31204C98}"/>
                      </a:ext>
                    </a:extLst>
                  </p:cNvPr>
                  <p:cNvSpPr/>
                  <p:nvPr/>
                </p:nvSpPr>
                <p:spPr>
                  <a:xfrm>
                    <a:off x="560951" y="1913562"/>
                    <a:ext cx="1376336" cy="329790"/>
                  </a:xfrm>
                  <a:prstGeom prst="roundRect">
                    <a:avLst/>
                  </a:prstGeom>
                  <a:solidFill>
                    <a:srgbClr val="004F9F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it-IT" sz="1400" b="1" dirty="0">
                      <a:solidFill>
                        <a:srgbClr val="FFFF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83" name="TextBox 82">
                        <a:extLst>
                          <a:ext uri="{FF2B5EF4-FFF2-40B4-BE49-F238E27FC236}">
                            <a16:creationId xmlns:a16="http://schemas.microsoft.com/office/drawing/2014/main" id="{23573DA3-F76A-266D-C5DF-4D9E95507654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85993" y="2350376"/>
                        <a:ext cx="1508961" cy="119499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pPr algn="ctr"/>
                        <a:r>
                          <a:rPr lang="en-US" sz="800" dirty="0"/>
                          <a:t>Direct </a:t>
                        </a:r>
                        <a:r>
                          <a:rPr lang="en-US" sz="800" b="1" dirty="0"/>
                          <a:t>estimate of the accumulated penalty </a:t>
                        </a:r>
                        <a:r>
                          <a:rPr lang="en-US" sz="800" dirty="0"/>
                          <a:t>(non-linear OLS):</a:t>
                        </a:r>
                      </a:p>
                      <a:p>
                        <a:pPr algn="ctr"/>
                        <a14:m>
                          <m:oMath xmlns:m="http://schemas.openxmlformats.org/officeDocument/2006/math">
                            <m:r>
                              <a:rPr lang="en-US" sz="800" b="1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acc>
                              <m:accPr>
                                <m:chr m:val="̂"/>
                                <m:ctrlPr>
                                  <a:rPr lang="en-US" sz="800" b="1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800" b="1" i="1" dirty="0" smtClean="0"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</m:e>
                            </m:acc>
                            <m:r>
                              <a:rPr lang="en-US" sz="800" b="1" i="1" dirty="0" smtClean="0">
                                <a:latin typeface="Cambria Math" panose="02040503050406030204" pitchFamily="18" charset="0"/>
                              </a:rPr>
                              <m:t>= </m:t>
                            </m:r>
                            <m:r>
                              <a:rPr lang="en-US" sz="800" b="1" i="1" dirty="0" smtClean="0">
                                <a:latin typeface="Cambria Math" panose="02040503050406030204" pitchFamily="18" charset="0"/>
                              </a:rPr>
                              <m:t>𝑨</m:t>
                            </m:r>
                            <m:r>
                              <a:rPr lang="en-US" sz="800" b="1" i="1" dirty="0" smtClean="0">
                                <a:latin typeface="Cambria Math" panose="02040503050406030204" pitchFamily="18" charset="0"/>
                              </a:rPr>
                              <m:t> ·</m:t>
                            </m:r>
                            <m:sSup>
                              <m:sSupPr>
                                <m:ctrlPr>
                                  <a:rPr lang="en-US" sz="800" b="1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it-IT" sz="800" b="1" i="1" dirty="0" smtClean="0">
                                    <a:latin typeface="Cambria Math" panose="02040503050406030204" pitchFamily="18" charset="0"/>
                                  </a:rPr>
                                  <m:t>𝑳</m:t>
                                </m:r>
                              </m:e>
                              <m:sup>
                                <m:r>
                                  <a:rPr lang="it-IT" sz="800" b="1" i="1" dirty="0" smtClean="0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</m:sup>
                            </m:sSup>
                          </m:oMath>
                        </a14:m>
                        <a:r>
                          <a:rPr lang="it-IT" sz="800" b="1" i="1" dirty="0">
                            <a:latin typeface="Cambria Math" panose="02040503050406030204" pitchFamily="18" charset="0"/>
                          </a:rPr>
                          <a:t>   </a:t>
                        </a:r>
                      </a:p>
                      <a:p>
                        <a:pPr algn="ctr"/>
                        <a:endParaRPr lang="it-IT" sz="800" dirty="0"/>
                      </a:p>
                      <a:p>
                        <a:pPr algn="ctr"/>
                        <a:r>
                          <a:rPr lang="en-US" sz="800" b="1" dirty="0"/>
                          <a:t>Parameters</a:t>
                        </a:r>
                        <a:r>
                          <a:rPr lang="en-US" sz="800" dirty="0"/>
                          <a:t> recovered analytically: </a:t>
                        </a:r>
                      </a:p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"/>
                            </m:oMathParaPr>
                            <m:oMath xmlns:m="http://schemas.openxmlformats.org/officeDocument/2006/math">
                              <m:r>
                                <a:rPr lang="en-US" sz="800" b="1" i="1" dirty="0" smtClean="0">
                                  <a:latin typeface="Cambria Math" panose="02040503050406030204" pitchFamily="18" charset="0"/>
                                </a:rPr>
                                <m:t>𝜷</m:t>
                              </m:r>
                              <m:r>
                                <a:rPr lang="en-US" sz="800" b="1" i="1" dirty="0" smtClean="0">
                                  <a:latin typeface="Cambria Math" panose="02040503050406030204" pitchFamily="18" charset="0"/>
                                </a:rPr>
                                <m:t> = </m:t>
                              </m:r>
                              <m:r>
                                <a:rPr lang="en-US" sz="800" b="1" i="1" dirty="0"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  <m:r>
                                <a:rPr lang="en-US" sz="800" b="1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8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sz="800" b="1" i="1" dirty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en-US" sz="800" b="1" i="1" dirty="0">
                                  <a:latin typeface="Cambria Math" panose="02040503050406030204" pitchFamily="18" charset="0"/>
                                </a:rPr>
                                <m:t>𝜶</m:t>
                              </m:r>
                              <m:r>
                                <a:rPr lang="en-US" sz="800" b="1" i="1" dirty="0">
                                  <a:latin typeface="Cambria Math" panose="02040503050406030204" pitchFamily="18" charset="0"/>
                                </a:rPr>
                                <m:t> = </m:t>
                              </m:r>
                              <m:r>
                                <a:rPr lang="en-US" sz="800" b="1" i="1" dirty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  <m:r>
                                <a:rPr lang="en-US" sz="800" b="1" i="1" dirty="0">
                                  <a:latin typeface="Cambria Math" panose="02040503050406030204" pitchFamily="18" charset="0"/>
                                </a:rPr>
                                <m:t>·</m:t>
                              </m:r>
                              <m:r>
                                <a:rPr lang="en-US" sz="800" b="1" i="1" dirty="0"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oMath>
                          </m:oMathPara>
                        </a14:m>
                        <a:endParaRPr lang="en-US" sz="800" dirty="0"/>
                      </a:p>
                      <a:p>
                        <a:pPr algn="ctr"/>
                        <a:endParaRPr lang="it-IT" sz="800" b="1" i="1" dirty="0">
                          <a:latin typeface="Cambria Math" panose="02040503050406030204" pitchFamily="18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83" name="TextBox 82">
                        <a:extLst>
                          <a:ext uri="{FF2B5EF4-FFF2-40B4-BE49-F238E27FC236}">
                            <a16:creationId xmlns:a16="http://schemas.microsoft.com/office/drawing/2014/main" id="{23573DA3-F76A-266D-C5DF-4D9E95507654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85993" y="2350376"/>
                        <a:ext cx="1508961" cy="1194990"/>
                      </a:xfrm>
                      <a:prstGeom prst="rect">
                        <a:avLst/>
                      </a:prstGeom>
                      <a:blipFill>
                        <a:blip r:embed="rId7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it-IT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EE4068FB-A64E-9A10-8C03-C94D5E0A7E7D}"/>
                    </a:ext>
                  </a:extLst>
                </p:cNvPr>
                <p:cNvSpPr txBox="1"/>
                <p:nvPr/>
              </p:nvSpPr>
              <p:spPr>
                <a:xfrm>
                  <a:off x="273005" y="1970735"/>
                  <a:ext cx="1952228" cy="215444"/>
                </a:xfrm>
                <a:prstGeom prst="rect">
                  <a:avLst/>
                </a:prstGeom>
                <a:noFill/>
                <a:effectLst>
                  <a:outerShdw blurRad="50800" dist="50800" dir="5400000" algn="ctr" rotWithShape="0">
                    <a:srgbClr val="000000">
                      <a:alpha val="20000"/>
                    </a:srgbClr>
                  </a:outerShdw>
                </a:effectLst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800" i="1" u="sng" dirty="0">
                      <a:solidFill>
                        <a:schemeClr val="bg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Step E – Fitting</a:t>
                  </a:r>
                  <a:endParaRPr lang="it-IT" sz="800" i="1" u="sng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</p:grpSp>
      </p:grpSp>
      <p:sp>
        <p:nvSpPr>
          <p:cNvPr id="87" name="Arrow: Right 86">
            <a:extLst>
              <a:ext uri="{FF2B5EF4-FFF2-40B4-BE49-F238E27FC236}">
                <a16:creationId xmlns:a16="http://schemas.microsoft.com/office/drawing/2014/main" id="{A9D93438-7D7F-8ABF-AE2C-DD70FAC5981F}"/>
              </a:ext>
            </a:extLst>
          </p:cNvPr>
          <p:cNvSpPr/>
          <p:nvPr/>
        </p:nvSpPr>
        <p:spPr>
          <a:xfrm>
            <a:off x="207483" y="3708073"/>
            <a:ext cx="8722418" cy="475824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50800" dir="5400000" algn="ctr" rotWithShape="0">
              <a:srgbClr val="000000">
                <a:alpha val="20000"/>
              </a:srgbClr>
            </a:outerShdw>
          </a:effectLst>
        </p:spPr>
        <p:txBody>
          <a:bodyPr wrap="square">
            <a:spAutoFit/>
          </a:bodyPr>
          <a:lstStyle/>
          <a:p>
            <a:pPr algn="ctr" defTabSz="685800">
              <a:spcBef>
                <a:spcPts val="1000"/>
              </a:spcBef>
              <a:buClr>
                <a:srgbClr val="00A0E3"/>
              </a:buClr>
              <a:buSzPct val="130000"/>
            </a:pPr>
            <a:endParaRPr lang="it-IT" sz="900" i="1">
              <a:solidFill>
                <a:srgbClr val="001C4B"/>
              </a:solidFill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7" name="Curved Right Arrow 91">
            <a:extLst>
              <a:ext uri="{FF2B5EF4-FFF2-40B4-BE49-F238E27FC236}">
                <a16:creationId xmlns:a16="http://schemas.microsoft.com/office/drawing/2014/main" id="{EE73A884-881C-4000-E383-A156BBD53C68}"/>
              </a:ext>
            </a:extLst>
          </p:cNvPr>
          <p:cNvSpPr>
            <a:spLocks/>
          </p:cNvSpPr>
          <p:nvPr/>
        </p:nvSpPr>
        <p:spPr>
          <a:xfrm rot="16200000">
            <a:off x="3525744" y="49645"/>
            <a:ext cx="447215" cy="7077121"/>
          </a:xfrm>
          <a:prstGeom prst="curvedRightArrow">
            <a:avLst>
              <a:gd name="adj1" fmla="val 41956"/>
              <a:gd name="adj2" fmla="val 87186"/>
              <a:gd name="adj3" fmla="val 23553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sz="100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86C354-728F-E078-A66A-E44934DEC28F}"/>
              </a:ext>
            </a:extLst>
          </p:cNvPr>
          <p:cNvSpPr txBox="1"/>
          <p:nvPr/>
        </p:nvSpPr>
        <p:spPr>
          <a:xfrm>
            <a:off x="290390" y="4251281"/>
            <a:ext cx="82871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ui-sans-serif"/>
              </a:rPr>
              <a:t>Steps A through D are repeated for each of the T years, across all N scenarios</a:t>
            </a:r>
          </a:p>
        </p:txBody>
      </p:sp>
      <p:sp>
        <p:nvSpPr>
          <p:cNvPr id="88" name="Chapter tracker"/>
          <p:cNvSpPr txBox="1"/>
          <p:nvPr/>
        </p:nvSpPr>
        <p:spPr>
          <a:xfrm>
            <a:off x="3657600" y="182880"/>
            <a:ext cx="5056632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B0B2B5"/>
                </a:solidFill>
              </a:rPr>
              <a:t>01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02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1" i="0">
                <a:solidFill>
                  <a:srgbClr val="009EE0"/>
                </a:solidFill>
              </a:rPr>
              <a:t>03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04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05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646464"/>
                </a:solidFill>
              </a:rPr>
              <a:t>Calibrating the penalty curve by simulation</a:t>
            </a:r>
          </a:p>
        </p:txBody>
      </p:sp>
    </p:spTree>
    <p:extLst>
      <p:ext uri="{BB962C8B-B14F-4D97-AF65-F5344CB8AC3E}">
        <p14:creationId xmlns:p14="http://schemas.microsoft.com/office/powerpoint/2010/main" val="2537874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E14DC-E81C-4003-C6DF-E36BC1077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7B1D38-921B-2270-720C-33A0BD46C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Gross vs Net Frontiers Across Archetypes</a:t>
            </a:r>
            <a:endParaRPr lang="it-IT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5ED2229-7264-68EE-24F4-9784D657F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Pricing Illiquidity in Strategic Asset Allocation  l  October 2026</a:t>
            </a:r>
            <a:endParaRPr lang="en-GB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79B9EB5-A5A9-4EDC-7E6E-0897BA376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C6FFC-D040-034F-8B69-20295064E64D}" type="slidenum">
              <a:rPr lang="fr-FR" smtClean="0"/>
              <a:t>12</a:t>
            </a:fld>
            <a:endParaRPr lang="fr-FR" dirty="0"/>
          </a:p>
        </p:txBody>
      </p:sp>
      <p:sp xmlns:a14="http://schemas.microsoft.com/office/drawing/2010/main">
        <p:nvSpPr>
          <p:cNvPr id="6" name="Espace réservé du texte 5">
            <a:extLst>
              <a:ext uri="{FF2B5EF4-FFF2-40B4-BE49-F238E27FC236}">
                <a16:creationId xmlns:a16="http://schemas.microsoft.com/office/drawing/2014/main" id="{7FA61643-BBD3-7EFD-D483-AF3F03AE0B9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Penalized (red) versus unpenalized (dashed) efficient frontier with the calibrated curves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078992"/>
            <a:ext cx="2130552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003C64"/>
                </a:solidFill>
              </a:rPr>
              <a:t>Pension Fund</a:t>
            </a:r>
            <a:r>
              <a:rPr sz="850" b="0" i="0">
                <a:solidFill>
                  <a:srgbClr val="646464"/>
                </a:solidFill>
              </a:rPr>
              <a:t>   α = 0.13, β = 2.64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417320" y="1316736"/>
            <a:ext cx="2130552" cy="0"/>
          </a:xfrm>
          <a:prstGeom prst="line">
            <a:avLst/>
          </a:prstGeom>
          <a:ln w="15875">
            <a:solidFill>
              <a:srgbClr val="009E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fr_pf.png"/>
          <p:cNvPicPr>
            <a:picLocks noChangeAspect="1"/>
          </p:cNvPicPr>
          <p:nvPr/>
        </p:nvPicPr>
        <p:blipFill>
          <a:blip r:embed="rId6"/>
          <a:srcRect t="18000" r="50000"/>
          <a:stretch>
            <a:fillRect/>
          </a:stretch>
        </p:blipFill>
        <p:spPr>
          <a:xfrm>
            <a:off x="1417320" y="1371600"/>
            <a:ext cx="2130552" cy="1302414"/>
          </a:xfrm>
          <a:prstGeom prst="rect">
            <a:avLst/>
          </a:prstGeom>
        </p:spPr>
      </p:pic>
      <p:pic>
        <p:nvPicPr>
          <p:cNvPr id="10" name="Picture 9" descr="fr_pf.png"/>
          <p:cNvPicPr>
            <a:picLocks noChangeAspect="1"/>
          </p:cNvPicPr>
          <p:nvPr/>
        </p:nvPicPr>
        <p:blipFill>
          <a:blip r:embed="rId6"/>
          <a:srcRect t="18000" l="50000"/>
          <a:stretch>
            <a:fillRect/>
          </a:stretch>
        </p:blipFill>
        <p:spPr>
          <a:xfrm>
            <a:off x="1417320" y="2728878"/>
            <a:ext cx="2130552" cy="130241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849624" y="1078992"/>
            <a:ext cx="2130552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003C64"/>
                </a:solidFill>
              </a:rPr>
              <a:t>Endowment</a:t>
            </a:r>
            <a:r>
              <a:rPr sz="850" b="0" i="0">
                <a:solidFill>
                  <a:srgbClr val="646464"/>
                </a:solidFill>
              </a:rPr>
              <a:t>   α = 0.15, β = 4.16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49624" y="1316736"/>
            <a:ext cx="2130552" cy="0"/>
          </a:xfrm>
          <a:prstGeom prst="line">
            <a:avLst/>
          </a:prstGeom>
          <a:ln w="15875">
            <a:solidFill>
              <a:srgbClr val="009E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fr_en.png"/>
          <p:cNvPicPr>
            <a:picLocks noChangeAspect="1"/>
          </p:cNvPicPr>
          <p:nvPr/>
        </p:nvPicPr>
        <p:blipFill>
          <a:blip r:embed="rId7"/>
          <a:srcRect t="18000" r="50000"/>
          <a:stretch>
            <a:fillRect/>
          </a:stretch>
        </p:blipFill>
        <p:spPr>
          <a:xfrm>
            <a:off x="3849624" y="1371600"/>
            <a:ext cx="2130552" cy="1302414"/>
          </a:xfrm>
          <a:prstGeom prst="rect">
            <a:avLst/>
          </a:prstGeom>
        </p:spPr>
      </p:pic>
      <p:pic>
        <p:nvPicPr>
          <p:cNvPr id="14" name="Picture 13" descr="fr_en.png"/>
          <p:cNvPicPr>
            <a:picLocks noChangeAspect="1"/>
          </p:cNvPicPr>
          <p:nvPr/>
        </p:nvPicPr>
        <p:blipFill>
          <a:blip r:embed="rId7"/>
          <a:srcRect t="18000" l="50000"/>
          <a:stretch>
            <a:fillRect/>
          </a:stretch>
        </p:blipFill>
        <p:spPr>
          <a:xfrm>
            <a:off x="3849624" y="2728878"/>
            <a:ext cx="2130552" cy="13024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281928" y="1078992"/>
            <a:ext cx="2130552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003C64"/>
                </a:solidFill>
              </a:rPr>
              <a:t>Family Office</a:t>
            </a:r>
            <a:r>
              <a:rPr sz="850" b="0" i="0">
                <a:solidFill>
                  <a:srgbClr val="646464"/>
                </a:solidFill>
              </a:rPr>
              <a:t>   α = 0.015, β = 1.73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281928" y="1316736"/>
            <a:ext cx="2130552" cy="0"/>
          </a:xfrm>
          <a:prstGeom prst="line">
            <a:avLst/>
          </a:prstGeom>
          <a:ln w="15875">
            <a:solidFill>
              <a:srgbClr val="009E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Picture 16" descr="fr_fo.png"/>
          <p:cNvPicPr>
            <a:picLocks noChangeAspect="1"/>
          </p:cNvPicPr>
          <p:nvPr/>
        </p:nvPicPr>
        <p:blipFill>
          <a:blip r:embed="rId8"/>
          <a:srcRect t="18000" r="50000"/>
          <a:stretch>
            <a:fillRect/>
          </a:stretch>
        </p:blipFill>
        <p:spPr>
          <a:xfrm>
            <a:off x="6281928" y="1371600"/>
            <a:ext cx="2130552" cy="1302414"/>
          </a:xfrm>
          <a:prstGeom prst="rect">
            <a:avLst/>
          </a:prstGeom>
        </p:spPr>
      </p:pic>
      <p:pic>
        <p:nvPicPr>
          <p:cNvPr id="18" name="Picture 17" descr="fr_fo.png"/>
          <p:cNvPicPr>
            <a:picLocks noChangeAspect="1"/>
          </p:cNvPicPr>
          <p:nvPr/>
        </p:nvPicPr>
        <p:blipFill>
          <a:blip r:embed="rId8"/>
          <a:srcRect t="18000" l="50000"/>
          <a:stretch>
            <a:fillRect/>
          </a:stretch>
        </p:blipFill>
        <p:spPr>
          <a:xfrm>
            <a:off x="6281928" y="2728878"/>
            <a:ext cx="2130552" cy="130241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29768" y="1371600"/>
            <a:ext cx="822960" cy="130241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04F9F"/>
                </a:solidFill>
              </a:rPr>
              <a:t>Gross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4F9F"/>
                </a:solidFill>
              </a:rPr>
              <a:t>expected return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2728878"/>
            <a:ext cx="822960" cy="130241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04F9F"/>
                </a:solidFill>
              </a:rPr>
              <a:t>Net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4F9F"/>
                </a:solidFill>
              </a:rPr>
              <a:t>return μ − T(L)</a:t>
            </a:r>
          </a:p>
        </p:txBody>
      </p:sp>
      <p:sp>
        <p:nvSpPr>
          <p:cNvPr id="21" name="Key takeaway"/>
          <p:cNvSpPr/>
          <p:nvPr/>
        </p:nvSpPr>
        <p:spPr>
          <a:xfrm>
            <a:off x="429768" y="4160520"/>
            <a:ext cx="8284464" cy="365760"/>
          </a:xfrm>
          <a:prstGeom prst="rect">
            <a:avLst/>
          </a:prstGeom>
          <a:solidFill>
            <a:srgbClr val="E5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004F9F"/>
                </a:solidFill>
              </a:rPr>
              <a:t>Key takeaway  </a:t>
            </a:r>
            <a:r>
              <a:rPr sz="1100" b="0" i="0">
                <a:solidFill>
                  <a:srgbClr val="003C64"/>
                </a:solidFill>
              </a:rPr>
              <a:t>net of the penalty the penalized frontier dominates: &gt;150 bp for the pension fund, a high-volatility gap for the endowment, virtually none for the family office.</a:t>
            </a:r>
          </a:p>
        </p:txBody>
      </p:sp>
      <p:sp>
        <p:nvSpPr>
          <p:cNvPr id="22" name="Chapter tracker"/>
          <p:cNvSpPr txBox="1"/>
          <p:nvPr/>
        </p:nvSpPr>
        <p:spPr>
          <a:xfrm>
            <a:off x="3657600" y="182880"/>
            <a:ext cx="5056632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B0B2B5"/>
                </a:solidFill>
              </a:rPr>
              <a:t>01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02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03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1" i="0">
                <a:solidFill>
                  <a:srgbClr val="009EE0"/>
                </a:solidFill>
              </a:rPr>
              <a:t>04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05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646464"/>
                </a:solidFill>
              </a:rPr>
              <a:t>Implications for portfolio construction</a:t>
            </a:r>
          </a:p>
        </p:txBody>
      </p:sp>
    </p:spTree>
    <p:extLst>
      <p:ext uri="{BB962C8B-B14F-4D97-AF65-F5344CB8AC3E}">
        <p14:creationId xmlns:p14="http://schemas.microsoft.com/office/powerpoint/2010/main" val="29352037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08D60-FEB1-148E-ACE7-4E146BDE3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3592E3-2BC7-560B-B181-409FF86BA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Endowment: Calibrated Curve and Allocation</a:t>
            </a:r>
            <a:endParaRPr lang="it-IT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C77B77B-8248-9084-69AC-339FD38E7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Pricing Illiquidity in Strategic Asset Allocation  l  October 2026</a:t>
            </a:r>
            <a:endParaRPr lang="en-GB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D8967EB-DFE4-41E7-D98A-3AECB90F4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C6FFC-D040-034F-8B69-20295064E64D}" type="slidenum">
              <a:rPr lang="fr-FR" smtClean="0"/>
              <a:t>13</a:t>
            </a:fld>
            <a:endParaRPr lang="fr-FR" dirty="0"/>
          </a:p>
        </p:txBody>
      </p:sp>
      <p:sp xmlns:a14="http://schemas.microsoft.com/office/drawing/2010/main">
        <p:nvSpPr>
          <p:cNvPr id="6" name="Espace réservé du texte 5">
            <a:extLst>
              <a:ext uri="{FF2B5EF4-FFF2-40B4-BE49-F238E27FC236}">
                <a16:creationId xmlns:a16="http://schemas.microsoft.com/office/drawing/2014/main" id="{0CC3D855-983B-78AA-D644-42E35201F55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Intermediate profile with the most convex cost curve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1143000"/>
            <a:ext cx="233172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2000" b="1" i="0">
                <a:solidFill>
                  <a:srgbClr val="004F9F"/>
                </a:solidFill>
              </a:rPr>
              <a:t>α = 0.15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1508760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646464"/>
                </a:solidFill>
              </a:rPr>
              <a:t>Level of the marginal penalty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29768" y="1728216"/>
            <a:ext cx="2331719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29768" y="1783080"/>
            <a:ext cx="233172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2000" b="1" i="0">
                <a:solidFill>
                  <a:srgbClr val="004F9F"/>
                </a:solidFill>
              </a:rPr>
              <a:t>β = 4.16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2148840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646464"/>
                </a:solidFill>
              </a:rPr>
              <a:t>Curvature of the marginal penalty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29768" y="2368296"/>
            <a:ext cx="2331719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29768" y="2423160"/>
            <a:ext cx="233172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2000" b="1" i="0">
                <a:solidFill>
                  <a:srgbClr val="004F9F"/>
                </a:solidFill>
              </a:rPr>
              <a:t>R² = 0.987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" y="2788920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646464"/>
                </a:solidFill>
              </a:rPr>
              <a:t>Fit quality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29768" y="3008375"/>
            <a:ext cx="2331719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akeaways"/>
          <p:cNvSpPr txBox="1"/>
          <p:nvPr/>
        </p:nvSpPr>
        <p:spPr>
          <a:xfrm>
            <a:off x="429768" y="3108959"/>
            <a:ext cx="2377440" cy="1417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146304" indent="-146304">
              <a:spcAft>
                <a:spcPts val="500"/>
              </a:spcAft>
              <a:buFont typeface="Arial"/>
              <a:buChar char="•"/>
            </a:pPr>
            <a:r>
              <a:rPr sz="950" b="0" i="0">
                <a:solidFill>
                  <a:srgbClr val="003C64"/>
                </a:solidFill>
              </a:rPr>
              <a:t>Costs negligible at low illiquidity, then accelerating sharply above a threshold.</a:t>
            </a:r>
          </a:p>
          <a:p>
            <a:pPr algn="l" marL="146304" indent="-146304">
              <a:spcAft>
                <a:spcPts val="500"/>
              </a:spcAft>
              <a:buFont typeface="Arial"/>
              <a:buChar char="•"/>
            </a:pPr>
            <a:r>
              <a:rPr sz="950" b="0" i="0">
                <a:solidFill>
                  <a:srgbClr val="003C64"/>
                </a:solidFill>
              </a:rPr>
              <a:t>Below the threshold, penalized and unpenalized allocations are nearly identical.</a:t>
            </a:r>
          </a:p>
          <a:p>
            <a:pPr algn="l" marL="146304" indent="-146304">
              <a:spcAft>
                <a:spcPts val="500"/>
              </a:spcAft>
              <a:buFont typeface="Arial"/>
              <a:buChar char="•"/>
            </a:pPr>
            <a:r>
              <a:rPr sz="950" b="0" i="0">
                <a:solidFill>
                  <a:srgbClr val="003C64"/>
                </a:solidFill>
              </a:rPr>
              <a:t>Above it, GLOB_EQ appears abruptly and displaces GLOB_PE.</a:t>
            </a:r>
          </a:p>
        </p:txBody>
      </p:sp>
      <p:sp>
        <p:nvSpPr>
          <p:cNvPr id="17" name="Caption"/>
          <p:cNvSpPr txBox="1"/>
          <p:nvPr/>
        </p:nvSpPr>
        <p:spPr>
          <a:xfrm>
            <a:off x="3739896" y="1097280"/>
            <a:ext cx="4343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4F9F"/>
                </a:solidFill>
              </a:rPr>
              <a:t>Simulated cost and fitted curve  ·  Target portfolios by illiquidity level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rcRect t="14000"/>
          <a:stretch>
            <a:fillRect/>
          </a:stretch>
        </p:blipFill>
        <p:spPr>
          <a:xfrm>
            <a:off x="3739896" y="1307592"/>
            <a:ext cx="4343400" cy="1485773"/>
          </a:xfrm>
          <a:prstGeom prst="rect">
            <a:avLst/>
          </a:prstGeom>
        </p:spPr>
      </p:pic>
      <p:sp>
        <p:nvSpPr>
          <p:cNvPr id="19" name="Caption"/>
          <p:cNvSpPr txBox="1"/>
          <p:nvPr/>
        </p:nvSpPr>
        <p:spPr>
          <a:xfrm>
            <a:off x="3739896" y="2848229"/>
            <a:ext cx="4343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4F9F"/>
                </a:solidFill>
              </a:rPr>
              <a:t>Portfolio composition along the frontier: unpenalized vs penalized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rcRect t="8500"/>
          <a:stretch>
            <a:fillRect/>
          </a:stretch>
        </p:blipFill>
        <p:spPr>
          <a:xfrm>
            <a:off x="3739896" y="3049397"/>
            <a:ext cx="4343400" cy="1532647"/>
          </a:xfrm>
          <a:prstGeom prst="rect">
            <a:avLst/>
          </a:prstGeom>
        </p:spPr>
      </p:pic>
      <p:sp>
        <p:nvSpPr>
          <p:cNvPr id="21" name="Chapter tracker"/>
          <p:cNvSpPr txBox="1"/>
          <p:nvPr/>
        </p:nvSpPr>
        <p:spPr>
          <a:xfrm>
            <a:off x="3657600" y="182880"/>
            <a:ext cx="5056632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B0B2B5"/>
                </a:solidFill>
              </a:rPr>
              <a:t>01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02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03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1" i="0">
                <a:solidFill>
                  <a:srgbClr val="009EE0"/>
                </a:solidFill>
              </a:rPr>
              <a:t>04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05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646464"/>
                </a:solidFill>
              </a:rPr>
              <a:t>Implications for portfolio construction</a:t>
            </a:r>
          </a:p>
        </p:txBody>
      </p:sp>
    </p:spTree>
    <p:extLst>
      <p:ext uri="{BB962C8B-B14F-4D97-AF65-F5344CB8AC3E}">
        <p14:creationId xmlns:p14="http://schemas.microsoft.com/office/powerpoint/2010/main" val="32517350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0C2D3-9D18-C66F-65B8-E99B79F36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B23005-DDC6-DB0F-8298-E7FA4DDEA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Family Office: Calibrated Curve and Allocation</a:t>
            </a:r>
            <a:endParaRPr lang="it-IT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3D1C752-901B-D0BA-07EE-DEBC2B496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Pricing Illiquidity in Strategic Asset Allocation  l  October 2026</a:t>
            </a:r>
            <a:endParaRPr lang="en-GB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39F79E6-591F-3D9F-F343-231A52C40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C6FFC-D040-034F-8B69-20295064E64D}" type="slidenum">
              <a:rPr lang="fr-FR" smtClean="0"/>
              <a:t>14</a:t>
            </a:fld>
            <a:endParaRPr lang="fr-FR" dirty="0"/>
          </a:p>
        </p:txBody>
      </p:sp>
      <p:sp xmlns:a14="http://schemas.microsoft.com/office/drawing/2010/main">
        <p:nvSpPr>
          <p:cNvPr id="6" name="Espace réservé du texte 5">
            <a:extLst>
              <a:ext uri="{FF2B5EF4-FFF2-40B4-BE49-F238E27FC236}">
                <a16:creationId xmlns:a16="http://schemas.microsoft.com/office/drawing/2014/main" id="{C7F48FB6-D265-8401-D8EC-5B92EC71F4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The least constrained archetype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1143000"/>
            <a:ext cx="233172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2000" b="1" i="0">
                <a:solidFill>
                  <a:srgbClr val="004F9F"/>
                </a:solidFill>
              </a:rPr>
              <a:t>α = 0.015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1508760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646464"/>
                </a:solidFill>
              </a:rPr>
              <a:t>Level of the marginal penalty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29768" y="1728216"/>
            <a:ext cx="2331719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29768" y="1783080"/>
            <a:ext cx="233172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2000" b="1" i="0">
                <a:solidFill>
                  <a:srgbClr val="004F9F"/>
                </a:solidFill>
              </a:rPr>
              <a:t>β = 1.73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2148840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646464"/>
                </a:solidFill>
              </a:rPr>
              <a:t>Curvature of the marginal penalty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29768" y="2368296"/>
            <a:ext cx="2331719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29768" y="2423160"/>
            <a:ext cx="233172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2000" b="1" i="0">
                <a:solidFill>
                  <a:srgbClr val="004F9F"/>
                </a:solidFill>
              </a:rPr>
              <a:t>R² = 0.997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" y="2788920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646464"/>
                </a:solidFill>
              </a:rPr>
              <a:t>Fit quality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29768" y="3008375"/>
            <a:ext cx="2331719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akeaways"/>
          <p:cNvSpPr txBox="1"/>
          <p:nvPr/>
        </p:nvSpPr>
        <p:spPr>
          <a:xfrm>
            <a:off x="429768" y="3108959"/>
            <a:ext cx="2377440" cy="1417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146304" indent="-146304">
              <a:spcAft>
                <a:spcPts val="500"/>
              </a:spcAft>
              <a:buFont typeface="Arial"/>
              <a:buChar char="•"/>
            </a:pPr>
            <a:r>
              <a:rPr sz="950" b="0" i="0">
                <a:solidFill>
                  <a:srgbClr val="003C64"/>
                </a:solidFill>
              </a:rPr>
              <a:t>Mildest and most gradually accumulating penalty.</a:t>
            </a:r>
          </a:p>
          <a:p>
            <a:pPr algn="l" marL="146304" indent="-146304">
              <a:spcAft>
                <a:spcPts val="500"/>
              </a:spcAft>
              <a:buFont typeface="Arial"/>
              <a:buChar char="•"/>
            </a:pPr>
            <a:r>
              <a:rPr sz="950" b="0" i="0">
                <a:solidFill>
                  <a:srgbClr val="003C64"/>
                </a:solidFill>
              </a:rPr>
              <a:t>GLOB_PE dominates at high return levels in both cases.</a:t>
            </a:r>
          </a:p>
          <a:p>
            <a:pPr algn="l" marL="146304" indent="-146304">
              <a:spcAft>
                <a:spcPts val="500"/>
              </a:spcAft>
              <a:buFont typeface="Arial"/>
              <a:buChar char="•"/>
            </a:pPr>
            <a:r>
              <a:rPr sz="950" b="0" i="0">
                <a:solidFill>
                  <a:srgbClr val="003C64"/>
                </a:solidFill>
              </a:rPr>
              <a:t>For this investor the unpenalized MVO is a close approximation.</a:t>
            </a:r>
          </a:p>
        </p:txBody>
      </p:sp>
      <p:sp>
        <p:nvSpPr>
          <p:cNvPr id="17" name="Caption"/>
          <p:cNvSpPr txBox="1"/>
          <p:nvPr/>
        </p:nvSpPr>
        <p:spPr>
          <a:xfrm>
            <a:off x="3739896" y="1097280"/>
            <a:ext cx="4343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4F9F"/>
                </a:solidFill>
              </a:rPr>
              <a:t>Simulated cost and fitted curve  ·  Target portfolios by illiquidity level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rcRect t="14000"/>
          <a:stretch>
            <a:fillRect/>
          </a:stretch>
        </p:blipFill>
        <p:spPr>
          <a:xfrm>
            <a:off x="3739896" y="1307592"/>
            <a:ext cx="4343400" cy="1485773"/>
          </a:xfrm>
          <a:prstGeom prst="rect">
            <a:avLst/>
          </a:prstGeom>
        </p:spPr>
      </p:pic>
      <p:sp>
        <p:nvSpPr>
          <p:cNvPr id="19" name="Caption"/>
          <p:cNvSpPr txBox="1"/>
          <p:nvPr/>
        </p:nvSpPr>
        <p:spPr>
          <a:xfrm>
            <a:off x="3739896" y="2848229"/>
            <a:ext cx="4343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4F9F"/>
                </a:solidFill>
              </a:rPr>
              <a:t>Portfolio composition along the frontier: unpenalized vs penalized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rcRect t="8500"/>
          <a:stretch>
            <a:fillRect/>
          </a:stretch>
        </p:blipFill>
        <p:spPr>
          <a:xfrm>
            <a:off x="3739896" y="3049397"/>
            <a:ext cx="4343400" cy="1532647"/>
          </a:xfrm>
          <a:prstGeom prst="rect">
            <a:avLst/>
          </a:prstGeom>
        </p:spPr>
      </p:pic>
      <p:sp>
        <p:nvSpPr>
          <p:cNvPr id="21" name="Chapter tracker"/>
          <p:cNvSpPr txBox="1"/>
          <p:nvPr/>
        </p:nvSpPr>
        <p:spPr>
          <a:xfrm>
            <a:off x="3657600" y="182880"/>
            <a:ext cx="5056632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B0B2B5"/>
                </a:solidFill>
              </a:rPr>
              <a:t>01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02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03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1" i="0">
                <a:solidFill>
                  <a:srgbClr val="009EE0"/>
                </a:solidFill>
              </a:rPr>
              <a:t>04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05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646464"/>
                </a:solidFill>
              </a:rPr>
              <a:t>Implications for portfolio construction</a:t>
            </a:r>
          </a:p>
        </p:txBody>
      </p:sp>
    </p:spTree>
    <p:extLst>
      <p:ext uri="{BB962C8B-B14F-4D97-AF65-F5344CB8AC3E}">
        <p14:creationId xmlns:p14="http://schemas.microsoft.com/office/powerpoint/2010/main" val="14967153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242BB-2F88-818F-27A5-44050609A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6E98C5-44F2-D556-4D4E-40085055D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What’s</a:t>
            </a:r>
            <a:r>
              <a:rPr lang="it-IT" dirty="0"/>
              <a:t> </a:t>
            </a:r>
            <a:r>
              <a:rPr lang="it-IT" dirty="0" err="1"/>
              <a:t>next</a:t>
            </a:r>
            <a:r>
              <a:rPr lang="it-IT" dirty="0"/>
              <a:t>?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E5F7830-494B-476D-537E-5AFF29DCC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Pricing Illiquidity in Strategic Asset Allocation  l  October 2026</a:t>
            </a:r>
            <a:endParaRPr lang="en-GB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A6D783D-BE69-1B88-33AE-85005C3E8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C6FFC-D040-034F-8B69-20295064E64D}" type="slidenum">
              <a:rPr lang="fr-FR" smtClean="0"/>
              <a:t>15</a:t>
            </a:fld>
            <a:endParaRPr lang="fr-FR" dirty="0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6054BCD4-95D2-9602-DB95-2EB9292B76D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Towards a More Realistic and Investor-Specific Calibration Framework</a:t>
            </a:r>
          </a:p>
          <a:p>
            <a:endParaRPr lang="it-IT" dirty="0"/>
          </a:p>
        </p:txBody>
      </p:sp>
      <p:sp>
        <p:nvSpPr>
          <p:cNvPr id="7" name="Numeral 01"/>
          <p:cNvSpPr txBox="1"/>
          <p:nvPr/>
        </p:nvSpPr>
        <p:spPr>
          <a:xfrm>
            <a:off x="429768" y="1143000"/>
            <a:ext cx="566928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2400" b="0" i="0">
                <a:solidFill>
                  <a:srgbClr val="009EE0"/>
                </a:solidFill>
              </a:rPr>
              <a:t>01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29768" y="1600200"/>
            <a:ext cx="2651760" cy="0"/>
          </a:xfrm>
          <a:prstGeom prst="line">
            <a:avLst/>
          </a:prstGeom>
          <a:ln w="15875">
            <a:solidFill>
              <a:srgbClr val="009E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29768" y="1719072"/>
            <a:ext cx="2651760" cy="2011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3C64"/>
                </a:solidFill>
              </a:rPr>
              <a:t>Richer return dynamics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003C64"/>
                </a:solidFill>
              </a:rPr>
              <a:t>Replace the multivariate normal with regime-switching or stochastic-volatility models, to capture fat tails and the stress scenarios where forced selling is most costly.</a:t>
            </a:r>
          </a:p>
        </p:txBody>
      </p:sp>
      <p:sp>
        <p:nvSpPr>
          <p:cNvPr id="10" name="Numeral 02"/>
          <p:cNvSpPr txBox="1"/>
          <p:nvPr/>
        </p:nvSpPr>
        <p:spPr>
          <a:xfrm>
            <a:off x="3246120" y="1143000"/>
            <a:ext cx="566928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2400" b="0" i="0">
                <a:solidFill>
                  <a:srgbClr val="009EE0"/>
                </a:solidFill>
              </a:rPr>
              <a:t>02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46120" y="1600200"/>
            <a:ext cx="2651759" cy="0"/>
          </a:xfrm>
          <a:prstGeom prst="line">
            <a:avLst/>
          </a:prstGeom>
          <a:ln w="15875">
            <a:solidFill>
              <a:srgbClr val="009E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246120" y="1719072"/>
            <a:ext cx="2651760" cy="2011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3C64"/>
                </a:solidFill>
              </a:rPr>
              <a:t>Liability-aware calibration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003C64"/>
                </a:solidFill>
              </a:rPr>
              <a:t>Model the asset-liability structure explicitly: payouts driven by liability duration and funding ratio, so the curve depends on the investor's balance sheet.</a:t>
            </a:r>
          </a:p>
        </p:txBody>
      </p:sp>
      <p:sp>
        <p:nvSpPr>
          <p:cNvPr id="13" name="Numeral 03"/>
          <p:cNvSpPr txBox="1"/>
          <p:nvPr/>
        </p:nvSpPr>
        <p:spPr>
          <a:xfrm>
            <a:off x="6062472" y="1143000"/>
            <a:ext cx="566928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2400" b="0" i="0">
                <a:solidFill>
                  <a:srgbClr val="009EE0"/>
                </a:solidFill>
              </a:rPr>
              <a:t>03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62472" y="1600200"/>
            <a:ext cx="2651760" cy="0"/>
          </a:xfrm>
          <a:prstGeom prst="line">
            <a:avLst/>
          </a:prstGeom>
          <a:ln w="15875">
            <a:solidFill>
              <a:srgbClr val="009E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062472" y="1719072"/>
            <a:ext cx="2651760" cy="2011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3C64"/>
                </a:solidFill>
              </a:rPr>
              <a:t>Market-implied curve fitting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003C64"/>
                </a:solidFill>
              </a:rPr>
              <a:t>As data on illiquidity costs become available, estimate c(L) directly from observed costs and secondary-market records, validating the simulation.</a:t>
            </a:r>
          </a:p>
        </p:txBody>
      </p:sp>
      <p:sp>
        <p:nvSpPr>
          <p:cNvPr id="16" name="Key takeaway"/>
          <p:cNvSpPr/>
          <p:nvPr/>
        </p:nvSpPr>
        <p:spPr>
          <a:xfrm>
            <a:off x="429768" y="3383280"/>
            <a:ext cx="8284464" cy="594360"/>
          </a:xfrm>
          <a:prstGeom prst="rect">
            <a:avLst/>
          </a:prstGeom>
          <a:solidFill>
            <a:srgbClr val="E5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004F9F"/>
                </a:solidFill>
              </a:rPr>
              <a:t>Towards production  </a:t>
            </a:r>
            <a:r>
              <a:rPr sz="1100" b="0" i="0">
                <a:solidFill>
                  <a:srgbClr val="003C64"/>
                </a:solidFill>
              </a:rPr>
              <a:t>integrate the calibration into the SAA pipeline, refresh the curves at each CMA update, and calibrate client-specific parameters for institutional mandates.</a:t>
            </a:r>
          </a:p>
        </p:txBody>
      </p:sp>
      <p:sp>
        <p:nvSpPr>
          <p:cNvPr id="17" name="Chapter tracker"/>
          <p:cNvSpPr txBox="1"/>
          <p:nvPr/>
        </p:nvSpPr>
        <p:spPr>
          <a:xfrm>
            <a:off x="3657600" y="182880"/>
            <a:ext cx="5056632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B0B2B5"/>
                </a:solidFill>
              </a:rPr>
              <a:t>01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02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03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04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1" i="0">
                <a:solidFill>
                  <a:srgbClr val="009EE0"/>
                </a:solidFill>
              </a:rPr>
              <a:t>05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646464"/>
                </a:solidFill>
              </a:rPr>
              <a:t>From research to practice</a:t>
            </a:r>
          </a:p>
        </p:txBody>
      </p:sp>
    </p:spTree>
    <p:extLst>
      <p:ext uri="{BB962C8B-B14F-4D97-AF65-F5344CB8AC3E}">
        <p14:creationId xmlns:p14="http://schemas.microsoft.com/office/powerpoint/2010/main" val="506158177"/>
      </p:ext>
    </p:extLst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Replacing subjective judgement with a simulation-based calibration methodology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901EB65-EAF6-7EAA-968D-92BB55CC9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Pricing Illiquidity in Strategic Asset Allocation  l  October 2026</a:t>
            </a:r>
            <a:endParaRPr lang="en-GB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9D32FF4-462D-FE88-BCC0-E68934EF6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C6FFC-D040-034F-8B69-20295064E64D}" type="slidenum">
              <a:rPr lang="fr-FR" smtClean="0"/>
              <a:t>3</a:t>
            </a:fld>
            <a:endParaRPr lang="fr-FR" dirty="0"/>
          </a:p>
        </p:txBody>
      </p:sp>
      <p:sp>
        <p:nvSpPr>
          <p:cNvPr id="6" name="Numeral 01"/>
          <p:cNvSpPr txBox="1"/>
          <p:nvPr/>
        </p:nvSpPr>
        <p:spPr>
          <a:xfrm>
            <a:off x="429768" y="1161288"/>
            <a:ext cx="566928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2200" b="0" i="0">
                <a:solidFill>
                  <a:srgbClr val="009EE0"/>
                </a:solidFill>
              </a:rPr>
              <a:t>01</a:t>
            </a:r>
          </a:p>
        </p:txBody>
      </p:sp>
      <p:sp>
        <p:nvSpPr>
          <p:cNvPr id="7" name="Row 1"/>
          <p:cNvSpPr txBox="1"/>
          <p:nvPr/>
        </p:nvSpPr>
        <p:spPr>
          <a:xfrm>
            <a:off x="1069848" y="1143000"/>
            <a:ext cx="7644384" cy="103327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003C64"/>
                </a:solidFill>
              </a:rPr>
              <a:t>The challenge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003C64"/>
                </a:solidFill>
              </a:rPr>
              <a:t>Standard mean-variance optimization treats liquid and illiquid assets symmetrically, ignoring the return drag that locking up capital imposes. These costs grow non-linearly with portfolio illiquidity and are investor-specific, yet no systematic tool exists to quantify them.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29768" y="2185415"/>
            <a:ext cx="8284464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Numeral 02"/>
          <p:cNvSpPr txBox="1"/>
          <p:nvPr/>
        </p:nvSpPr>
        <p:spPr>
          <a:xfrm>
            <a:off x="429768" y="2240279"/>
            <a:ext cx="566928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2200" b="0" i="0">
                <a:solidFill>
                  <a:srgbClr val="009EE0"/>
                </a:solidFill>
              </a:rPr>
              <a:t>02</a:t>
            </a:r>
          </a:p>
        </p:txBody>
      </p:sp>
      <p:sp>
        <p:nvSpPr>
          <p:cNvPr id="10" name="Row 2"/>
          <p:cNvSpPr txBox="1"/>
          <p:nvPr/>
        </p:nvSpPr>
        <p:spPr>
          <a:xfrm>
            <a:off x="1069848" y="2221991"/>
            <a:ext cx="7644384" cy="103327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003C64"/>
                </a:solidFill>
              </a:rPr>
              <a:t>Our contribution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003C64"/>
                </a:solidFill>
              </a:rPr>
              <a:t>A Monte Carlo simulation measures the return drag across illiquidity levels and fits a parametric penalty curve: subjective judgement is replaced by a transparent, replicable process grounded in portfolio dynamics.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29768" y="3264407"/>
            <a:ext cx="8284464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Numeral 03"/>
          <p:cNvSpPr txBox="1"/>
          <p:nvPr/>
        </p:nvSpPr>
        <p:spPr>
          <a:xfrm>
            <a:off x="429768" y="3319271"/>
            <a:ext cx="566928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2200" b="0" i="0">
                <a:solidFill>
                  <a:srgbClr val="009EE0"/>
                </a:solidFill>
              </a:rPr>
              <a:t>03</a:t>
            </a:r>
          </a:p>
        </p:txBody>
      </p:sp>
      <p:sp>
        <p:nvSpPr>
          <p:cNvPr id="13" name="Row 3"/>
          <p:cNvSpPr txBox="1"/>
          <p:nvPr/>
        </p:nvSpPr>
        <p:spPr>
          <a:xfrm>
            <a:off x="1069848" y="3300983"/>
            <a:ext cx="7644384" cy="103327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003C64"/>
                </a:solidFill>
              </a:rPr>
              <a:t>The output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003C64"/>
                </a:solidFill>
              </a:rPr>
              <a:t>Investor-specific penalty curves calibrated on Amundi's Capital Market Assumptions for three institutional archetypes, feeding directly into a penalized mean-variance optimization.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t>Why illiquidity needs a price</a:t>
            </a:r>
          </a:p>
          <a:p>
            <a:pPr>
              <a:spcAft>
                <a:spcPts val="1000"/>
              </a:spcAft>
            </a:pPr>
            <a:r>
              <a:t>The penalized optimization framework</a:t>
            </a:r>
          </a:p>
          <a:p>
            <a:pPr>
              <a:spcAft>
                <a:spcPts val="1000"/>
              </a:spcAft>
            </a:pPr>
            <a:r>
              <a:t>Calibrating the penalty curve by simulation</a:t>
            </a:r>
          </a:p>
          <a:p>
            <a:pPr>
              <a:spcAft>
                <a:spcPts val="1000"/>
              </a:spcAft>
            </a:pPr>
            <a:r>
              <a:t>Implications for portfolio construction</a:t>
            </a:r>
          </a:p>
          <a:p>
            <a:pPr>
              <a:spcAft>
                <a:spcPts val="1000"/>
              </a:spcAft>
            </a:pPr>
            <a:r>
              <a:t>From research to practice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Pricing Illiquidity in Strategic Asset Allocation  l  October 2026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DA55B2-71C7-D142-9718-47F3DB26F441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illiquidity needs a price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costs of locking up capital that mean-variance optimization does not see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Pricing Illiquidity in Strategic Asset Allocation  l  October 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A55B2-71C7-D142-9718-47F3DB26F441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penalized optimization framework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Extending Markowitz with a portfolio-level illiquidity penalty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Pricing Illiquidity in Strategic Asset Allocation  l  October 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A55B2-71C7-D142-9718-47F3DB26F441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Calibrating the penalty curve by simulation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From subjective judgement to a curve grounded in portfolio dynamics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Pricing Illiquidity in Strategic Asset Allocation  l  October 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A55B2-71C7-D142-9718-47F3DB26F441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04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Implications for portfolio construction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What changes in efficient frontiers and allocations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Pricing Illiquidity in Strategic Asset Allocation  l  October 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A55B2-71C7-D142-9718-47F3DB26F441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 research to practice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Using the framework in Amundi's SAA work, and extending it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Pricing Illiquidity in Strategic Asset Allocation  l  October 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A55B2-71C7-D142-9718-47F3DB26F441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Illiquidity Needs a Price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The hidden costs that mean-variance optimization ignores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901EB65-EAF6-7EAA-968D-92BB55CC9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Pricing Illiquidity in Strategic Asset Allocation  l  October 2026</a:t>
            </a:r>
            <a:endParaRPr lang="en-GB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9D32FF4-462D-FE88-BCC0-E68934EF6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C6FFC-D040-034F-8B69-20295064E64D}" type="slidenum">
              <a:rPr lang="fr-FR" smtClean="0"/>
              <a:t>3</a:t>
            </a:fld>
            <a:endParaRPr lang="fr-FR" dirty="0"/>
          </a:p>
        </p:txBody>
      </p:sp>
      <p:sp>
        <p:nvSpPr>
          <p:cNvPr id="6" name="Numeral 01"/>
          <p:cNvSpPr txBox="1"/>
          <p:nvPr/>
        </p:nvSpPr>
        <p:spPr>
          <a:xfrm>
            <a:off x="429768" y="1170432"/>
            <a:ext cx="566928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2400" b="0" i="0">
                <a:solidFill>
                  <a:srgbClr val="009EE0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1609344"/>
            <a:ext cx="237744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3C64"/>
                </a:solidFill>
              </a:rPr>
              <a:t>Rebalancing gap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003C64"/>
                </a:solidFill>
              </a:rPr>
              <a:t>Lock-up periods prevent the portfolio from returning to its target weights, creating a persistent return drag.</a:t>
            </a:r>
          </a:p>
        </p:txBody>
      </p:sp>
      <p:sp>
        <p:nvSpPr>
          <p:cNvPr id="8" name="Numeral 02"/>
          <p:cNvSpPr txBox="1"/>
          <p:nvPr/>
        </p:nvSpPr>
        <p:spPr>
          <a:xfrm>
            <a:off x="3081528" y="1170432"/>
            <a:ext cx="566928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2400" b="0" i="0">
                <a:solidFill>
                  <a:srgbClr val="009EE0"/>
                </a:solidFill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81528" y="1609344"/>
            <a:ext cx="237744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3C64"/>
                </a:solidFill>
              </a:rPr>
              <a:t>Forced sales at a discount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003C64"/>
                </a:solidFill>
              </a:rPr>
              <a:t>When liquid assets fall below the minimum buffer, illiquid positions must be sold on the secondary market at a haircut.</a:t>
            </a:r>
          </a:p>
        </p:txBody>
      </p:sp>
      <p:sp>
        <p:nvSpPr>
          <p:cNvPr id="10" name="Numeral 03"/>
          <p:cNvSpPr txBox="1"/>
          <p:nvPr/>
        </p:nvSpPr>
        <p:spPr>
          <a:xfrm>
            <a:off x="429768" y="2651760"/>
            <a:ext cx="566928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2400" b="0" i="0">
                <a:solidFill>
                  <a:srgbClr val="009EE0"/>
                </a:solidFill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3090672"/>
            <a:ext cx="237744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3C64"/>
                </a:solidFill>
              </a:rPr>
              <a:t>Payout pressure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003C64"/>
                </a:solidFill>
              </a:rPr>
              <a:t>Distributions must be met even when assets are locked, and payouts tend to spike precisely when markets fall.</a:t>
            </a:r>
          </a:p>
        </p:txBody>
      </p:sp>
      <p:sp>
        <p:nvSpPr>
          <p:cNvPr id="12" name="Numeral 04"/>
          <p:cNvSpPr txBox="1"/>
          <p:nvPr/>
        </p:nvSpPr>
        <p:spPr>
          <a:xfrm>
            <a:off x="3081528" y="2651760"/>
            <a:ext cx="566928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2400" b="0" i="0">
                <a:solidFill>
                  <a:srgbClr val="009EE0"/>
                </a:solidFill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81528" y="3090672"/>
            <a:ext cx="237744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3C64"/>
                </a:solidFill>
              </a:rPr>
              <a:t>Lost flexibility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003C64"/>
                </a:solidFill>
              </a:rPr>
              <a:t>Locked capital cannot be redeployed when new investment opportunities arise.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29768" y="2578608"/>
            <a:ext cx="5029200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Why now card"/>
          <p:cNvSpPr/>
          <p:nvPr/>
        </p:nvSpPr>
        <p:spPr>
          <a:xfrm>
            <a:off x="5742432" y="1143000"/>
            <a:ext cx="2971800" cy="2880360"/>
          </a:xfrm>
          <a:prstGeom prst="rect">
            <a:avLst/>
          </a:prstGeom>
          <a:solidFill>
            <a:srgbClr val="003C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Why now text"/>
          <p:cNvSpPr txBox="1"/>
          <p:nvPr/>
        </p:nvSpPr>
        <p:spPr>
          <a:xfrm>
            <a:off x="5897880" y="1252728"/>
            <a:ext cx="2697480" cy="2697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009EE0"/>
                </a:solidFill>
              </a:rPr>
              <a:t>Why it matters now</a:t>
            </a:r>
          </a:p>
          <a:p>
            <a:pPr algn="l">
              <a:spcAft>
                <a:spcPts val="800"/>
              </a:spcAft>
            </a:pPr>
            <a:r>
              <a:rPr sz="1050" b="0" i="0">
                <a:solidFill>
                  <a:srgbClr val="FFFFFF"/>
                </a:solidFill>
              </a:rPr>
              <a:t>Private markets are now a central component of institutional portfolios: endowments hold the largest share of alternatives of any investor segment, and private pensions increased their allocations between 2020 and 2024 (Preqin, 2025).</a:t>
            </a:r>
          </a:p>
          <a:p>
            <a:pPr algn="l">
              <a:spcAft>
                <a:spcPts val="800"/>
              </a:spcAft>
            </a:pPr>
            <a:r>
              <a:rPr sz="1050" b="1" i="0">
                <a:solidFill>
                  <a:srgbClr val="FFFFFF"/>
                </a:solidFill>
              </a:rPr>
              <a:t>These costs are not captured by the illiquidity premium</a:t>
            </a:r>
            <a:r>
              <a:rPr sz="1050" b="0" i="0">
                <a:solidFill>
                  <a:srgbClr val="FFFFFF"/>
                </a:solidFill>
              </a:rPr>
              <a:t>, grow non-linearly with portfolio illiquidity, and depend on each investor's liabilities.</a:t>
            </a:r>
          </a:p>
        </p:txBody>
      </p:sp>
      <p:sp>
        <p:nvSpPr>
          <p:cNvPr id="17" name="Chapter tracker"/>
          <p:cNvSpPr txBox="1"/>
          <p:nvPr/>
        </p:nvSpPr>
        <p:spPr>
          <a:xfrm>
            <a:off x="3657600" y="182880"/>
            <a:ext cx="5056632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009EE0"/>
                </a:solidFill>
              </a:rPr>
              <a:t>01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02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03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04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05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646464"/>
                </a:solidFill>
              </a:rPr>
              <a:t>Why illiquidity needs a price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Existing Approaches and Their Limits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Why the Hayes, Primbs &amp; Chiquoine (2015) framework is the right starting point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901EB65-EAF6-7EAA-968D-92BB55CC9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Pricing Illiquidity in Strategic Asset Allocation  l  October 2026</a:t>
            </a:r>
            <a:endParaRPr lang="en-GB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9D32FF4-462D-FE88-BCC0-E68934EF6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C6FFC-D040-034F-8B69-20295064E64D}" type="slidenum">
              <a:rPr lang="fr-FR" smtClean="0"/>
              <a:t>3</a:t>
            </a:fld>
            <a:endParaRPr lang="fr-FR" dirty="0"/>
          </a:p>
        </p:txBody>
      </p:sp>
      <p:sp>
        <p:nvSpPr>
          <p:cNvPr id="6" name="Multi-period stochastic programming panel"/>
          <p:cNvSpPr/>
          <p:nvPr/>
        </p:nvSpPr>
        <p:spPr>
          <a:xfrm>
            <a:off x="429768" y="1143000"/>
            <a:ext cx="1947672" cy="28346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" y="1234440"/>
            <a:ext cx="1728216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003C64"/>
                </a:solidFill>
              </a:rPr>
              <a:t>Multi-period stochastic programming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" y="1783080"/>
            <a:ext cx="1728216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646464"/>
                </a:solidFill>
              </a:rPr>
              <a:t>Mulvey, Pauling &amp; Madey (2003)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39496" y="2121408"/>
            <a:ext cx="1728216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39496" y="2212848"/>
            <a:ext cx="1728216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04F9F"/>
                </a:solidFill>
              </a:rPr>
              <a:t>Strength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003C64"/>
                </a:solidFill>
              </a:rPr>
              <a:t>Detailed cash-flow modelling of illiquid assets and liabilities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" y="3063240"/>
            <a:ext cx="1728216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04F9F"/>
                </a:solidFill>
              </a:rPr>
              <a:t>Limitation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003C64"/>
                </a:solidFill>
              </a:rPr>
              <a:t>Computationally heavy and opaque for investment committees</a:t>
            </a:r>
          </a:p>
        </p:txBody>
      </p:sp>
      <p:sp>
        <p:nvSpPr>
          <p:cNvPr id="12" name="Mean-variance-liquidity frontier panel"/>
          <p:cNvSpPr/>
          <p:nvPr/>
        </p:nvSpPr>
        <p:spPr>
          <a:xfrm>
            <a:off x="2542032" y="1143000"/>
            <a:ext cx="1947672" cy="28346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51760" y="1234440"/>
            <a:ext cx="1728216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003C64"/>
                </a:solidFill>
              </a:rPr>
              <a:t>Mean-variance-liquidity frontier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1783080"/>
            <a:ext cx="1728216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646464"/>
                </a:solidFill>
              </a:rPr>
              <a:t>Lo, Petrov &amp; Wierzbicki (2003)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51760" y="2121408"/>
            <a:ext cx="1728216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651760" y="2212848"/>
            <a:ext cx="1728216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04F9F"/>
                </a:solidFill>
              </a:rPr>
              <a:t>Strength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003C64"/>
                </a:solidFill>
              </a:rPr>
              <a:t>Tractable extension of the MVO objective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3063240"/>
            <a:ext cx="1728216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04F9F"/>
                </a:solidFill>
              </a:rPr>
              <a:t>Limitation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003C64"/>
                </a:solidFill>
              </a:rPr>
              <a:t>Marginal cost of illiquidity treated as constant</a:t>
            </a:r>
          </a:p>
        </p:txBody>
      </p:sp>
      <p:sp>
        <p:nvSpPr>
          <p:cNvPr id="18" name="Shadow assets &amp; liabilities panel"/>
          <p:cNvSpPr/>
          <p:nvPr/>
        </p:nvSpPr>
        <p:spPr>
          <a:xfrm>
            <a:off x="4654296" y="1143000"/>
            <a:ext cx="1947672" cy="28346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64024" y="1234440"/>
            <a:ext cx="1728216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003C64"/>
                </a:solidFill>
              </a:rPr>
              <a:t>Shadow assets &amp; liabilities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64024" y="1783080"/>
            <a:ext cx="1728216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646464"/>
                </a:solidFill>
              </a:rPr>
              <a:t>Kinlaw, Kritzman &amp; Turkington (2013)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764024" y="2121408"/>
            <a:ext cx="1728216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764024" y="2212848"/>
            <a:ext cx="1728216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04F9F"/>
                </a:solidFill>
              </a:rPr>
              <a:t>Strength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003C64"/>
                </a:solidFill>
              </a:rPr>
              <a:t>Captures rebalancing, market timing and capital calls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64024" y="3063240"/>
            <a:ext cx="1728216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04F9F"/>
                </a:solidFill>
              </a:rPr>
              <a:t>Limitation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003C64"/>
                </a:solidFill>
              </a:rPr>
              <a:t>Constant marginal cost, not investor-specific</a:t>
            </a:r>
          </a:p>
        </p:txBody>
      </p:sp>
      <p:sp>
        <p:nvSpPr>
          <p:cNvPr id="24" name="Penalty cost approach panel"/>
          <p:cNvSpPr/>
          <p:nvPr/>
        </p:nvSpPr>
        <p:spPr>
          <a:xfrm>
            <a:off x="6766560" y="1143000"/>
            <a:ext cx="1947672" cy="2834640"/>
          </a:xfrm>
          <a:prstGeom prst="rect">
            <a:avLst/>
          </a:prstGeom>
          <a:solidFill>
            <a:srgbClr val="003C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76288" y="1234440"/>
            <a:ext cx="1728216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</a:rPr>
              <a:t>Penalty cost approach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76288" y="1783080"/>
            <a:ext cx="1728216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09EE0"/>
                </a:solidFill>
              </a:rPr>
              <a:t>Hayes, Primbs &amp; Chiquoine (2015)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876288" y="2121408"/>
            <a:ext cx="1728216" cy="0"/>
          </a:xfrm>
          <a:prstGeom prst="line">
            <a:avLst/>
          </a:prstGeom>
          <a:ln w="9525">
            <a:solidFill>
              <a:srgbClr val="009E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876288" y="2212848"/>
            <a:ext cx="1728216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09EE0"/>
                </a:solidFill>
              </a:rPr>
              <a:t>Strength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FFFFFF"/>
                </a:solidFill>
              </a:rPr>
              <a:t>Convex, portfolio-level and investor-specific; return-based language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76288" y="3063240"/>
            <a:ext cx="1728216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09EE0"/>
                </a:solidFill>
              </a:rPr>
              <a:t>Limitation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FFFFFF"/>
                </a:solidFill>
              </a:rPr>
              <a:t>Penalty curve left to subjective judgement: the gap this paper fills</a:t>
            </a:r>
          </a:p>
        </p:txBody>
      </p:sp>
      <p:sp>
        <p:nvSpPr>
          <p:cNvPr id="30" name="Chapter tracker"/>
          <p:cNvSpPr txBox="1"/>
          <p:nvPr/>
        </p:nvSpPr>
        <p:spPr>
          <a:xfrm>
            <a:off x="3657600" y="182880"/>
            <a:ext cx="5056632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009EE0"/>
                </a:solidFill>
              </a:rPr>
              <a:t>01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02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03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04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05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646464"/>
                </a:solidFill>
              </a:rPr>
              <a:t>Why illiquidity needs a price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Illiquidity-Adjusted Expected Returns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Speaking the language of investment committees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901EB65-EAF6-7EAA-968D-92BB55CC9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Pricing Illiquidity in Strategic Asset Allocation  l  October 2026</a:t>
            </a:r>
            <a:endParaRPr lang="en-GB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9D32FF4-462D-FE88-BCC0-E68934EF6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C6FFC-D040-034F-8B69-20295064E64D}" type="slidenum">
              <a:rPr lang="fr-FR" smtClean="0"/>
              <a:t>3</a:t>
            </a:fld>
            <a:endParaRPr lang="fr-FR" dirty="0"/>
          </a:p>
        </p:txBody>
      </p:sp>
      <p:sp>
        <p:nvSpPr>
          <p:cNvPr id="6" name="Formula panel"/>
          <p:cNvSpPr/>
          <p:nvPr/>
        </p:nvSpPr>
        <p:spPr>
          <a:xfrm>
            <a:off x="429768" y="1143000"/>
            <a:ext cx="3886200" cy="914400"/>
          </a:xfrm>
          <a:prstGeom prst="rect">
            <a:avLst/>
          </a:prstGeom>
          <a:solidFill>
            <a:srgbClr val="E5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ormula"/>
          <p:cNvSpPr txBox="1"/>
          <p:nvPr/>
        </p:nvSpPr>
        <p:spPr>
          <a:xfrm>
            <a:off x="429768" y="1143000"/>
            <a:ext cx="3886200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003C64"/>
                </a:solidFill>
              </a:rPr>
              <a:t>μ̂ᵢ = μᵢ − [ T(L) / L ] · lᵢ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1673352"/>
            <a:ext cx="38862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300"/>
              </a:spcAft>
            </a:pPr>
            <a:r>
              <a:rPr sz="900" b="0" i="0">
                <a:solidFill>
                  <a:srgbClr val="646464"/>
                </a:solidFill>
              </a:rPr>
              <a:t>T(L) / L : average accumulated penalty per unit of portfolio illiquidity</a:t>
            </a:r>
          </a:p>
        </p:txBody>
      </p:sp>
      <p:sp>
        <p:nvSpPr>
          <p:cNvPr id="9" name="Numeral 01"/>
          <p:cNvSpPr txBox="1"/>
          <p:nvPr/>
        </p:nvSpPr>
        <p:spPr>
          <a:xfrm>
            <a:off x="429768" y="2258568"/>
            <a:ext cx="566928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2000" b="0" i="0">
                <a:solidFill>
                  <a:srgbClr val="009EE0"/>
                </a:solidFill>
              </a:rPr>
              <a:t>01</a:t>
            </a:r>
          </a:p>
        </p:txBody>
      </p:sp>
      <p:sp>
        <p:nvSpPr>
          <p:cNvPr id="10" name="Row 1"/>
          <p:cNvSpPr txBox="1"/>
          <p:nvPr/>
        </p:nvSpPr>
        <p:spPr>
          <a:xfrm>
            <a:off x="1069848" y="2240280"/>
            <a:ext cx="3246120" cy="7589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003C64"/>
                </a:solidFill>
              </a:rPr>
              <a:t>A return hurdle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003C64"/>
                </a:solidFill>
              </a:rPr>
              <a:t>Each asset's expected return is reduced in proportion to its illiquidity index.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29768" y="3008376"/>
            <a:ext cx="3886200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Numeral 02"/>
          <p:cNvSpPr txBox="1"/>
          <p:nvPr/>
        </p:nvSpPr>
        <p:spPr>
          <a:xfrm>
            <a:off x="429768" y="3063240"/>
            <a:ext cx="566928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2000" b="0" i="0">
                <a:solidFill>
                  <a:srgbClr val="009EE0"/>
                </a:solidFill>
              </a:rPr>
              <a:t>02</a:t>
            </a:r>
          </a:p>
        </p:txBody>
      </p:sp>
      <p:sp>
        <p:nvSpPr>
          <p:cNvPr id="13" name="Row 2"/>
          <p:cNvSpPr txBox="1"/>
          <p:nvPr/>
        </p:nvSpPr>
        <p:spPr>
          <a:xfrm>
            <a:off x="1069848" y="3044952"/>
            <a:ext cx="3246120" cy="7589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003C64"/>
                </a:solidFill>
              </a:rPr>
              <a:t>Same MVO, adjusted inputs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003C64"/>
                </a:solidFill>
              </a:rPr>
              <a:t>The penalized problem is a standard MVO on adjusted returns: no new risk concept to explain.</a:t>
            </a:r>
          </a:p>
        </p:txBody>
      </p:sp>
      <p:sp>
        <p:nvSpPr>
          <p:cNvPr id="14" name="Caption"/>
          <p:cNvSpPr txBox="1"/>
          <p:nvPr/>
        </p:nvSpPr>
        <p:spPr>
          <a:xfrm>
            <a:off x="4617720" y="1143000"/>
            <a:ext cx="4096512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4F9F"/>
                </a:solidFill>
              </a:rPr>
              <a:t>The two inputs of the adjustment: lᵢ scales the penalty asset by asset</a:t>
            </a:r>
          </a:p>
        </p:txBody>
      </p:sp>
      <p:graphicFrame>
        <p:nvGraphicFramePr>
          <p:cNvPr id="15" name="Penalty allocation table"/>
          <p:cNvGraphicFramePr>
            <a:graphicFrameLocks noGrp="1"/>
          </p:cNvGraphicFramePr>
          <p:nvPr/>
        </p:nvGraphicFramePr>
        <p:xfrm>
          <a:off x="4617720" y="1389888"/>
          <a:ext cx="4096512" cy="2112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3312"/>
                <a:gridCol w="1371600"/>
                <a:gridCol w="1371600"/>
              </a:tblGrid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Asset class</a:t>
                      </a:r>
                    </a:p>
                  </a:txBody>
                  <a:tcPr marL="54864" marR="54864" anchor="ctr">
                    <a:solidFill>
                      <a:srgbClr val="003C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Expected return μᵢ</a:t>
                      </a:r>
                    </a:p>
                  </a:txBody>
                  <a:tcPr marL="54864" marR="54864" anchor="ctr">
                    <a:solidFill>
                      <a:srgbClr val="003C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Illiquidity index lᵢ</a:t>
                      </a:r>
                    </a:p>
                  </a:txBody>
                  <a:tcPr marL="54864" marR="54864" anchor="ctr">
                    <a:solidFill>
                      <a:srgbClr val="003C64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3C64"/>
                          </a:solidFill>
                        </a:rPr>
                        <a:t>MM_US</a:t>
                      </a:r>
                    </a:p>
                  </a:txBody>
                  <a:tcPr marL="54864" marR="5486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3C64"/>
                          </a:solidFill>
                        </a:rPr>
                        <a:t>3.24%</a:t>
                      </a:r>
                    </a:p>
                  </a:txBody>
                  <a:tcPr marL="54864" marR="5486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4F9F"/>
                          </a:solidFill>
                        </a:rPr>
                        <a:t>0.00</a:t>
                      </a:r>
                    </a:p>
                  </a:txBody>
                  <a:tcPr marL="54864" marR="54864" anchor="ctr">
                    <a:solidFill>
                      <a:srgbClr val="F2F2F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3C64"/>
                          </a:solidFill>
                        </a:rPr>
                        <a:t>GLOB_AGG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3C64"/>
                          </a:solidFill>
                        </a:rPr>
                        <a:t>4.59%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4F9F"/>
                          </a:solidFill>
                        </a:rPr>
                        <a:t>0.11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3C64"/>
                          </a:solidFill>
                        </a:rPr>
                        <a:t>GLOB_EQ</a:t>
                      </a:r>
                    </a:p>
                  </a:txBody>
                  <a:tcPr marL="54864" marR="5486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3C64"/>
                          </a:solidFill>
                        </a:rPr>
                        <a:t>7.09%</a:t>
                      </a:r>
                    </a:p>
                  </a:txBody>
                  <a:tcPr marL="54864" marR="5486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4F9F"/>
                          </a:solidFill>
                        </a:rPr>
                        <a:t>0.13</a:t>
                      </a:r>
                    </a:p>
                  </a:txBody>
                  <a:tcPr marL="54864" marR="54864" anchor="ctr">
                    <a:solidFill>
                      <a:srgbClr val="F2F2F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3C64"/>
                          </a:solidFill>
                        </a:rPr>
                        <a:t>HF_FOF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3C64"/>
                          </a:solidFill>
                        </a:rPr>
                        <a:t>5.18%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4F9F"/>
                          </a:solidFill>
                        </a:rPr>
                        <a:t>0.38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3C64"/>
                          </a:solidFill>
                        </a:rPr>
                        <a:t>GLOB_RE</a:t>
                      </a:r>
                    </a:p>
                  </a:txBody>
                  <a:tcPr marL="54864" marR="5486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3C64"/>
                          </a:solidFill>
                        </a:rPr>
                        <a:t>5.48%</a:t>
                      </a:r>
                    </a:p>
                  </a:txBody>
                  <a:tcPr marL="54864" marR="5486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4F9F"/>
                          </a:solidFill>
                        </a:rPr>
                        <a:t>0.50</a:t>
                      </a:r>
                    </a:p>
                  </a:txBody>
                  <a:tcPr marL="54864" marR="54864" anchor="ctr">
                    <a:solidFill>
                      <a:srgbClr val="F2F2F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3C64"/>
                          </a:solidFill>
                        </a:rPr>
                        <a:t>GLOB_PE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3C64"/>
                          </a:solidFill>
                        </a:rPr>
                        <a:t>9.80%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4F9F"/>
                          </a:solidFill>
                        </a:rPr>
                        <a:t>1.00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Source"/>
          <p:cNvSpPr txBox="1"/>
          <p:nvPr/>
        </p:nvSpPr>
        <p:spPr>
          <a:xfrm>
            <a:off x="4617720" y="3749039"/>
            <a:ext cx="4096512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800" b="0" i="0">
                <a:solidFill>
                  <a:srgbClr val="646464"/>
                </a:solidFill>
              </a:rPr>
              <a:t>Source: Amundi Investment Institute, CMA 2026 (Table 1 of the thesis).</a:t>
            </a:r>
          </a:p>
        </p:txBody>
      </p:sp>
      <p:sp>
        <p:nvSpPr>
          <p:cNvPr id="17" name="Chapter tracker"/>
          <p:cNvSpPr txBox="1"/>
          <p:nvPr/>
        </p:nvSpPr>
        <p:spPr>
          <a:xfrm>
            <a:off x="3657600" y="182880"/>
            <a:ext cx="5056632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B0B2B5"/>
                </a:solidFill>
              </a:rPr>
              <a:t>01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1" i="0">
                <a:solidFill>
                  <a:srgbClr val="009EE0"/>
                </a:solidFill>
              </a:rPr>
              <a:t>02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03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04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05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646464"/>
                </a:solidFill>
              </a:rPr>
              <a:t>The penalized optimization framework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the Calibration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A constrained real portfolio versus a frictionless liquid benchmark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901EB65-EAF6-7EAA-968D-92BB55CC9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Pricing Illiquidity in Strategic Asset Allocation  l  October 2026</a:t>
            </a:r>
            <a:endParaRPr lang="en-GB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9D32FF4-462D-FE88-BCC0-E68934EF6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C6FFC-D040-034F-8B69-20295064E64D}" type="slidenum">
              <a:rPr lang="fr-FR" smtClean="0"/>
              <a:t>3</a:t>
            </a:fld>
            <a:endParaRPr lang="fr-FR" dirty="0"/>
          </a:p>
        </p:txBody>
      </p:sp>
      <p:sp>
        <p:nvSpPr>
          <p:cNvPr id="6" name="Caption"/>
          <p:cNvSpPr txBox="1"/>
          <p:nvPr/>
        </p:nvSpPr>
        <p:spPr>
          <a:xfrm>
            <a:off x="429768" y="1115568"/>
            <a:ext cx="2578608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4F9F"/>
                </a:solidFill>
              </a:rPr>
              <a:t>Two portfolios, same world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29768" y="1353312"/>
            <a:ext cx="2578608" cy="0"/>
          </a:xfrm>
          <a:prstGeom prst="line">
            <a:avLst/>
          </a:prstGeom>
          <a:ln w="15875">
            <a:solidFill>
              <a:srgbClr val="009E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aption"/>
          <p:cNvSpPr txBox="1"/>
          <p:nvPr/>
        </p:nvSpPr>
        <p:spPr>
          <a:xfrm>
            <a:off x="3282696" y="1115568"/>
            <a:ext cx="2578608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4F9F"/>
                </a:solidFill>
              </a:rPr>
              <a:t>Three sources of return drag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282696" y="1353312"/>
            <a:ext cx="2578608" cy="0"/>
          </a:xfrm>
          <a:prstGeom prst="line">
            <a:avLst/>
          </a:prstGeom>
          <a:ln w="15875">
            <a:solidFill>
              <a:srgbClr val="009E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aption"/>
          <p:cNvSpPr txBox="1"/>
          <p:nvPr/>
        </p:nvSpPr>
        <p:spPr>
          <a:xfrm>
            <a:off x="6135624" y="1115568"/>
            <a:ext cx="2578608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4F9F"/>
                </a:solidFill>
              </a:rPr>
              <a:t>One calibrated curve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135624" y="1353312"/>
            <a:ext cx="2578608" cy="0"/>
          </a:xfrm>
          <a:prstGeom prst="line">
            <a:avLst/>
          </a:prstGeom>
          <a:ln w="15875">
            <a:solidFill>
              <a:srgbClr val="009E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29768" y="1463040"/>
            <a:ext cx="2578608" cy="12344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3C64"/>
                </a:solidFill>
              </a:rPr>
              <a:t>Real portfolio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003C64"/>
                </a:solidFill>
              </a:rPr>
              <a:t>Asset-specific lock-ups: tranches cannot be sold before expiry, or only at a secondary-market haircut.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29768" y="2606040"/>
            <a:ext cx="2578608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29768" y="2697480"/>
            <a:ext cx="2578608" cy="12344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3C64"/>
                </a:solidFill>
              </a:rPr>
              <a:t>Liquid benchmark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003C64"/>
                </a:solidFill>
              </a:rPr>
              <a:t>Frictionless: rebalances freely to target weights every year and meets payouts at fair value.</a:t>
            </a:r>
          </a:p>
        </p:txBody>
      </p:sp>
      <p:sp>
        <p:nvSpPr>
          <p:cNvPr id="15" name="Numeral 01"/>
          <p:cNvSpPr txBox="1"/>
          <p:nvPr/>
        </p:nvSpPr>
        <p:spPr>
          <a:xfrm>
            <a:off x="3282696" y="1481328"/>
            <a:ext cx="566928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800" b="0" i="0">
                <a:solidFill>
                  <a:srgbClr val="009EE0"/>
                </a:solidFill>
              </a:rPr>
              <a:t>01</a:t>
            </a:r>
          </a:p>
        </p:txBody>
      </p:sp>
      <p:sp>
        <p:nvSpPr>
          <p:cNvPr id="16" name="Row 1"/>
          <p:cNvSpPr txBox="1"/>
          <p:nvPr/>
        </p:nvSpPr>
        <p:spPr>
          <a:xfrm>
            <a:off x="3922776" y="1463040"/>
            <a:ext cx="1938528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003C64"/>
                </a:solidFill>
              </a:rPr>
              <a:t>Rebalancing gap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3C64"/>
                </a:solidFill>
              </a:rPr>
              <a:t>Lock-ups stop the portfolio from returning to target.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282696" y="2249424"/>
            <a:ext cx="2578608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Numeral 02"/>
          <p:cNvSpPr txBox="1"/>
          <p:nvPr/>
        </p:nvSpPr>
        <p:spPr>
          <a:xfrm>
            <a:off x="3282696" y="2304288"/>
            <a:ext cx="566928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800" b="0" i="0">
                <a:solidFill>
                  <a:srgbClr val="009EE0"/>
                </a:solidFill>
              </a:rPr>
              <a:t>02</a:t>
            </a:r>
          </a:p>
        </p:txBody>
      </p:sp>
      <p:sp>
        <p:nvSpPr>
          <p:cNvPr id="19" name="Row 2"/>
          <p:cNvSpPr txBox="1"/>
          <p:nvPr/>
        </p:nvSpPr>
        <p:spPr>
          <a:xfrm>
            <a:off x="3922776" y="2286000"/>
            <a:ext cx="1938528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003C64"/>
                </a:solidFill>
              </a:rPr>
              <a:t>Buffer restoration haircuts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3C64"/>
                </a:solidFill>
              </a:rPr>
              <a:t>Illiquid assets sold at a discount to restore the minimum buffer.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282696" y="3072384"/>
            <a:ext cx="2578608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Numeral 03"/>
          <p:cNvSpPr txBox="1"/>
          <p:nvPr/>
        </p:nvSpPr>
        <p:spPr>
          <a:xfrm>
            <a:off x="3282696" y="3127248"/>
            <a:ext cx="566928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800" b="0" i="0">
                <a:solidFill>
                  <a:srgbClr val="009EE0"/>
                </a:solidFill>
              </a:rPr>
              <a:t>03</a:t>
            </a:r>
          </a:p>
        </p:txBody>
      </p:sp>
      <p:sp>
        <p:nvSpPr>
          <p:cNvPr id="22" name="Row 3"/>
          <p:cNvSpPr txBox="1"/>
          <p:nvPr/>
        </p:nvSpPr>
        <p:spPr>
          <a:xfrm>
            <a:off x="3922776" y="3108960"/>
            <a:ext cx="1938528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003C64"/>
                </a:solidFill>
              </a:rPr>
              <a:t>Payout haircuts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3C64"/>
                </a:solidFill>
              </a:rPr>
              <a:t>Locked positions liquidated to pay distributions, often in downturns.</a:t>
            </a:r>
          </a:p>
        </p:txBody>
      </p:sp>
      <p:sp>
        <p:nvSpPr>
          <p:cNvPr id="23" name="Output panel"/>
          <p:cNvSpPr/>
          <p:nvPr/>
        </p:nvSpPr>
        <p:spPr>
          <a:xfrm>
            <a:off x="6135624" y="1463040"/>
            <a:ext cx="2578608" cy="2487168"/>
          </a:xfrm>
          <a:prstGeom prst="rect">
            <a:avLst/>
          </a:prstGeom>
          <a:solidFill>
            <a:srgbClr val="003C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72784" y="1554480"/>
            <a:ext cx="2304288" cy="2331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</a:rPr>
              <a:t>Calibrated penalty curve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FFFFFF"/>
                </a:solidFill>
              </a:rPr>
              <a:t>The average drag, measured at L = 10%…70%, is fitted with a power function: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009EE0"/>
                </a:solidFill>
              </a:rPr>
              <a:t>T(L) = A · L^B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009EE0"/>
                </a:solidFill>
              </a:rPr>
              <a:t>c(L) = α · L^β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FFFFFF"/>
                </a:solidFill>
              </a:rPr>
              <a:t>Ready to plug into the penalized mean-variance optimization.</a:t>
            </a:r>
          </a:p>
        </p:txBody>
      </p:sp>
      <p:sp>
        <p:nvSpPr>
          <p:cNvPr id="25" name="Source"/>
          <p:cNvSpPr txBox="1"/>
          <p:nvPr/>
        </p:nvSpPr>
        <p:spPr>
          <a:xfrm>
            <a:off x="429768" y="4206240"/>
            <a:ext cx="8284464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800" b="0" i="0">
                <a:solidFill>
                  <a:srgbClr val="646464"/>
                </a:solidFill>
              </a:rPr>
              <a:t>1,000 scenarios × 20 years per illiquidity level, parametrised on Amundi's Capital Market Assumptions.</a:t>
            </a:r>
          </a:p>
        </p:txBody>
      </p:sp>
      <p:sp>
        <p:nvSpPr>
          <p:cNvPr id="26" name="Chapter tracker"/>
          <p:cNvSpPr txBox="1"/>
          <p:nvPr/>
        </p:nvSpPr>
        <p:spPr>
          <a:xfrm>
            <a:off x="3657600" y="182880"/>
            <a:ext cx="5056632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B0B2B5"/>
                </a:solidFill>
              </a:rPr>
              <a:t>01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02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1" i="0">
                <a:solidFill>
                  <a:srgbClr val="009EE0"/>
                </a:solidFill>
              </a:rPr>
              <a:t>03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04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05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646464"/>
                </a:solidFill>
              </a:rPr>
              <a:t>Calibrating the penalty curve by simulation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Institutional Archetypes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Different liability structures, different liquidity needs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901EB65-EAF6-7EAA-968D-92BB55CC9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Pricing Illiquidity in Strategic Asset Allocation  l  October 2026</a:t>
            </a:r>
            <a:endParaRPr lang="en-GB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9D32FF4-462D-FE88-BCC0-E68934EF6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C6FFC-D040-034F-8B69-20295064E64D}" type="slidenum">
              <a:rPr lang="fr-FR" smtClean="0"/>
              <a:t>3</a:t>
            </a:fld>
            <a:endParaRPr lang="fr-FR" dirty="0"/>
          </a:p>
        </p:txBody>
      </p:sp>
      <p:sp>
        <p:nvSpPr>
          <p:cNvPr id="6" name="Numeral 01"/>
          <p:cNvSpPr txBox="1"/>
          <p:nvPr/>
        </p:nvSpPr>
        <p:spPr>
          <a:xfrm>
            <a:off x="429768" y="1115568"/>
            <a:ext cx="566928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2400" b="0" i="0">
                <a:solidFill>
                  <a:srgbClr val="009EE0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153619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003C64"/>
                </a:solidFill>
              </a:rPr>
              <a:t>Pension Fund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1783080"/>
            <a:ext cx="265176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09EE0"/>
                </a:solidFill>
              </a:rPr>
              <a:t>Most constrained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2029968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646464"/>
                </a:solidFill>
              </a:rPr>
              <a:t>Mandatory distributions, early withdrawals in market stress, regulatory liquidity reserve.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29768" y="2578608"/>
            <a:ext cx="2651760" cy="0"/>
          </a:xfrm>
          <a:prstGeom prst="line">
            <a:avLst/>
          </a:prstGeom>
          <a:ln w="12700">
            <a:solidFill>
              <a:srgbClr val="00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29768" y="2596896"/>
            <a:ext cx="1920239" cy="2468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3C64"/>
                </a:solidFill>
              </a:rPr>
              <a:t>Mean payout 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50008" y="2596896"/>
            <a:ext cx="731520" cy="2468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Aft>
                <a:spcPts val="300"/>
              </a:spcAft>
            </a:pPr>
            <a:r>
              <a:rPr sz="1050" b="1" i="0">
                <a:solidFill>
                  <a:srgbClr val="004F9F"/>
                </a:solidFill>
              </a:rPr>
              <a:t>10%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29768" y="2843784"/>
            <a:ext cx="2651760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29768" y="2862072"/>
            <a:ext cx="1920239" cy="2468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3C64"/>
                </a:solidFill>
              </a:rPr>
              <a:t>Payout volatility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50008" y="2862072"/>
            <a:ext cx="731520" cy="2468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Aft>
                <a:spcPts val="300"/>
              </a:spcAft>
            </a:pPr>
            <a:r>
              <a:rPr sz="1050" b="1" i="0">
                <a:solidFill>
                  <a:srgbClr val="004F9F"/>
                </a:solidFill>
              </a:rPr>
              <a:t>2.5%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29768" y="3108960"/>
            <a:ext cx="2651760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29768" y="3127248"/>
            <a:ext cx="1920239" cy="2468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3C64"/>
                </a:solidFill>
              </a:rPr>
              <a:t>Payout persistence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50008" y="3127248"/>
            <a:ext cx="731520" cy="2468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Aft>
                <a:spcPts val="300"/>
              </a:spcAft>
            </a:pPr>
            <a:r>
              <a:rPr sz="1050" b="1" i="0">
                <a:solidFill>
                  <a:srgbClr val="004F9F"/>
                </a:solidFill>
              </a:rPr>
              <a:t>0.65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29768" y="3374136"/>
            <a:ext cx="2651760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29768" y="3392424"/>
            <a:ext cx="1920239" cy="2468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3C64"/>
                </a:solidFill>
              </a:rPr>
              <a:t>Correlation with equity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50008" y="3392424"/>
            <a:ext cx="731520" cy="2468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Aft>
                <a:spcPts val="300"/>
              </a:spcAft>
            </a:pPr>
            <a:r>
              <a:rPr sz="1050" b="1" i="0">
                <a:solidFill>
                  <a:srgbClr val="004F9F"/>
                </a:solidFill>
              </a:rPr>
              <a:t>−0.60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29768" y="3639312"/>
            <a:ext cx="2651760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29768" y="3657600"/>
            <a:ext cx="1920239" cy="2468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3C64"/>
                </a:solidFill>
              </a:rPr>
              <a:t>Minimum liquid buffer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50008" y="3657600"/>
            <a:ext cx="731520" cy="2468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Aft>
                <a:spcPts val="300"/>
              </a:spcAft>
            </a:pPr>
            <a:r>
              <a:rPr sz="1050" b="1" i="0">
                <a:solidFill>
                  <a:srgbClr val="004F9F"/>
                </a:solidFill>
              </a:rPr>
              <a:t>40%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29768" y="3904487"/>
            <a:ext cx="2651760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29768" y="3922775"/>
            <a:ext cx="1920239" cy="2468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3C64"/>
                </a:solidFill>
              </a:rPr>
              <a:t>Risk aversion 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50008" y="3922775"/>
            <a:ext cx="731520" cy="2468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Aft>
                <a:spcPts val="300"/>
              </a:spcAft>
            </a:pPr>
            <a:r>
              <a:rPr sz="1050" b="1" i="0">
                <a:solidFill>
                  <a:srgbClr val="004F9F"/>
                </a:solidFill>
              </a:rPr>
              <a:t>5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29768" y="4169663"/>
            <a:ext cx="2651760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Numeral 02"/>
          <p:cNvSpPr txBox="1"/>
          <p:nvPr/>
        </p:nvSpPr>
        <p:spPr>
          <a:xfrm>
            <a:off x="3246120" y="1115568"/>
            <a:ext cx="566928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2400" b="0" i="0">
                <a:solidFill>
                  <a:srgbClr val="009EE0"/>
                </a:solidFill>
              </a:rP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46120" y="153619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003C64"/>
                </a:solidFill>
              </a:rPr>
              <a:t>University Endowment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46120" y="1783080"/>
            <a:ext cx="265176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09EE0"/>
                </a:solidFill>
              </a:rPr>
              <a:t>Intermediate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46120" y="2029968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646464"/>
                </a:solidFill>
              </a:rPr>
              <a:t>Stable spending rule that smooths payouts; regular donations; long-duration liabilities.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246120" y="2578608"/>
            <a:ext cx="2651759" cy="0"/>
          </a:xfrm>
          <a:prstGeom prst="line">
            <a:avLst/>
          </a:prstGeom>
          <a:ln w="12700">
            <a:solidFill>
              <a:srgbClr val="00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246120" y="2596896"/>
            <a:ext cx="1920239" cy="2468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3C64"/>
                </a:solidFill>
              </a:rPr>
              <a:t>Mean payout rate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59" y="2596896"/>
            <a:ext cx="731520" cy="2468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Aft>
                <a:spcPts val="300"/>
              </a:spcAft>
            </a:pPr>
            <a:r>
              <a:rPr sz="1050" b="1" i="0">
                <a:solidFill>
                  <a:srgbClr val="004F9F"/>
                </a:solidFill>
              </a:rPr>
              <a:t>5%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246120" y="2843784"/>
            <a:ext cx="2651759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3246120" y="2862072"/>
            <a:ext cx="1920239" cy="2468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3C64"/>
                </a:solidFill>
              </a:rPr>
              <a:t>Payout volatility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66359" y="2862072"/>
            <a:ext cx="731520" cy="2468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Aft>
                <a:spcPts val="300"/>
              </a:spcAft>
            </a:pPr>
            <a:r>
              <a:rPr sz="1050" b="1" i="0">
                <a:solidFill>
                  <a:srgbClr val="004F9F"/>
                </a:solidFill>
              </a:rPr>
              <a:t>1.5%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3246120" y="3108960"/>
            <a:ext cx="2651759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3246120" y="3127248"/>
            <a:ext cx="1920239" cy="2468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3C64"/>
                </a:solidFill>
              </a:rPr>
              <a:t>Payout persistence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59" y="3127248"/>
            <a:ext cx="731520" cy="2468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Aft>
                <a:spcPts val="300"/>
              </a:spcAft>
            </a:pPr>
            <a:r>
              <a:rPr sz="1050" b="1" i="0">
                <a:solidFill>
                  <a:srgbClr val="004F9F"/>
                </a:solidFill>
              </a:rPr>
              <a:t>0.55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246120" y="3374136"/>
            <a:ext cx="2651759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3246120" y="3392424"/>
            <a:ext cx="1920239" cy="2468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3C64"/>
                </a:solidFill>
              </a:rPr>
              <a:t>Correlation with equity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66359" y="3392424"/>
            <a:ext cx="731520" cy="2468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Aft>
                <a:spcPts val="300"/>
              </a:spcAft>
            </a:pPr>
            <a:r>
              <a:rPr sz="1050" b="1" i="0">
                <a:solidFill>
                  <a:srgbClr val="004F9F"/>
                </a:solidFill>
              </a:rPr>
              <a:t>−0.35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3246120" y="3639312"/>
            <a:ext cx="2651759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3246120" y="3657600"/>
            <a:ext cx="1920239" cy="2468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3C64"/>
                </a:solidFill>
              </a:rPr>
              <a:t>Minimum liquid buffer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59" y="3657600"/>
            <a:ext cx="731520" cy="2468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Aft>
                <a:spcPts val="300"/>
              </a:spcAft>
            </a:pPr>
            <a:r>
              <a:rPr sz="1050" b="1" i="0">
                <a:solidFill>
                  <a:srgbClr val="004F9F"/>
                </a:solidFill>
              </a:rPr>
              <a:t>30%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3246120" y="3904487"/>
            <a:ext cx="2651759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3246120" y="3922775"/>
            <a:ext cx="1920239" cy="2468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3C64"/>
                </a:solidFill>
              </a:rPr>
              <a:t>Risk aversion γ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66359" y="3922775"/>
            <a:ext cx="731520" cy="2468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Aft>
                <a:spcPts val="300"/>
              </a:spcAft>
            </a:pPr>
            <a:r>
              <a:rPr sz="1050" b="1" i="0">
                <a:solidFill>
                  <a:srgbClr val="004F9F"/>
                </a:solidFill>
              </a:rPr>
              <a:t>3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3246120" y="4169663"/>
            <a:ext cx="2651759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Numeral 03"/>
          <p:cNvSpPr txBox="1"/>
          <p:nvPr/>
        </p:nvSpPr>
        <p:spPr>
          <a:xfrm>
            <a:off x="6062472" y="1115568"/>
            <a:ext cx="566928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2400" b="0" i="0">
                <a:solidFill>
                  <a:srgbClr val="009EE0"/>
                </a:solidFill>
              </a:rPr>
              <a:t>03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62472" y="153619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003C64"/>
                </a:solidFill>
              </a:rPr>
              <a:t>Family Office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62472" y="1783080"/>
            <a:ext cx="265176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09EE0"/>
                </a:solidFill>
              </a:rPr>
              <a:t>Least constrained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062472" y="2029968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646464"/>
                </a:solidFill>
              </a:rPr>
              <a:t>No contractual obligations; discretionary, idiosyncratic beneficiary needs.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6062472" y="2578608"/>
            <a:ext cx="2651760" cy="0"/>
          </a:xfrm>
          <a:prstGeom prst="line">
            <a:avLst/>
          </a:prstGeom>
          <a:ln w="12700">
            <a:solidFill>
              <a:srgbClr val="003C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6062472" y="2596896"/>
            <a:ext cx="1920239" cy="2468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3C64"/>
                </a:solidFill>
              </a:rPr>
              <a:t>Mean payout rate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82711" y="2596896"/>
            <a:ext cx="731520" cy="2468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Aft>
                <a:spcPts val="300"/>
              </a:spcAft>
            </a:pPr>
            <a:r>
              <a:rPr sz="1050" b="1" i="0">
                <a:solidFill>
                  <a:srgbClr val="004F9F"/>
                </a:solidFill>
              </a:rPr>
              <a:t>4%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6062472" y="2843784"/>
            <a:ext cx="2651760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6062472" y="2862072"/>
            <a:ext cx="1920239" cy="2468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3C64"/>
                </a:solidFill>
              </a:rPr>
              <a:t>Payout volatility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982711" y="2862072"/>
            <a:ext cx="731520" cy="2468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Aft>
                <a:spcPts val="300"/>
              </a:spcAft>
            </a:pPr>
            <a:r>
              <a:rPr sz="1050" b="1" i="0">
                <a:solidFill>
                  <a:srgbClr val="004F9F"/>
                </a:solidFill>
              </a:rPr>
              <a:t>2.0%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6062472" y="3108960"/>
            <a:ext cx="2651760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6062472" y="3127248"/>
            <a:ext cx="1920239" cy="2468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3C64"/>
                </a:solidFill>
              </a:rPr>
              <a:t>Payout persistence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982711" y="3127248"/>
            <a:ext cx="731520" cy="2468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Aft>
                <a:spcPts val="300"/>
              </a:spcAft>
            </a:pPr>
            <a:r>
              <a:rPr sz="1050" b="1" i="0">
                <a:solidFill>
                  <a:srgbClr val="004F9F"/>
                </a:solidFill>
              </a:rPr>
              <a:t>0.35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6062472" y="3374136"/>
            <a:ext cx="2651760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6062472" y="3392424"/>
            <a:ext cx="1920239" cy="2468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3C64"/>
                </a:solidFill>
              </a:rPr>
              <a:t>Correlation with equity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982711" y="3392424"/>
            <a:ext cx="731520" cy="2468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Aft>
                <a:spcPts val="300"/>
              </a:spcAft>
            </a:pPr>
            <a:r>
              <a:rPr sz="1050" b="1" i="0">
                <a:solidFill>
                  <a:srgbClr val="004F9F"/>
                </a:solidFill>
              </a:rPr>
              <a:t>−0.20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6062472" y="3639312"/>
            <a:ext cx="2651760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6062472" y="3657600"/>
            <a:ext cx="1920239" cy="2468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3C64"/>
                </a:solidFill>
              </a:rPr>
              <a:t>Minimum liquid buffer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982711" y="3657600"/>
            <a:ext cx="731520" cy="2468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Aft>
                <a:spcPts val="300"/>
              </a:spcAft>
            </a:pPr>
            <a:r>
              <a:rPr sz="1050" b="1" i="0">
                <a:solidFill>
                  <a:srgbClr val="004F9F"/>
                </a:solidFill>
              </a:rPr>
              <a:t>20%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6062472" y="3904487"/>
            <a:ext cx="2651760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6062472" y="3922775"/>
            <a:ext cx="1920239" cy="2468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3C64"/>
                </a:solidFill>
              </a:rPr>
              <a:t>Risk aversion γ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982711" y="3922775"/>
            <a:ext cx="731520" cy="2468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Aft>
                <a:spcPts val="300"/>
              </a:spcAft>
            </a:pPr>
            <a:r>
              <a:rPr sz="1050" b="1" i="0">
                <a:solidFill>
                  <a:srgbClr val="004F9F"/>
                </a:solidFill>
              </a:rPr>
              <a:t>2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6062472" y="4169663"/>
            <a:ext cx="2651760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Source"/>
          <p:cNvSpPr txBox="1"/>
          <p:nvPr/>
        </p:nvSpPr>
        <p:spPr>
          <a:xfrm>
            <a:off x="429768" y="4315968"/>
            <a:ext cx="8284464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800" b="0" i="0">
                <a:solidFill>
                  <a:srgbClr val="646464"/>
                </a:solidFill>
              </a:rPr>
              <a:t>Payout: AR(1) process correlated with equity shocks. Sources: COVIP (2022), NACUBO-TIAA (2023), Ang, Papanikolaou &amp; Westerfield (2014).</a:t>
            </a:r>
          </a:p>
        </p:txBody>
      </p:sp>
      <p:sp>
        <p:nvSpPr>
          <p:cNvPr id="76" name="Chapter tracker"/>
          <p:cNvSpPr txBox="1"/>
          <p:nvPr/>
        </p:nvSpPr>
        <p:spPr>
          <a:xfrm>
            <a:off x="3657600" y="182880"/>
            <a:ext cx="5056632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B0B2B5"/>
                </a:solidFill>
              </a:rPr>
              <a:t>01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02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1" i="0">
                <a:solidFill>
                  <a:srgbClr val="009EE0"/>
                </a:solidFill>
              </a:rPr>
              <a:t>03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04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05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646464"/>
                </a:solidFill>
              </a:rPr>
              <a:t>Calibrating the penalty curve by simulation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Calibration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The simulation assigns a more convex cost profile than judgement alone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901EB65-EAF6-7EAA-968D-92BB55CC9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Pricing Illiquidity in Strategic Asset Allocation  l  October 2026</a:t>
            </a:r>
            <a:endParaRPr lang="en-GB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9D32FF4-462D-FE88-BCC0-E68934EF6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C6FFC-D040-034F-8B69-20295064E64D}" type="slidenum">
              <a:rPr lang="fr-FR" smtClean="0"/>
              <a:t>3</a:t>
            </a:fld>
            <a:endParaRPr lang="fr-FR" dirty="0"/>
          </a:p>
        </p:txBody>
      </p:sp>
      <p:sp>
        <p:nvSpPr>
          <p:cNvPr id="6" name="Caption"/>
          <p:cNvSpPr txBox="1"/>
          <p:nvPr/>
        </p:nvSpPr>
        <p:spPr>
          <a:xfrm>
            <a:off x="429768" y="1115568"/>
            <a:ext cx="8284464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4F9F"/>
                </a:solidFill>
              </a:rPr>
              <a:t>Fitted T(L) = A·L^B and recovered marginal curve c(L) = α·L^β  (α = A·B, β = B − 1)</a:t>
            </a:r>
          </a:p>
        </p:txBody>
      </p:sp>
      <p:graphicFrame>
        <p:nvGraphicFramePr>
          <p:cNvPr id="7" name="Calibration results table"/>
          <p:cNvGraphicFramePr>
            <a:graphicFrameLocks noGrp="1"/>
          </p:cNvGraphicFramePr>
          <p:nvPr/>
        </p:nvGraphicFramePr>
        <p:xfrm>
          <a:off x="429768" y="1371600"/>
          <a:ext cx="8284464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7904"/>
                <a:gridCol w="868680"/>
                <a:gridCol w="868680"/>
                <a:gridCol w="868680"/>
                <a:gridCol w="868680"/>
                <a:gridCol w="868680"/>
                <a:gridCol w="1216152"/>
                <a:gridCol w="1207008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</a:rPr>
                        <a:t>Archetype</a:t>
                      </a:r>
                    </a:p>
                  </a:txBody>
                  <a:tcPr anchor="ctr" marL="54864" marR="54864">
                    <a:solidFill>
                      <a:srgbClr val="003C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</a:rPr>
                        <a:t>A</a:t>
                      </a:r>
                    </a:p>
                  </a:txBody>
                  <a:tcPr anchor="ctr" marL="54864" marR="54864">
                    <a:solidFill>
                      <a:srgbClr val="003C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</a:rPr>
                        <a:t>B</a:t>
                      </a:r>
                    </a:p>
                  </a:txBody>
                  <a:tcPr anchor="ctr" marL="54864" marR="54864">
                    <a:solidFill>
                      <a:srgbClr val="003C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</a:rPr>
                        <a:t>α</a:t>
                      </a:r>
                    </a:p>
                  </a:txBody>
                  <a:tcPr anchor="ctr" marL="54864" marR="54864">
                    <a:solidFill>
                      <a:srgbClr val="003C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</a:rPr>
                        <a:t>β</a:t>
                      </a:r>
                    </a:p>
                  </a:txBody>
                  <a:tcPr anchor="ctr" marL="54864" marR="54864">
                    <a:solidFill>
                      <a:srgbClr val="003C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</a:rPr>
                        <a:t>R²</a:t>
                      </a:r>
                    </a:p>
                  </a:txBody>
                  <a:tcPr anchor="ctr" marL="54864" marR="54864">
                    <a:solidFill>
                      <a:srgbClr val="003C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</a:rPr>
                        <a:t>Subjective α</a:t>
                      </a:r>
                    </a:p>
                  </a:txBody>
                  <a:tcPr anchor="ctr" marL="54864" marR="54864">
                    <a:solidFill>
                      <a:srgbClr val="004F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</a:rPr>
                        <a:t>Subjective β</a:t>
                      </a:r>
                    </a:p>
                  </a:txBody>
                  <a:tcPr anchor="ctr" marL="54864" marR="54864">
                    <a:solidFill>
                      <a:srgbClr val="004F9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3C64"/>
                          </a:solidFill>
                        </a:rPr>
                        <a:t>Pension Fund</a:t>
                      </a:r>
                    </a:p>
                  </a:txBody>
                  <a:tcPr anchor="ctr" marL="54864" marR="54864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3C64"/>
                          </a:solidFill>
                        </a:rPr>
                        <a:t>0.0359</a:t>
                      </a:r>
                    </a:p>
                  </a:txBody>
                  <a:tcPr anchor="ctr" marL="54864" marR="54864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3C64"/>
                          </a:solidFill>
                        </a:rPr>
                        <a:t>3.6388</a:t>
                      </a:r>
                    </a:p>
                  </a:txBody>
                  <a:tcPr anchor="ctr" marL="54864" marR="54864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3C64"/>
                          </a:solidFill>
                        </a:rPr>
                        <a:t>0.1305</a:t>
                      </a:r>
                    </a:p>
                  </a:txBody>
                  <a:tcPr anchor="ctr" marL="54864" marR="54864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3C64"/>
                          </a:solidFill>
                        </a:rPr>
                        <a:t>2.6388</a:t>
                      </a:r>
                    </a:p>
                  </a:txBody>
                  <a:tcPr anchor="ctr" marL="54864" marR="54864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3C64"/>
                          </a:solidFill>
                        </a:rPr>
                        <a:t>0.996</a:t>
                      </a:r>
                    </a:p>
                  </a:txBody>
                  <a:tcPr anchor="ctr" marL="54864" marR="54864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646464"/>
                          </a:solidFill>
                        </a:rPr>
                        <a:t>0.25</a:t>
                      </a:r>
                    </a:p>
                  </a:txBody>
                  <a:tcPr anchor="ctr" marL="54864" marR="54864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646464"/>
                          </a:solidFill>
                        </a:rPr>
                        <a:t>1.2</a:t>
                      </a:r>
                    </a:p>
                  </a:txBody>
                  <a:tcPr anchor="ctr" marL="54864" marR="54864"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3C64"/>
                          </a:solidFill>
                        </a:rPr>
                        <a:t>Endowment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3C64"/>
                          </a:solidFill>
                        </a:rPr>
                        <a:t>0.0288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3C64"/>
                          </a:solidFill>
                        </a:rPr>
                        <a:t>5.1577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3C64"/>
                          </a:solidFill>
                        </a:rPr>
                        <a:t>0.1484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3C64"/>
                          </a:solidFill>
                        </a:rPr>
                        <a:t>4.1577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3C64"/>
                          </a:solidFill>
                        </a:rPr>
                        <a:t>0.987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646464"/>
                          </a:solidFill>
                        </a:rPr>
                        <a:t>0.12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646464"/>
                          </a:solidFill>
                        </a:rPr>
                        <a:t>2.0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3C64"/>
                          </a:solidFill>
                        </a:rPr>
                        <a:t>Family Office</a:t>
                      </a:r>
                    </a:p>
                  </a:txBody>
                  <a:tcPr anchor="ctr" marL="54864" marR="54864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3C64"/>
                          </a:solidFill>
                        </a:rPr>
                        <a:t>0.0055</a:t>
                      </a:r>
                    </a:p>
                  </a:txBody>
                  <a:tcPr anchor="ctr" marL="54864" marR="54864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3C64"/>
                          </a:solidFill>
                        </a:rPr>
                        <a:t>2.7313</a:t>
                      </a:r>
                    </a:p>
                  </a:txBody>
                  <a:tcPr anchor="ctr" marL="54864" marR="54864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3C64"/>
                          </a:solidFill>
                        </a:rPr>
                        <a:t>0.0150</a:t>
                      </a:r>
                    </a:p>
                  </a:txBody>
                  <a:tcPr anchor="ctr" marL="54864" marR="54864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3C64"/>
                          </a:solidFill>
                        </a:rPr>
                        <a:t>1.7313</a:t>
                      </a:r>
                    </a:p>
                  </a:txBody>
                  <a:tcPr anchor="ctr" marL="54864" marR="54864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3C64"/>
                          </a:solidFill>
                        </a:rPr>
                        <a:t>0.997</a:t>
                      </a:r>
                    </a:p>
                  </a:txBody>
                  <a:tcPr anchor="ctr" marL="54864" marR="54864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646464"/>
                          </a:solidFill>
                        </a:rPr>
                        <a:t>0.06</a:t>
                      </a:r>
                    </a:p>
                  </a:txBody>
                  <a:tcPr anchor="ctr" marL="54864" marR="54864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646464"/>
                          </a:solidFill>
                        </a:rPr>
                        <a:t>2.8</a:t>
                      </a:r>
                    </a:p>
                  </a:txBody>
                  <a:tcPr anchor="ctr" marL="54864" marR="54864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Numeral 01"/>
          <p:cNvSpPr txBox="1"/>
          <p:nvPr/>
        </p:nvSpPr>
        <p:spPr>
          <a:xfrm>
            <a:off x="429768" y="2651760"/>
            <a:ext cx="566928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2000" b="0" i="0">
                <a:solidFill>
                  <a:srgbClr val="009EE0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3017520"/>
            <a:ext cx="265176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003C64"/>
                </a:solidFill>
              </a:rPr>
              <a:t>Pension Fund: β 2.64 vs 1.2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003C64"/>
                </a:solidFill>
              </a:rPr>
              <a:t>Highest cost at any illiquidity level, but concentrated at the high end: forced selling and payout shocks compound once illiquidity is large.</a:t>
            </a:r>
          </a:p>
        </p:txBody>
      </p:sp>
      <p:sp>
        <p:nvSpPr>
          <p:cNvPr id="10" name="Numeral 02"/>
          <p:cNvSpPr txBox="1"/>
          <p:nvPr/>
        </p:nvSpPr>
        <p:spPr>
          <a:xfrm>
            <a:off x="3246120" y="2651760"/>
            <a:ext cx="566928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2000" b="0" i="0">
                <a:solidFill>
                  <a:srgbClr val="009EE0"/>
                </a:solidFill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3017520"/>
            <a:ext cx="265176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003C64"/>
                </a:solidFill>
              </a:rPr>
              <a:t>Endowment: β 4.16 vs 2.0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003C64"/>
                </a:solidFill>
              </a:rPr>
              <a:t>The most convex profile: costs are negligible below a threshold and then accelerate sharply.</a:t>
            </a:r>
          </a:p>
        </p:txBody>
      </p:sp>
      <p:sp>
        <p:nvSpPr>
          <p:cNvPr id="12" name="Numeral 03"/>
          <p:cNvSpPr txBox="1"/>
          <p:nvPr/>
        </p:nvSpPr>
        <p:spPr>
          <a:xfrm>
            <a:off x="6062472" y="2651760"/>
            <a:ext cx="566928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2000" b="0" i="0">
                <a:solidFill>
                  <a:srgbClr val="009EE0"/>
                </a:solidFill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62472" y="3017520"/>
            <a:ext cx="265176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003C64"/>
                </a:solidFill>
              </a:rPr>
              <a:t>Family Office: α 0.015 vs 0.06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003C64"/>
                </a:solidFill>
              </a:rPr>
              <a:t>Mild, gradually accumulating cost, consistent with the absence of binding payout obligations.</a:t>
            </a:r>
          </a:p>
        </p:txBody>
      </p:sp>
      <p:sp>
        <p:nvSpPr>
          <p:cNvPr id="14" name="Key takeaway"/>
          <p:cNvSpPr/>
          <p:nvPr/>
        </p:nvSpPr>
        <p:spPr>
          <a:xfrm>
            <a:off x="429768" y="4087368"/>
            <a:ext cx="8284464" cy="411480"/>
          </a:xfrm>
          <a:prstGeom prst="rect">
            <a:avLst/>
          </a:prstGeom>
          <a:solidFill>
            <a:srgbClr val="E5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004F9F"/>
                </a:solidFill>
              </a:rPr>
              <a:t>Key takeaway  </a:t>
            </a:r>
            <a:r>
              <a:rPr sz="1100" b="0" i="0">
                <a:solidFill>
                  <a:srgbClr val="003C64"/>
                </a:solidFill>
              </a:rPr>
              <a:t>judgement overstates the cost of moderate illiquidity; the data concentrate it where forced selling becomes frequent.</a:t>
            </a:r>
          </a:p>
        </p:txBody>
      </p:sp>
      <p:sp>
        <p:nvSpPr>
          <p:cNvPr id="15" name="Chapter tracker"/>
          <p:cNvSpPr txBox="1"/>
          <p:nvPr/>
        </p:nvSpPr>
        <p:spPr>
          <a:xfrm>
            <a:off x="3657600" y="182880"/>
            <a:ext cx="5056632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B0B2B5"/>
                </a:solidFill>
              </a:rPr>
              <a:t>01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02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1" i="0">
                <a:solidFill>
                  <a:srgbClr val="009EE0"/>
                </a:solidFill>
              </a:rPr>
              <a:t>03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04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05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646464"/>
                </a:solidFill>
              </a:rPr>
              <a:t>Calibrating the penalty curve by simulation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What pricing illiquidity changes in practice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901EB65-EAF6-7EAA-968D-92BB55CC9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Pricing Illiquidity in Strategic Asset Allocation  l  October 2026</a:t>
            </a:r>
            <a:endParaRPr lang="en-GB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9D32FF4-462D-FE88-BCC0-E68934EF6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C6FFC-D040-034F-8B69-20295064E64D}" type="slidenum">
              <a:rPr lang="fr-FR" smtClean="0"/>
              <a:t>3</a:t>
            </a:fld>
            <a:endParaRPr lang="fr-FR" dirty="0"/>
          </a:p>
        </p:txBody>
      </p:sp>
      <p:cxnSp>
        <p:nvCxnSpPr>
          <p:cNvPr id="6" name="Connector 5"/>
          <p:cNvCxnSpPr/>
          <p:nvPr/>
        </p:nvCxnSpPr>
        <p:spPr>
          <a:xfrm>
            <a:off x="429768" y="1188720"/>
            <a:ext cx="1947671" cy="0"/>
          </a:xfrm>
          <a:prstGeom prst="line">
            <a:avLst/>
          </a:prstGeom>
          <a:ln w="15875">
            <a:solidFill>
              <a:srgbClr val="009E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29768" y="1298448"/>
            <a:ext cx="1947672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2800" b="1" i="0">
                <a:solidFill>
                  <a:srgbClr val="004F9F"/>
                </a:solidFill>
              </a:rPr>
              <a:t>&gt;150 bp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1965960"/>
            <a:ext cx="1947672" cy="1280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003C64"/>
                </a:solidFill>
              </a:rPr>
              <a:t>Net-return advantage of the penalized portfolio for the pension fund at around 12% volatility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42032" y="1188720"/>
            <a:ext cx="1947672" cy="0"/>
          </a:xfrm>
          <a:prstGeom prst="line">
            <a:avLst/>
          </a:prstGeom>
          <a:ln w="15875">
            <a:solidFill>
              <a:srgbClr val="009E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542032" y="1298448"/>
            <a:ext cx="1947672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2800" b="1" i="0">
                <a:solidFill>
                  <a:srgbClr val="004F9F"/>
                </a:solidFill>
              </a:rPr>
              <a:t>≈ 8.5%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42032" y="1965960"/>
            <a:ext cx="1947672" cy="1280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003C64"/>
                </a:solidFill>
              </a:rPr>
              <a:t>Maximum gross return of the penalized pension fund frontier: PE stops being added where its cost exceeds its benefit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654296" y="1188720"/>
            <a:ext cx="1947672" cy="0"/>
          </a:xfrm>
          <a:prstGeom prst="line">
            <a:avLst/>
          </a:prstGeom>
          <a:ln w="15875">
            <a:solidFill>
              <a:srgbClr val="009E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654296" y="1298448"/>
            <a:ext cx="1947672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2800" b="1" i="0">
                <a:solidFill>
                  <a:srgbClr val="004F9F"/>
                </a:solidFill>
              </a:rPr>
              <a:t>1.7 – 4.2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4296" y="1965960"/>
            <a:ext cx="1947672" cy="1280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003C64"/>
                </a:solidFill>
              </a:rPr>
              <a:t>Range of the calibrated curvature β across archetypes: the cost of illiquidity is investor-specific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766560" y="1188720"/>
            <a:ext cx="1947672" cy="0"/>
          </a:xfrm>
          <a:prstGeom prst="line">
            <a:avLst/>
          </a:prstGeom>
          <a:ln w="15875">
            <a:solidFill>
              <a:srgbClr val="009E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766560" y="1298448"/>
            <a:ext cx="1947672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2800" b="1" i="0">
                <a:solidFill>
                  <a:srgbClr val="004F9F"/>
                </a:solidFill>
              </a:rPr>
              <a:t>R² ≥ 0.987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1965960"/>
            <a:ext cx="1947672" cy="1280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003C64"/>
                </a:solidFill>
              </a:rPr>
              <a:t>Fit quality of the power penalty function across all three archetypes</a:t>
            </a:r>
          </a:p>
        </p:txBody>
      </p:sp>
      <p:sp>
        <p:nvSpPr>
          <p:cNvPr id="18" name="Key takeaway"/>
          <p:cNvSpPr/>
          <p:nvPr/>
        </p:nvSpPr>
        <p:spPr>
          <a:xfrm>
            <a:off x="429768" y="3246120"/>
            <a:ext cx="8284464" cy="868680"/>
          </a:xfrm>
          <a:prstGeom prst="rect">
            <a:avLst/>
          </a:prstGeom>
          <a:solidFill>
            <a:srgbClr val="E5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004F9F"/>
                </a:solidFill>
              </a:rPr>
              <a:t>Net-return dominance  </a:t>
            </a:r>
            <a:r>
              <a:rPr sz="1100" b="0" i="0">
                <a:solidFill>
                  <a:srgbClr val="003C64"/>
                </a:solidFill>
              </a:rPr>
              <a:t>on a gross basis the penalized frontier sits below the unpenalized one; net of the accumulated penalty it dominates in all archetypes. Targeting a high gross return by concentrating in illiquid assets leads to a lower net return than pricing illiquidity, at the same level of risk.</a:t>
            </a:r>
          </a:p>
        </p:txBody>
      </p:sp>
      <p:sp>
        <p:nvSpPr>
          <p:cNvPr id="19" name="Chapter tracker"/>
          <p:cNvSpPr txBox="1"/>
          <p:nvPr/>
        </p:nvSpPr>
        <p:spPr>
          <a:xfrm>
            <a:off x="3657600" y="182880"/>
            <a:ext cx="5056632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B0B2B5"/>
                </a:solidFill>
              </a:rPr>
              <a:t>01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02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03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1" i="0">
                <a:solidFill>
                  <a:srgbClr val="009EE0"/>
                </a:solidFill>
              </a:rPr>
              <a:t>04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05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646464"/>
                </a:solidFill>
              </a:rPr>
              <a:t>Implications for portfolio construction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Pension Fund: Calibrated Curve and Allocation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The most liquidity-constrained archetype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901EB65-EAF6-7EAA-968D-92BB55CC9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Pricing Illiquidity in Strategic Asset Allocation  l  October 2026</a:t>
            </a:r>
            <a:endParaRPr lang="en-GB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9D32FF4-462D-FE88-BCC0-E68934EF6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C6FFC-D040-034F-8B69-20295064E64D}" type="slidenum">
              <a:rPr lang="fr-FR" smtClean="0"/>
              <a:t>3</a:t>
            </a:fld>
            <a:endParaRPr lang="fr-FR" dirty="0"/>
          </a:p>
        </p:txBody>
      </p:sp>
      <p:sp>
        <p:nvSpPr>
          <p:cNvPr id="6" name="TextBox 5"/>
          <p:cNvSpPr txBox="1"/>
          <p:nvPr/>
        </p:nvSpPr>
        <p:spPr>
          <a:xfrm>
            <a:off x="429768" y="1143000"/>
            <a:ext cx="233172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2000" b="1" i="0">
                <a:solidFill>
                  <a:srgbClr val="004F9F"/>
                </a:solidFill>
              </a:rPr>
              <a:t>α = 0.13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1508760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646464"/>
                </a:solidFill>
              </a:rPr>
              <a:t>Level of the marginal penalty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29768" y="1728216"/>
            <a:ext cx="2331719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29768" y="1783080"/>
            <a:ext cx="233172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2000" b="1" i="0">
                <a:solidFill>
                  <a:srgbClr val="004F9F"/>
                </a:solidFill>
              </a:rPr>
              <a:t>β = 2.64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2148840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646464"/>
                </a:solidFill>
              </a:rPr>
              <a:t>Curvature of the marginal penalty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29768" y="2368296"/>
            <a:ext cx="2331719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29768" y="2423160"/>
            <a:ext cx="233172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2000" b="1" i="0">
                <a:solidFill>
                  <a:srgbClr val="004F9F"/>
                </a:solidFill>
              </a:rPr>
              <a:t>R² = 0.996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2788920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646464"/>
                </a:solidFill>
              </a:rPr>
              <a:t>Fit quality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29768" y="3008375"/>
            <a:ext cx="2331719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akeaways"/>
          <p:cNvSpPr txBox="1"/>
          <p:nvPr/>
        </p:nvSpPr>
        <p:spPr>
          <a:xfrm>
            <a:off x="429768" y="3108959"/>
            <a:ext cx="2377440" cy="1417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146304" indent="-146304">
              <a:spcAft>
                <a:spcPts val="500"/>
              </a:spcAft>
              <a:buFont typeface="Arial"/>
              <a:buChar char="•"/>
            </a:pPr>
            <a:r>
              <a:rPr sz="950" b="0" i="0">
                <a:solidFill>
                  <a:srgbClr val="003C64"/>
                </a:solidFill>
              </a:rPr>
              <a:t>Highest cost at any illiquidity level.</a:t>
            </a:r>
          </a:p>
          <a:p>
            <a:pPr algn="l" marL="146304" indent="-146304">
              <a:spcAft>
                <a:spcPts val="500"/>
              </a:spcAft>
              <a:buFont typeface="Arial"/>
              <a:buChar char="•"/>
            </a:pPr>
            <a:r>
              <a:rPr sz="950" b="0" i="0">
                <a:solidFill>
                  <a:srgbClr val="003C64"/>
                </a:solidFill>
              </a:rPr>
              <a:t>PE is reduced, with GLOB_EQ absorbing part of the equity exposure at high return levels.</a:t>
            </a:r>
          </a:p>
          <a:p>
            <a:pPr algn="l" marL="146304" indent="-146304">
              <a:spcAft>
                <a:spcPts val="500"/>
              </a:spcAft>
              <a:buFont typeface="Arial"/>
              <a:buChar char="•"/>
            </a:pPr>
            <a:r>
              <a:rPr sz="950" b="0" i="0">
                <a:solidFill>
                  <a:srgbClr val="003C64"/>
                </a:solidFill>
              </a:rPr>
              <a:t>Maximum attainable return capped at about 8.5%.</a:t>
            </a:r>
          </a:p>
        </p:txBody>
      </p:sp>
      <p:sp>
        <p:nvSpPr>
          <p:cNvPr id="16" name="Caption"/>
          <p:cNvSpPr txBox="1"/>
          <p:nvPr/>
        </p:nvSpPr>
        <p:spPr>
          <a:xfrm>
            <a:off x="3739896" y="1097280"/>
            <a:ext cx="4343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4F9F"/>
                </a:solidFill>
              </a:rPr>
              <a:t>Simulated cost and fitted curve  ·  Target portfolios by illiquidity level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rcRect t="14000"/>
          <a:stretch>
            <a:fillRect/>
          </a:stretch>
        </p:blipFill>
        <p:spPr>
          <a:xfrm>
            <a:off x="3739896" y="1307592"/>
            <a:ext cx="4343400" cy="1485773"/>
          </a:xfrm>
          <a:prstGeom prst="rect">
            <a:avLst/>
          </a:prstGeom>
        </p:spPr>
      </p:pic>
      <p:sp>
        <p:nvSpPr>
          <p:cNvPr id="18" name="Caption"/>
          <p:cNvSpPr txBox="1"/>
          <p:nvPr/>
        </p:nvSpPr>
        <p:spPr>
          <a:xfrm>
            <a:off x="3739896" y="2848229"/>
            <a:ext cx="4343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4F9F"/>
                </a:solidFill>
              </a:rPr>
              <a:t>Portfolio composition along the frontier: unpenalized vs penalized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rcRect t="8500"/>
          <a:stretch>
            <a:fillRect/>
          </a:stretch>
        </p:blipFill>
        <p:spPr>
          <a:xfrm>
            <a:off x="3739896" y="3049397"/>
            <a:ext cx="4343400" cy="1532647"/>
          </a:xfrm>
          <a:prstGeom prst="rect">
            <a:avLst/>
          </a:prstGeom>
        </p:spPr>
      </p:pic>
      <p:sp>
        <p:nvSpPr>
          <p:cNvPr id="20" name="Chapter tracker"/>
          <p:cNvSpPr txBox="1"/>
          <p:nvPr/>
        </p:nvSpPr>
        <p:spPr>
          <a:xfrm>
            <a:off x="3657600" y="182880"/>
            <a:ext cx="5056632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B0B2B5"/>
                </a:solidFill>
              </a:rPr>
              <a:t>01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02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03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1" i="0">
                <a:solidFill>
                  <a:srgbClr val="009EE0"/>
                </a:solidFill>
              </a:rPr>
              <a:t>04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05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646464"/>
                </a:solidFill>
              </a:rPr>
              <a:t>Implications for portfolio construction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Putting the Framework to Work at Amundi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From a research framework to a tool for institutional SAA mandates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901EB65-EAF6-7EAA-968D-92BB55CC9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Pricing Illiquidity in Strategic Asset Allocation  l  October 2026</a:t>
            </a:r>
            <a:endParaRPr lang="en-GB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9D32FF4-462D-FE88-BCC0-E68934EF6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C6FFC-D040-034F-8B69-20295064E64D}" type="slidenum">
              <a:rPr lang="fr-FR" smtClean="0"/>
              <a:t>3</a:t>
            </a:fld>
            <a:endParaRPr lang="fr-FR" dirty="0"/>
          </a:p>
        </p:txBody>
      </p:sp>
      <p:sp>
        <p:nvSpPr>
          <p:cNvPr id="6" name="Numeral 01"/>
          <p:cNvSpPr txBox="1"/>
          <p:nvPr/>
        </p:nvSpPr>
        <p:spPr>
          <a:xfrm>
            <a:off x="429768" y="1170432"/>
            <a:ext cx="566928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2400" b="0" i="0">
                <a:solidFill>
                  <a:srgbClr val="009EE0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" y="1170432"/>
            <a:ext cx="338328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3C64"/>
                </a:solidFill>
              </a:rPr>
              <a:t>Built on Amundi's own assumptions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003C64"/>
                </a:solidFill>
              </a:rPr>
              <a:t>Parametrised entirely on Amundi's CMAs: consistent with our forward-looking views and directly usable in client-facing SAA mandates.</a:t>
            </a:r>
          </a:p>
        </p:txBody>
      </p:sp>
      <p:sp>
        <p:nvSpPr>
          <p:cNvPr id="8" name="Numeral 02"/>
          <p:cNvSpPr txBox="1"/>
          <p:nvPr/>
        </p:nvSpPr>
        <p:spPr>
          <a:xfrm>
            <a:off x="4663440" y="1170432"/>
            <a:ext cx="566928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2400" b="0" i="0">
                <a:solidFill>
                  <a:srgbClr val="009EE0"/>
                </a:solidFill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21807" y="1170432"/>
            <a:ext cx="338328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3C64"/>
                </a:solidFill>
              </a:rPr>
              <a:t>Investor-specific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003C64"/>
                </a:solidFill>
              </a:rPr>
              <a:t>Different penalty curves across archetypes, reflecting payout dynamics and liability structure: one tool for the whole institutional client base.</a:t>
            </a:r>
          </a:p>
        </p:txBody>
      </p:sp>
      <p:sp>
        <p:nvSpPr>
          <p:cNvPr id="10" name="Numeral 03"/>
          <p:cNvSpPr txBox="1"/>
          <p:nvPr/>
        </p:nvSpPr>
        <p:spPr>
          <a:xfrm>
            <a:off x="429768" y="2770632"/>
            <a:ext cx="566928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2400" b="0" i="0">
                <a:solidFill>
                  <a:srgbClr val="009EE0"/>
                </a:solidFill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" y="2770632"/>
            <a:ext cx="338328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3C64"/>
                </a:solidFill>
              </a:rPr>
              <a:t>Replicable and updatable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003C64"/>
                </a:solidFill>
              </a:rPr>
              <a:t>Transparent and auditable calibration, refreshable at every CMA update and ready for integration into the SAA pipeline.</a:t>
            </a:r>
          </a:p>
        </p:txBody>
      </p:sp>
      <p:sp>
        <p:nvSpPr>
          <p:cNvPr id="12" name="Numeral 04"/>
          <p:cNvSpPr txBox="1"/>
          <p:nvPr/>
        </p:nvSpPr>
        <p:spPr>
          <a:xfrm>
            <a:off x="4663440" y="2770632"/>
            <a:ext cx="566928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2400" b="0" i="0">
                <a:solidFill>
                  <a:srgbClr val="009EE0"/>
                </a:solidFill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21807" y="2770632"/>
            <a:ext cx="338328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3C64"/>
                </a:solidFill>
              </a:rPr>
              <a:t>A language committees understand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003C64"/>
                </a:solidFill>
              </a:rPr>
              <a:t>Illiquidity costs expressed as return premiums: accessible to non-quantitative stakeholders without losing analytical rigour.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29768" y="2633472"/>
            <a:ext cx="8284464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572000" y="1188720"/>
            <a:ext cx="0" cy="2926080"/>
          </a:xfrm>
          <a:prstGeom prst="line">
            <a:avLst/>
          </a:prstGeom>
          <a:ln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hapter tracker"/>
          <p:cNvSpPr txBox="1"/>
          <p:nvPr/>
        </p:nvSpPr>
        <p:spPr>
          <a:xfrm>
            <a:off x="3657600" y="182880"/>
            <a:ext cx="5056632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B0B2B5"/>
                </a:solidFill>
              </a:rPr>
              <a:t>01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02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03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B0B2B5"/>
                </a:solidFill>
              </a:rPr>
              <a:t>04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1" i="0">
                <a:solidFill>
                  <a:srgbClr val="009EE0"/>
                </a:solidFill>
              </a:rPr>
              <a:t>05</a:t>
            </a:r>
            <a:r>
              <a:rPr sz="900" b="0" i="0">
                <a:solidFill>
                  <a:srgbClr val="003C64"/>
                </a:solidFill>
              </a:rPr>
              <a:t>   </a:t>
            </a:r>
            <a:r>
              <a:rPr sz="900" b="0" i="0">
                <a:solidFill>
                  <a:srgbClr val="646464"/>
                </a:solidFill>
              </a:rPr>
              <a:t>From research to practice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DISCLAIMER</a:t>
            </a:r>
          </a:p>
          <a:p>
            <a:r>
              <a:t>This document is for professional investors only. It presents research developed in collaboration with Amundi Quant Solutions and does not constitute investment advice or a recommendation. Results are illustrative and based on simulated scenarios.</a:t>
            </a:r>
          </a:p>
          <a:p>
            <a:r>
              <a:t>Amundi Asset Management, French “Société par Actions Simplifiée” - SAS with a share capital of €1 143 615 555.</a:t>
            </a:r>
          </a:p>
          <a:p>
            <a:r>
              <a:t>Portfolio management company approved by the French Financial Markets Authority (Autorité des Marchés Financiers) under no. GP 04000036 - Registered office: 91-93, boulevard Pasteur, 75015 Paris - France - 437 574 452 RCS Paris.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Pricing Illiquidity in Strategic Asset Allocation  l  October 2026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DA55B2-71C7-D142-9718-47F3DB26F441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Amundi">
  <a:themeElements>
    <a:clrScheme name="Amundi-theme_092020">
      <a:dk1>
        <a:srgbClr val="003C64"/>
      </a:dk1>
      <a:lt1>
        <a:srgbClr val="FFFFFF"/>
      </a:lt1>
      <a:dk2>
        <a:srgbClr val="646464"/>
      </a:dk2>
      <a:lt2>
        <a:srgbClr val="E7E6E6"/>
      </a:lt2>
      <a:accent1>
        <a:srgbClr val="009EE0"/>
      </a:accent1>
      <a:accent2>
        <a:srgbClr val="004F9F"/>
      </a:accent2>
      <a:accent3>
        <a:srgbClr val="38B2B6"/>
      </a:accent3>
      <a:accent4>
        <a:srgbClr val="E6325E"/>
      </a:accent4>
      <a:accent5>
        <a:srgbClr val="F07D00"/>
      </a:accent5>
      <a:accent6>
        <a:srgbClr val="C19134"/>
      </a:accent6>
      <a:hlink>
        <a:srgbClr val="00C2F0"/>
      </a:hlink>
      <a:folHlink>
        <a:srgbClr val="45719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EN_16-9_Business_Line.pptx" id="{9E8672BF-3683-442A-8518-A2B4176A6ED1}" vid="{39A12D80-DF91-458B-A4DA-B091BAD7FB87}"/>
    </a:ext>
  </a:extLst>
</a:theme>
</file>

<file path=ppt/theme/theme2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Bureau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Bureau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0</TotalTime>
  <Words>1562</Words>
  <Application>Microsoft Office PowerPoint</Application>
  <PresentationFormat>On-screen Show (16:9)</PresentationFormat>
  <Paragraphs>201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CambriaMath</vt:lpstr>
      <vt:lpstr>LucidaGrande-Bold</vt:lpstr>
      <vt:lpstr>Noto Sans Med</vt:lpstr>
      <vt:lpstr>ui-sans-serif</vt:lpstr>
      <vt:lpstr>Arial</vt:lpstr>
      <vt:lpstr>Calibri</vt:lpstr>
      <vt:lpstr>Cambria Math</vt:lpstr>
      <vt:lpstr>Noto Sans</vt:lpstr>
      <vt:lpstr>ThemeAmundi</vt:lpstr>
      <vt:lpstr>Pricing illiquidity in Strategic Asset Allocation:  a calibration framework for asset allocation practitioners</vt:lpstr>
      <vt:lpstr>Agenda</vt:lpstr>
      <vt:lpstr>Overview</vt:lpstr>
      <vt:lpstr>Asset Classes &amp; Illiquidity Levels</vt:lpstr>
      <vt:lpstr>The Marginal Penalty Function</vt:lpstr>
      <vt:lpstr>Portfolio Optimization with Illiquidity </vt:lpstr>
      <vt:lpstr>Efficient Frontiers &amp; Portfolio Composition</vt:lpstr>
      <vt:lpstr>Simulation, Aggregation &amp; Fitting</vt:lpstr>
      <vt:lpstr>Simulation, Aggregation &amp; Fitting</vt:lpstr>
      <vt:lpstr>Simulation, Aggregation &amp; Fitting</vt:lpstr>
      <vt:lpstr>Simulation, Aggregation &amp; Fitting</vt:lpstr>
      <vt:lpstr>Back to Portfolio Optimization</vt:lpstr>
      <vt:lpstr>A different Institutional Profile</vt:lpstr>
      <vt:lpstr>A different Institutional Profile</vt:lpstr>
      <vt:lpstr>What’s next?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Gisimundo Viviana (AMUNDI.ITA)</dc:creator>
  <cp:keywords/>
  <dc:description/>
  <cp:lastModifiedBy>Meloncelli Lorenzo (AMUNDI.ITA)</cp:lastModifiedBy>
  <cp:revision>88</cp:revision>
  <cp:lastPrinted>2026-07-01T15:08:06Z</cp:lastPrinted>
  <dcterms:created xsi:type="dcterms:W3CDTF">2026-05-28T16:57:33Z</dcterms:created>
  <dcterms:modified xsi:type="dcterms:W3CDTF">2026-09-16T09:26:08Z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  <property fmtid="{D5CDD505-2E9C-101B-9397-08002B2CF9AE}" pid="3" name="MSIP_Label_6ac45191-74e4-40a9-a4c5-ab5c9391e33a_Enabled">
    <vt:lpwstr>true</vt:lpwstr>
  </property>
  <property fmtid="{D5CDD505-2E9C-101B-9397-08002B2CF9AE}" pid="4" name="MSIP_Label_6ac45191-74e4-40a9-a4c5-ab5c9391e33a_SetDate">
    <vt:lpwstr>2023-04-06T16:01:28Z</vt:lpwstr>
  </property>
  <property fmtid="{D5CDD505-2E9C-101B-9397-08002B2CF9AE}" pid="5" name="MSIP_Label_6ac45191-74e4-40a9-a4c5-ab5c9391e33a_Method">
    <vt:lpwstr>Standard</vt:lpwstr>
  </property>
  <property fmtid="{D5CDD505-2E9C-101B-9397-08002B2CF9AE}" pid="6" name="MSIP_Label_6ac45191-74e4-40a9-a4c5-ab5c9391e33a_Name">
    <vt:lpwstr>Internal Data</vt:lpwstr>
  </property>
  <property fmtid="{D5CDD505-2E9C-101B-9397-08002B2CF9AE}" pid="7" name="MSIP_Label_6ac45191-74e4-40a9-a4c5-ab5c9391e33a_SiteId">
    <vt:lpwstr>a5c34232-eadc-4609-bff3-dd6fcdae3fe2</vt:lpwstr>
  </property>
  <property fmtid="{D5CDD505-2E9C-101B-9397-08002B2CF9AE}" pid="8" name="MSIP_Label_6ac45191-74e4-40a9-a4c5-ab5c9391e33a_ActionId">
    <vt:lpwstr>da6939bd-0ed1-46fc-b429-e412eb79254c</vt:lpwstr>
  </property>
  <property fmtid="{D5CDD505-2E9C-101B-9397-08002B2CF9AE}" pid="9" name="MSIP_Label_6ac45191-74e4-40a9-a4c5-ab5c9391e33a_ContentBits">
    <vt:lpwstr>0</vt:lpwstr>
  </property>
</Properties>
</file>