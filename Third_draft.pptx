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4" r:id="rId1"/>
  </p:sldMasterIdLst>
  <p:notesMasterIdLst>
    <p:notesMasterId r:id="rId17"/>
  </p:notesMasterIdLst>
  <p:handoutMasterIdLst>
    <p:handoutMasterId r:id="rId18"/>
  </p:handoutMasterIdLst>
  <p:sldIdLst>
    <p:sldId id="300" r:id="rId2"/>
    <p:sldId id="318" r:id="rId3"/>
    <p:sldId id="317" r:id="rId4"/>
    <p:sldId id="316" r:id="rId5"/>
    <p:sldId id="319" r:id="rId6"/>
    <p:sldId id="320" r:id="rId7"/>
    <p:sldId id="321" r:id="rId8"/>
    <p:sldId id="322" r:id="rId9"/>
    <p:sldId id="334" r:id="rId10"/>
    <p:sldId id="327" r:id="rId11"/>
    <p:sldId id="324" r:id="rId12"/>
    <p:sldId id="326" r:id="rId13"/>
    <p:sldId id="331" r:id="rId14"/>
    <p:sldId id="333" r:id="rId15"/>
    <p:sldId id="323" r:id="rId16"/>
  </p:sldIdLst>
  <p:sldSz cx="9144000" cy="5143500" type="screen16x9"/>
  <p:notesSz cx="6797675" cy="987266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3A3"/>
    <a:srgbClr val="E2CED2"/>
    <a:srgbClr val="FCC2C6"/>
    <a:srgbClr val="EAFCE5"/>
    <a:srgbClr val="53CCFF"/>
    <a:srgbClr val="005483"/>
    <a:srgbClr val="F07D00"/>
    <a:srgbClr val="001C4B"/>
    <a:srgbClr val="102D69"/>
    <a:srgbClr val="009E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29" autoAdjust="0"/>
    <p:restoredTop sz="94694"/>
  </p:normalViewPr>
  <p:slideViewPr>
    <p:cSldViewPr snapToGrid="0" snapToObjects="1">
      <p:cViewPr>
        <p:scale>
          <a:sx n="150" d="100"/>
          <a:sy n="150" d="100"/>
        </p:scale>
        <p:origin x="60" y="-168"/>
      </p:cViewPr>
      <p:guideLst/>
    </p:cSldViewPr>
  </p:slideViewPr>
  <p:outlineViewPr>
    <p:cViewPr>
      <p:scale>
        <a:sx n="33" d="100"/>
        <a:sy n="33" d="100"/>
      </p:scale>
      <p:origin x="0" y="-4664"/>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AD5C2663-9FAE-6346-9FDE-52ACD264882B}" type="datetimeFigureOut">
              <a:rPr lang="fr-FR" smtClean="0"/>
              <a:t>16/09/2026</a:t>
            </a:fld>
            <a:endParaRPr lang="fr-FR"/>
          </a:p>
        </p:txBody>
      </p:sp>
      <p:sp>
        <p:nvSpPr>
          <p:cNvPr id="4" name="Espace réservé du pied de page 3"/>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0509F841-1EC4-7745-A2A1-241C3184D275}" type="slidenum">
              <a:rPr lang="fr-FR" smtClean="0"/>
              <a:t>‹#›</a:t>
            </a:fld>
            <a:endParaRPr lang="fr-FR"/>
          </a:p>
        </p:txBody>
      </p:sp>
    </p:spTree>
    <p:extLst>
      <p:ext uri="{BB962C8B-B14F-4D97-AF65-F5344CB8AC3E}">
        <p14:creationId xmlns:p14="http://schemas.microsoft.com/office/powerpoint/2010/main" val="13753778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4FABE3DF-9B42-6F42-B595-8789B0F99C6A}" type="datetimeFigureOut">
              <a:rPr lang="fr-FR" smtClean="0"/>
              <a:t>16/09/2026</a:t>
            </a:fld>
            <a:endParaRPr lang="fr-FR"/>
          </a:p>
        </p:txBody>
      </p:sp>
      <p:sp>
        <p:nvSpPr>
          <p:cNvPr id="4" name="Espace réservé de l’image des diapositives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F94CB9D9-8607-4446-80EE-4BEFE06B9BD3}" type="slidenum">
              <a:rPr lang="fr-FR" smtClean="0"/>
              <a:t>‹#›</a:t>
            </a:fld>
            <a:endParaRPr lang="fr-FR"/>
          </a:p>
        </p:txBody>
      </p:sp>
    </p:spTree>
    <p:extLst>
      <p:ext uri="{BB962C8B-B14F-4D97-AF65-F5344CB8AC3E}">
        <p14:creationId xmlns:p14="http://schemas.microsoft.com/office/powerpoint/2010/main" val="349098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3EC0E-4839-FA55-614C-16B87A714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D52DD-211C-A0DF-A4A7-B21B082C1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AD093-A9C6-7D28-8803-7DDA95E263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CBB1C23-0114-1843-876F-FE642350C92B}"/>
              </a:ext>
            </a:extLst>
          </p:cNvPr>
          <p:cNvSpPr>
            <a:spLocks noGrp="1"/>
          </p:cNvSpPr>
          <p:nvPr>
            <p:ph type="sldNum" sz="quarter" idx="5"/>
          </p:nvPr>
        </p:nvSpPr>
        <p:spPr/>
        <p:txBody>
          <a:bodyPr/>
          <a:lstStyle/>
          <a:p>
            <a:fld id="{F94CB9D9-8607-4446-80EE-4BEFE06B9BD3}" type="slidenum">
              <a:rPr lang="fr-FR" smtClean="0"/>
              <a:t>2</a:t>
            </a:fld>
            <a:endParaRPr lang="fr-FR" dirty="0"/>
          </a:p>
        </p:txBody>
      </p:sp>
    </p:spTree>
    <p:extLst>
      <p:ext uri="{BB962C8B-B14F-4D97-AF65-F5344CB8AC3E}">
        <p14:creationId xmlns:p14="http://schemas.microsoft.com/office/powerpoint/2010/main" val="1911926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2889D-3DDD-F187-BE7D-828633047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05740-5BBB-1DE8-C096-38D5D3331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69EF7-22AF-FAC8-106C-B5DFD87CAB0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AAA01F-1706-54DC-E0A5-FFA9145BBA33}"/>
              </a:ext>
            </a:extLst>
          </p:cNvPr>
          <p:cNvSpPr>
            <a:spLocks noGrp="1"/>
          </p:cNvSpPr>
          <p:nvPr>
            <p:ph type="sldNum" sz="quarter" idx="5"/>
          </p:nvPr>
        </p:nvSpPr>
        <p:spPr/>
        <p:txBody>
          <a:bodyPr/>
          <a:lstStyle/>
          <a:p>
            <a:fld id="{F94CB9D9-8607-4446-80EE-4BEFE06B9BD3}" type="slidenum">
              <a:rPr lang="fr-FR" smtClean="0"/>
              <a:t>3</a:t>
            </a:fld>
            <a:endParaRPr lang="fr-FR" dirty="0"/>
          </a:p>
        </p:txBody>
      </p:sp>
    </p:spTree>
    <p:extLst>
      <p:ext uri="{BB962C8B-B14F-4D97-AF65-F5344CB8AC3E}">
        <p14:creationId xmlns:p14="http://schemas.microsoft.com/office/powerpoint/2010/main" val="2337651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C3E9-4823-D690-1FC0-B852A534F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AEACC-77AB-0614-2A90-F88BD9CB0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D4FE4-CBC3-0FBD-C934-C51385E9314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5B56E39-2484-1DDB-F5AC-A36441D64479}"/>
              </a:ext>
            </a:extLst>
          </p:cNvPr>
          <p:cNvSpPr>
            <a:spLocks noGrp="1"/>
          </p:cNvSpPr>
          <p:nvPr>
            <p:ph type="sldNum" sz="quarter" idx="5"/>
          </p:nvPr>
        </p:nvSpPr>
        <p:spPr/>
        <p:txBody>
          <a:bodyPr/>
          <a:lstStyle/>
          <a:p>
            <a:fld id="{F94CB9D9-8607-4446-80EE-4BEFE06B9BD3}" type="slidenum">
              <a:rPr lang="fr-FR" smtClean="0"/>
              <a:t>4</a:t>
            </a:fld>
            <a:endParaRPr lang="fr-FR" dirty="0"/>
          </a:p>
        </p:txBody>
      </p:sp>
    </p:spTree>
    <p:extLst>
      <p:ext uri="{BB962C8B-B14F-4D97-AF65-F5344CB8AC3E}">
        <p14:creationId xmlns:p14="http://schemas.microsoft.com/office/powerpoint/2010/main" val="2918735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E5D80-EEAC-94C0-4837-22693DBAF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7C9DA-BA5A-3919-E661-0D1EEBB11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28977-681D-CAC5-004E-1128F277779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FE78A79-2B7E-D742-89FB-9545503D5CB5}"/>
              </a:ext>
            </a:extLst>
          </p:cNvPr>
          <p:cNvSpPr>
            <a:spLocks noGrp="1"/>
          </p:cNvSpPr>
          <p:nvPr>
            <p:ph type="sldNum" sz="quarter" idx="5"/>
          </p:nvPr>
        </p:nvSpPr>
        <p:spPr/>
        <p:txBody>
          <a:bodyPr/>
          <a:lstStyle/>
          <a:p>
            <a:fld id="{F94CB9D9-8607-4446-80EE-4BEFE06B9BD3}" type="slidenum">
              <a:rPr lang="fr-FR" smtClean="0"/>
              <a:t>5</a:t>
            </a:fld>
            <a:endParaRPr lang="fr-FR" dirty="0"/>
          </a:p>
        </p:txBody>
      </p:sp>
    </p:spTree>
    <p:extLst>
      <p:ext uri="{BB962C8B-B14F-4D97-AF65-F5344CB8AC3E}">
        <p14:creationId xmlns:p14="http://schemas.microsoft.com/office/powerpoint/2010/main" val="223167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951A7-4967-3963-FAC9-BDD51307B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B386A-3A3F-AB39-AA8F-154C5CC38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DEC0E-05FE-2B0A-620A-406C38A4977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2A6122E-EB09-1C0B-DCBB-A9851C599D70}"/>
              </a:ext>
            </a:extLst>
          </p:cNvPr>
          <p:cNvSpPr>
            <a:spLocks noGrp="1"/>
          </p:cNvSpPr>
          <p:nvPr>
            <p:ph type="sldNum" sz="quarter" idx="5"/>
          </p:nvPr>
        </p:nvSpPr>
        <p:spPr/>
        <p:txBody>
          <a:bodyPr/>
          <a:lstStyle/>
          <a:p>
            <a:fld id="{F94CB9D9-8607-4446-80EE-4BEFE06B9BD3}" type="slidenum">
              <a:rPr lang="fr-FR" smtClean="0"/>
              <a:t>6</a:t>
            </a:fld>
            <a:endParaRPr lang="fr-FR" dirty="0"/>
          </a:p>
        </p:txBody>
      </p:sp>
    </p:spTree>
    <p:extLst>
      <p:ext uri="{BB962C8B-B14F-4D97-AF65-F5344CB8AC3E}">
        <p14:creationId xmlns:p14="http://schemas.microsoft.com/office/powerpoint/2010/main" val="194978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E1EF-A447-026F-088D-DB510EEFC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872E0-F256-8A9A-7D3D-F69E5B51A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36C1C-4E9B-6E44-F3BA-747FCCAF32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1D7776-0D07-4729-DC1B-4E8BFEA34F52}"/>
              </a:ext>
            </a:extLst>
          </p:cNvPr>
          <p:cNvSpPr>
            <a:spLocks noGrp="1"/>
          </p:cNvSpPr>
          <p:nvPr>
            <p:ph type="sldNum" sz="quarter" idx="5"/>
          </p:nvPr>
        </p:nvSpPr>
        <p:spPr/>
        <p:txBody>
          <a:bodyPr/>
          <a:lstStyle/>
          <a:p>
            <a:fld id="{F94CB9D9-8607-4446-80EE-4BEFE06B9BD3}" type="slidenum">
              <a:rPr lang="fr-FR" smtClean="0"/>
              <a:t>7</a:t>
            </a:fld>
            <a:endParaRPr lang="fr-FR" dirty="0"/>
          </a:p>
        </p:txBody>
      </p:sp>
    </p:spTree>
    <p:extLst>
      <p:ext uri="{BB962C8B-B14F-4D97-AF65-F5344CB8AC3E}">
        <p14:creationId xmlns:p14="http://schemas.microsoft.com/office/powerpoint/2010/main" val="697430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256CF-DED3-66BB-8C5D-B76F59392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6B346-B1F9-BE9B-A895-0851BF73B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AD66E-F4C7-4A0B-4F25-7122B57F7A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93E82D2-F966-6D84-E9E9-0C828FF3C2FE}"/>
              </a:ext>
            </a:extLst>
          </p:cNvPr>
          <p:cNvSpPr>
            <a:spLocks noGrp="1"/>
          </p:cNvSpPr>
          <p:nvPr>
            <p:ph type="sldNum" sz="quarter" idx="5"/>
          </p:nvPr>
        </p:nvSpPr>
        <p:spPr/>
        <p:txBody>
          <a:bodyPr/>
          <a:lstStyle/>
          <a:p>
            <a:fld id="{F94CB9D9-8607-4446-80EE-4BEFE06B9BD3}" type="slidenum">
              <a:rPr lang="fr-FR" smtClean="0"/>
              <a:t>8</a:t>
            </a:fld>
            <a:endParaRPr lang="fr-FR" dirty="0"/>
          </a:p>
        </p:txBody>
      </p:sp>
    </p:spTree>
    <p:extLst>
      <p:ext uri="{BB962C8B-B14F-4D97-AF65-F5344CB8AC3E}">
        <p14:creationId xmlns:p14="http://schemas.microsoft.com/office/powerpoint/2010/main" val="1173217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881C-713B-B328-EE3C-CA9D614D4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144B6-D987-10D2-98B5-E87F409AC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51559-7C7F-0598-07BC-213FCACC381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A4CFC87-A2C2-4E47-2D64-F1AF7CCBB2E5}"/>
              </a:ext>
            </a:extLst>
          </p:cNvPr>
          <p:cNvSpPr>
            <a:spLocks noGrp="1"/>
          </p:cNvSpPr>
          <p:nvPr>
            <p:ph type="sldNum" sz="quarter" idx="5"/>
          </p:nvPr>
        </p:nvSpPr>
        <p:spPr/>
        <p:txBody>
          <a:bodyPr/>
          <a:lstStyle/>
          <a:p>
            <a:fld id="{F94CB9D9-8607-4446-80EE-4BEFE06B9BD3}" type="slidenum">
              <a:rPr lang="fr-FR" smtClean="0"/>
              <a:t>9</a:t>
            </a:fld>
            <a:endParaRPr lang="fr-FR" dirty="0"/>
          </a:p>
        </p:txBody>
      </p:sp>
    </p:spTree>
    <p:extLst>
      <p:ext uri="{BB962C8B-B14F-4D97-AF65-F5344CB8AC3E}">
        <p14:creationId xmlns:p14="http://schemas.microsoft.com/office/powerpoint/2010/main" val="3109844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85FB4-FB2C-F798-19B3-7C563AAD0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1C231-7D53-4C17-1558-6195B8552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87CF4-1068-6EDA-BA72-5B1A2224C0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C66ECF6-2168-BA31-9019-97C0E822002D}"/>
              </a:ext>
            </a:extLst>
          </p:cNvPr>
          <p:cNvSpPr>
            <a:spLocks noGrp="1"/>
          </p:cNvSpPr>
          <p:nvPr>
            <p:ph type="sldNum" sz="quarter" idx="5"/>
          </p:nvPr>
        </p:nvSpPr>
        <p:spPr/>
        <p:txBody>
          <a:bodyPr/>
          <a:lstStyle/>
          <a:p>
            <a:fld id="{F94CB9D9-8607-4446-80EE-4BEFE06B9BD3}" type="slidenum">
              <a:rPr lang="fr-FR" smtClean="0"/>
              <a:t>10</a:t>
            </a:fld>
            <a:endParaRPr lang="fr-FR" dirty="0"/>
          </a:p>
        </p:txBody>
      </p:sp>
    </p:spTree>
    <p:extLst>
      <p:ext uri="{BB962C8B-B14F-4D97-AF65-F5344CB8AC3E}">
        <p14:creationId xmlns:p14="http://schemas.microsoft.com/office/powerpoint/2010/main" val="2592953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7B54A-9789-0B9D-631B-A93FE252D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021DB-131A-4153-950F-FCBDB8B42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05B34-F34D-910D-673A-BF746642BA3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8C58BC0-33F5-D18F-1599-AE79989A16C5}"/>
              </a:ext>
            </a:extLst>
          </p:cNvPr>
          <p:cNvSpPr>
            <a:spLocks noGrp="1"/>
          </p:cNvSpPr>
          <p:nvPr>
            <p:ph type="sldNum" sz="quarter" idx="5"/>
          </p:nvPr>
        </p:nvSpPr>
        <p:spPr/>
        <p:txBody>
          <a:bodyPr/>
          <a:lstStyle/>
          <a:p>
            <a:fld id="{F94CB9D9-8607-4446-80EE-4BEFE06B9BD3}" type="slidenum">
              <a:rPr lang="fr-FR" smtClean="0"/>
              <a:t>11</a:t>
            </a:fld>
            <a:endParaRPr lang="fr-FR" dirty="0"/>
          </a:p>
        </p:txBody>
      </p:sp>
    </p:spTree>
    <p:extLst>
      <p:ext uri="{BB962C8B-B14F-4D97-AF65-F5344CB8AC3E}">
        <p14:creationId xmlns:p14="http://schemas.microsoft.com/office/powerpoint/2010/main" val="93765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9FE15-A8BF-D9FE-B387-2A5CCB2A7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B97A0-D008-0D68-4121-DA0355DEB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79DAE-1B97-77E2-3912-27C48B8E386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5E749B0-6ECF-678F-17FA-FC86BE2FE378}"/>
              </a:ext>
            </a:extLst>
          </p:cNvPr>
          <p:cNvSpPr>
            <a:spLocks noGrp="1"/>
          </p:cNvSpPr>
          <p:nvPr>
            <p:ph type="sldNum" sz="quarter" idx="5"/>
          </p:nvPr>
        </p:nvSpPr>
        <p:spPr/>
        <p:txBody>
          <a:bodyPr/>
          <a:lstStyle/>
          <a:p>
            <a:fld id="{F94CB9D9-8607-4446-80EE-4BEFE06B9BD3}" type="slidenum">
              <a:rPr lang="fr-FR" smtClean="0"/>
              <a:t>12</a:t>
            </a:fld>
            <a:endParaRPr lang="fr-FR" dirty="0"/>
          </a:p>
        </p:txBody>
      </p:sp>
    </p:spTree>
    <p:extLst>
      <p:ext uri="{BB962C8B-B14F-4D97-AF65-F5344CB8AC3E}">
        <p14:creationId xmlns:p14="http://schemas.microsoft.com/office/powerpoint/2010/main" val="2098267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560A2-5E18-D93F-1F56-FC32FBE8C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FE2BF-3057-2B35-4DB8-B7B7461FB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6C09D-3279-7034-7F19-EDE12F061D0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77EB2D-AFF9-5B31-ADE9-137A18137DD9}"/>
              </a:ext>
            </a:extLst>
          </p:cNvPr>
          <p:cNvSpPr>
            <a:spLocks noGrp="1"/>
          </p:cNvSpPr>
          <p:nvPr>
            <p:ph type="sldNum" sz="quarter" idx="5"/>
          </p:nvPr>
        </p:nvSpPr>
        <p:spPr/>
        <p:txBody>
          <a:bodyPr/>
          <a:lstStyle/>
          <a:p>
            <a:fld id="{F94CB9D9-8607-4446-80EE-4BEFE06B9BD3}" type="slidenum">
              <a:rPr lang="fr-FR" smtClean="0"/>
              <a:t>13</a:t>
            </a:fld>
            <a:endParaRPr lang="fr-FR" dirty="0"/>
          </a:p>
        </p:txBody>
      </p:sp>
    </p:spTree>
    <p:extLst>
      <p:ext uri="{BB962C8B-B14F-4D97-AF65-F5344CB8AC3E}">
        <p14:creationId xmlns:p14="http://schemas.microsoft.com/office/powerpoint/2010/main" val="599773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B9EE8-9949-965F-766D-3A479FCF8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1040A-7013-67E7-4047-C713A4F7F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7DE33-7587-36F1-B37E-1718270A104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EDBB928-9464-041C-680D-01DAB53E5D09}"/>
              </a:ext>
            </a:extLst>
          </p:cNvPr>
          <p:cNvSpPr>
            <a:spLocks noGrp="1"/>
          </p:cNvSpPr>
          <p:nvPr>
            <p:ph type="sldNum" sz="quarter" idx="5"/>
          </p:nvPr>
        </p:nvSpPr>
        <p:spPr/>
        <p:txBody>
          <a:bodyPr/>
          <a:lstStyle/>
          <a:p>
            <a:fld id="{F94CB9D9-8607-4446-80EE-4BEFE06B9BD3}" type="slidenum">
              <a:rPr lang="fr-FR" smtClean="0"/>
              <a:t>14</a:t>
            </a:fld>
            <a:endParaRPr lang="fr-FR" dirty="0"/>
          </a:p>
        </p:txBody>
      </p:sp>
    </p:spTree>
    <p:extLst>
      <p:ext uri="{BB962C8B-B14F-4D97-AF65-F5344CB8AC3E}">
        <p14:creationId xmlns:p14="http://schemas.microsoft.com/office/powerpoint/2010/main" val="2186952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95666-3802-B371-EDDD-EA826EFC2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59028-0268-5A9F-32E6-FDC601A92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3DC40-BFCF-EA31-C5C8-1D28EA739DB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8D0765-884A-6DA7-EB0D-F9548A9C5038}"/>
              </a:ext>
            </a:extLst>
          </p:cNvPr>
          <p:cNvSpPr>
            <a:spLocks noGrp="1"/>
          </p:cNvSpPr>
          <p:nvPr>
            <p:ph type="sldNum" sz="quarter" idx="5"/>
          </p:nvPr>
        </p:nvSpPr>
        <p:spPr/>
        <p:txBody>
          <a:bodyPr/>
          <a:lstStyle/>
          <a:p>
            <a:fld id="{F94CB9D9-8607-4446-80EE-4BEFE06B9BD3}" type="slidenum">
              <a:rPr lang="fr-FR" smtClean="0"/>
              <a:t>15</a:t>
            </a:fld>
            <a:endParaRPr lang="fr-FR" dirty="0"/>
          </a:p>
        </p:txBody>
      </p:sp>
    </p:spTree>
    <p:extLst>
      <p:ext uri="{BB962C8B-B14F-4D97-AF65-F5344CB8AC3E}">
        <p14:creationId xmlns:p14="http://schemas.microsoft.com/office/powerpoint/2010/main" val="17837767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blank-1">
    <p:spTree>
      <p:nvGrpSpPr>
        <p:cNvPr id="1" name=""/>
        <p:cNvGrpSpPr/>
        <p:nvPr/>
      </p:nvGrpSpPr>
      <p:grpSpPr>
        <a:xfrm>
          <a:off x="0" y="0"/>
          <a:ext cx="0" cy="0"/>
          <a:chOff x="0" y="0"/>
          <a:chExt cx="0" cy="0"/>
        </a:xfrm>
      </p:grpSpPr>
      <p:sp>
        <p:nvSpPr>
          <p:cNvPr id="2" name="Title 1"/>
          <p:cNvSpPr>
            <a:spLocks noGrp="1"/>
          </p:cNvSpPr>
          <p:nvPr>
            <p:ph type="ctrTitle"/>
          </p:nvPr>
        </p:nvSpPr>
        <p:spPr>
          <a:xfrm>
            <a:off x="1285199" y="2358221"/>
            <a:ext cx="5975835" cy="72482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5200" y="3270572"/>
            <a:ext cx="5975836"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12" name="Rectangle 11">
            <a:extLst>
              <a:ext uri="{FF2B5EF4-FFF2-40B4-BE49-F238E27FC236}">
                <a16:creationId xmlns:a16="http://schemas.microsoft.com/office/drawing/2014/main" id="{AEFD43DB-60F0-69E5-0E6E-39DAC8F580D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06211952-6EFD-1268-B0D8-5D1EA9A036DA}"/>
              </a:ext>
            </a:extLst>
          </p:cNvPr>
          <p:cNvSpPr>
            <a:spLocks noChangeAspect="1"/>
          </p:cNvSpPr>
          <p:nvPr userDrawn="1"/>
        </p:nvSpPr>
        <p:spPr>
          <a:xfrm>
            <a:off x="0" y="4286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69892B6F-9A39-8FF4-F99C-3D45A9DDD8CC}"/>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9B1B74D-F7A7-427F-4C42-2E65F73D513D}"/>
              </a:ext>
            </a:extLst>
          </p:cNvPr>
          <p:cNvSpPr>
            <a:spLocks noChangeAspect="1"/>
          </p:cNvSpPr>
          <p:nvPr userDrawn="1"/>
        </p:nvSpPr>
        <p:spPr>
          <a:xfrm>
            <a:off x="-3" y="8570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210BEFD-109F-37DE-ED0B-3CC93589B2DE}"/>
              </a:ext>
            </a:extLst>
          </p:cNvPr>
          <p:cNvSpPr>
            <a:spLocks noChangeAspect="1"/>
          </p:cNvSpPr>
          <p:nvPr userDrawn="1"/>
        </p:nvSpPr>
        <p:spPr>
          <a:xfrm>
            <a:off x="0" y="128561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071C3FFE-4231-78CA-D32E-0CB00040402B}"/>
              </a:ext>
            </a:extLst>
          </p:cNvPr>
          <p:cNvSpPr>
            <a:spLocks noChangeAspect="1"/>
          </p:cNvSpPr>
          <p:nvPr userDrawn="1"/>
        </p:nvSpPr>
        <p:spPr>
          <a:xfrm>
            <a:off x="-3" y="171422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D7FB0309-AAC2-B57E-8D00-2D7697DD14AF}"/>
              </a:ext>
            </a:extLst>
          </p:cNvPr>
          <p:cNvSpPr>
            <a:spLocks noChangeAspect="1"/>
          </p:cNvSpPr>
          <p:nvPr userDrawn="1"/>
        </p:nvSpPr>
        <p:spPr>
          <a:xfrm>
            <a:off x="0" y="21428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2240B5A4-42DE-8A14-36D6-AFB428B9B1C1}"/>
              </a:ext>
            </a:extLst>
          </p:cNvPr>
          <p:cNvSpPr>
            <a:spLocks noChangeAspect="1"/>
          </p:cNvSpPr>
          <p:nvPr userDrawn="1"/>
        </p:nvSpPr>
        <p:spPr>
          <a:xfrm>
            <a:off x="-3" y="25712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orme libre 20">
            <a:extLst>
              <a:ext uri="{FF2B5EF4-FFF2-40B4-BE49-F238E27FC236}">
                <a16:creationId xmlns:a16="http://schemas.microsoft.com/office/drawing/2014/main" id="{372BBFFA-319C-27E5-D42D-1FE7E80D5E92}"/>
              </a:ext>
            </a:extLst>
          </p:cNvPr>
          <p:cNvSpPr/>
          <p:nvPr userDrawn="1"/>
        </p:nvSpPr>
        <p:spPr>
          <a:xfrm>
            <a:off x="828810" y="760377"/>
            <a:ext cx="597583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0512D8CC-A62A-40A3-3FFA-BD1F87DE1522}"/>
              </a:ext>
            </a:extLst>
          </p:cNvPr>
          <p:cNvSpPr/>
          <p:nvPr userDrawn="1"/>
        </p:nvSpPr>
        <p:spPr>
          <a:xfrm rot="16200000">
            <a:off x="-1383079" y="2903623"/>
            <a:ext cx="4383124"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3" name="Espace réservé du texte 81">
            <a:extLst>
              <a:ext uri="{FF2B5EF4-FFF2-40B4-BE49-F238E27FC236}">
                <a16:creationId xmlns:a16="http://schemas.microsoft.com/office/drawing/2014/main" id="{DAF0EE13-BA48-3E03-FCE8-668ACB135660}"/>
              </a:ext>
            </a:extLst>
          </p:cNvPr>
          <p:cNvSpPr>
            <a:spLocks noGrp="1"/>
          </p:cNvSpPr>
          <p:nvPr>
            <p:ph type="body" sz="quarter" idx="11" hasCustomPrompt="1"/>
          </p:nvPr>
        </p:nvSpPr>
        <p:spPr>
          <a:xfrm>
            <a:off x="1285200" y="4486634"/>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24" name="Espace réservé du texte 81">
            <a:extLst>
              <a:ext uri="{FF2B5EF4-FFF2-40B4-BE49-F238E27FC236}">
                <a16:creationId xmlns:a16="http://schemas.microsoft.com/office/drawing/2014/main" id="{6783BFA2-A7E6-4F84-84BA-D5976D269540}"/>
              </a:ext>
            </a:extLst>
          </p:cNvPr>
          <p:cNvSpPr>
            <a:spLocks noGrp="1"/>
          </p:cNvSpPr>
          <p:nvPr>
            <p:ph type="body" sz="quarter" idx="12" hasCustomPrompt="1"/>
          </p:nvPr>
        </p:nvSpPr>
        <p:spPr>
          <a:xfrm>
            <a:off x="2044683" y="4486634"/>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pic>
        <p:nvPicPr>
          <p:cNvPr id="5" name="Graphic 4">
            <a:extLst>
              <a:ext uri="{FF2B5EF4-FFF2-40B4-BE49-F238E27FC236}">
                <a16:creationId xmlns:a16="http://schemas.microsoft.com/office/drawing/2014/main" id="{DD9F045A-86C6-0812-3813-D4C61BA803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22861" y="284400"/>
            <a:ext cx="1443600" cy="782456"/>
          </a:xfrm>
          <a:prstGeom prst="rect">
            <a:avLst/>
          </a:prstGeom>
        </p:spPr>
      </p:pic>
    </p:spTree>
    <p:extLst>
      <p:ext uri="{BB962C8B-B14F-4D97-AF65-F5344CB8AC3E}">
        <p14:creationId xmlns:p14="http://schemas.microsoft.com/office/powerpoint/2010/main" val="206273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blank-2">
    <p:spTree>
      <p:nvGrpSpPr>
        <p:cNvPr id="1" name=""/>
        <p:cNvGrpSpPr/>
        <p:nvPr/>
      </p:nvGrpSpPr>
      <p:grpSpPr>
        <a:xfrm>
          <a:off x="0" y="0"/>
          <a:ext cx="0" cy="0"/>
          <a:chOff x="0" y="0"/>
          <a:chExt cx="0" cy="0"/>
        </a:xfrm>
      </p:grpSpPr>
      <p:sp>
        <p:nvSpPr>
          <p:cNvPr id="2" name="Title 1"/>
          <p:cNvSpPr>
            <a:spLocks noGrp="1"/>
          </p:cNvSpPr>
          <p:nvPr>
            <p:ph type="ctrTitle"/>
          </p:nvPr>
        </p:nvSpPr>
        <p:spPr>
          <a:xfrm>
            <a:off x="1285199" y="2358221"/>
            <a:ext cx="5975835" cy="72482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5200" y="3270572"/>
            <a:ext cx="5975836"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5" name="Forme libre 4">
            <a:extLst>
              <a:ext uri="{FF2B5EF4-FFF2-40B4-BE49-F238E27FC236}">
                <a16:creationId xmlns:a16="http://schemas.microsoft.com/office/drawing/2014/main" id="{81B07C38-783E-E35D-F550-E67A8A92F3BE}"/>
              </a:ext>
            </a:extLst>
          </p:cNvPr>
          <p:cNvSpPr/>
          <p:nvPr userDrawn="1"/>
        </p:nvSpPr>
        <p:spPr>
          <a:xfrm rot="16200000">
            <a:off x="-1217195" y="2737739"/>
            <a:ext cx="4051355"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6" name="Espace réservé du texte 81">
            <a:extLst>
              <a:ext uri="{FF2B5EF4-FFF2-40B4-BE49-F238E27FC236}">
                <a16:creationId xmlns:a16="http://schemas.microsoft.com/office/drawing/2014/main" id="{7F0A05DB-6FAF-E48E-84E6-8F4459DB4CBB}"/>
              </a:ext>
            </a:extLst>
          </p:cNvPr>
          <p:cNvSpPr>
            <a:spLocks noGrp="1"/>
          </p:cNvSpPr>
          <p:nvPr>
            <p:ph type="body" sz="quarter" idx="13" hasCustomPrompt="1"/>
          </p:nvPr>
        </p:nvSpPr>
        <p:spPr>
          <a:xfrm>
            <a:off x="1285200" y="4045576"/>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7" name="Espace réservé du texte 81">
            <a:extLst>
              <a:ext uri="{FF2B5EF4-FFF2-40B4-BE49-F238E27FC236}">
                <a16:creationId xmlns:a16="http://schemas.microsoft.com/office/drawing/2014/main" id="{24E26F61-B61B-FAF2-6F9C-11CE2EC192DD}"/>
              </a:ext>
            </a:extLst>
          </p:cNvPr>
          <p:cNvSpPr>
            <a:spLocks noGrp="1"/>
          </p:cNvSpPr>
          <p:nvPr>
            <p:ph type="body" sz="quarter" idx="14" hasCustomPrompt="1"/>
          </p:nvPr>
        </p:nvSpPr>
        <p:spPr>
          <a:xfrm>
            <a:off x="2044683" y="4045576"/>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9" name="Forme libre 8">
            <a:extLst>
              <a:ext uri="{FF2B5EF4-FFF2-40B4-BE49-F238E27FC236}">
                <a16:creationId xmlns:a16="http://schemas.microsoft.com/office/drawing/2014/main" id="{B87305F2-AFBE-EBE0-195B-9DE232764CEB}"/>
              </a:ext>
            </a:extLst>
          </p:cNvPr>
          <p:cNvSpPr/>
          <p:nvPr userDrawn="1"/>
        </p:nvSpPr>
        <p:spPr>
          <a:xfrm>
            <a:off x="815975" y="760377"/>
            <a:ext cx="5563225"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0" name="Forme libre 9">
            <a:extLst>
              <a:ext uri="{FF2B5EF4-FFF2-40B4-BE49-F238E27FC236}">
                <a16:creationId xmlns:a16="http://schemas.microsoft.com/office/drawing/2014/main" id="{3F3A0A57-DE05-97CD-6FD6-08C2F6615A12}"/>
              </a:ext>
            </a:extLst>
          </p:cNvPr>
          <p:cNvSpPr/>
          <p:nvPr userDrawn="1"/>
        </p:nvSpPr>
        <p:spPr>
          <a:xfrm>
            <a:off x="8059928" y="760264"/>
            <a:ext cx="1083954"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A40575B-E146-3BD8-AFB2-E8717B190F83}"/>
              </a:ext>
            </a:extLst>
          </p:cNvPr>
          <p:cNvSpPr/>
          <p:nvPr userDrawn="1"/>
        </p:nvSpPr>
        <p:spPr>
          <a:xfrm>
            <a:off x="815975" y="4715100"/>
            <a:ext cx="832790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AEFD43DB-60F0-69E5-0E6E-39DAC8F580D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06211952-6EFD-1268-B0D8-5D1EA9A036DA}"/>
              </a:ext>
            </a:extLst>
          </p:cNvPr>
          <p:cNvSpPr>
            <a:spLocks noChangeAspect="1"/>
          </p:cNvSpPr>
          <p:nvPr userDrawn="1"/>
        </p:nvSpPr>
        <p:spPr>
          <a:xfrm>
            <a:off x="0" y="4286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69892B6F-9A39-8FF4-F99C-3D45A9DDD8CC}"/>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9B1B74D-F7A7-427F-4C42-2E65F73D513D}"/>
              </a:ext>
            </a:extLst>
          </p:cNvPr>
          <p:cNvSpPr>
            <a:spLocks noChangeAspect="1"/>
          </p:cNvSpPr>
          <p:nvPr userDrawn="1"/>
        </p:nvSpPr>
        <p:spPr>
          <a:xfrm>
            <a:off x="-3" y="8570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210BEFD-109F-37DE-ED0B-3CC93589B2DE}"/>
              </a:ext>
            </a:extLst>
          </p:cNvPr>
          <p:cNvSpPr>
            <a:spLocks noChangeAspect="1"/>
          </p:cNvSpPr>
          <p:nvPr userDrawn="1"/>
        </p:nvSpPr>
        <p:spPr>
          <a:xfrm>
            <a:off x="0" y="128561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071C3FFE-4231-78CA-D32E-0CB00040402B}"/>
              </a:ext>
            </a:extLst>
          </p:cNvPr>
          <p:cNvSpPr>
            <a:spLocks noChangeAspect="1"/>
          </p:cNvSpPr>
          <p:nvPr userDrawn="1"/>
        </p:nvSpPr>
        <p:spPr>
          <a:xfrm>
            <a:off x="-3" y="171422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D7FB0309-AAC2-B57E-8D00-2D7697DD14AF}"/>
              </a:ext>
            </a:extLst>
          </p:cNvPr>
          <p:cNvSpPr>
            <a:spLocks noChangeAspect="1"/>
          </p:cNvSpPr>
          <p:nvPr userDrawn="1"/>
        </p:nvSpPr>
        <p:spPr>
          <a:xfrm>
            <a:off x="0" y="21428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2240B5A4-42DE-8A14-36D6-AFB428B9B1C1}"/>
              </a:ext>
            </a:extLst>
          </p:cNvPr>
          <p:cNvSpPr>
            <a:spLocks noChangeAspect="1"/>
          </p:cNvSpPr>
          <p:nvPr userDrawn="1"/>
        </p:nvSpPr>
        <p:spPr>
          <a:xfrm>
            <a:off x="-3" y="25712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1440879F-6B1C-6975-11B0-534AD280C77A}"/>
              </a:ext>
            </a:extLst>
          </p:cNvPr>
          <p:cNvSpPr>
            <a:spLocks noChangeAspect="1"/>
          </p:cNvSpPr>
          <p:nvPr userDrawn="1"/>
        </p:nvSpPr>
        <p:spPr>
          <a:xfrm>
            <a:off x="0" y="299984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69CAD4E1-CE8D-D68A-F8EF-E72FA15695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96199" y="284400"/>
            <a:ext cx="1443600" cy="782456"/>
          </a:xfrm>
          <a:prstGeom prst="rect">
            <a:avLst/>
          </a:prstGeom>
        </p:spPr>
      </p:pic>
    </p:spTree>
    <p:extLst>
      <p:ext uri="{BB962C8B-B14F-4D97-AF65-F5344CB8AC3E}">
        <p14:creationId xmlns:p14="http://schemas.microsoft.com/office/powerpoint/2010/main" val="1360131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1">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CC0E64A8-1760-18C4-A4A9-561107482C09}"/>
              </a:ext>
            </a:extLst>
          </p:cNvPr>
          <p:cNvPicPr>
            <a:picLocks/>
          </p:cNvPicPr>
          <p:nvPr userDrawn="1"/>
        </p:nvPicPr>
        <p:blipFill>
          <a:blip r:embed="rId2"/>
          <a:srcRect/>
          <a:stretch/>
        </p:blipFill>
        <p:spPr>
          <a:xfrm>
            <a:off x="-2" y="0"/>
            <a:ext cx="9144000" cy="5143500"/>
          </a:xfrm>
          <a:prstGeom prst="rect">
            <a:avLst/>
          </a:prstGeom>
        </p:spPr>
      </p:pic>
      <p:sp>
        <p:nvSpPr>
          <p:cNvPr id="10" name="Forme libre 9">
            <a:extLst>
              <a:ext uri="{FF2B5EF4-FFF2-40B4-BE49-F238E27FC236}">
                <a16:creationId xmlns:a16="http://schemas.microsoft.com/office/drawing/2014/main" id="{890CC80E-BA80-6CF4-B639-E7BB94813E41}"/>
              </a:ext>
            </a:extLst>
          </p:cNvPr>
          <p:cNvSpPr/>
          <p:nvPr userDrawn="1"/>
        </p:nvSpPr>
        <p:spPr>
          <a:xfrm>
            <a:off x="331767" y="4715100"/>
            <a:ext cx="844075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pic>
        <p:nvPicPr>
          <p:cNvPr id="8" name="Image 7">
            <a:extLst>
              <a:ext uri="{FF2B5EF4-FFF2-40B4-BE49-F238E27FC236}">
                <a16:creationId xmlns:a16="http://schemas.microsoft.com/office/drawing/2014/main" id="{48D91661-BB6B-8D42-C429-8A35850E86AA}"/>
              </a:ext>
            </a:extLst>
          </p:cNvPr>
          <p:cNvPicPr>
            <a:picLocks/>
          </p:cNvPicPr>
          <p:nvPr userDrawn="1"/>
        </p:nvPicPr>
        <p:blipFill>
          <a:blip r:embed="rId3"/>
          <a:srcRect/>
          <a:stretch/>
        </p:blipFill>
        <p:spPr>
          <a:xfrm>
            <a:off x="0" y="3600"/>
            <a:ext cx="9144000" cy="5135880"/>
          </a:xfrm>
          <a:prstGeom prst="rect">
            <a:avLst/>
          </a:prstGeom>
        </p:spPr>
      </p:pic>
      <p:sp>
        <p:nvSpPr>
          <p:cNvPr id="2" name="Title 1"/>
          <p:cNvSpPr>
            <a:spLocks noGrp="1"/>
          </p:cNvSpPr>
          <p:nvPr>
            <p:ph type="ctrTitle"/>
          </p:nvPr>
        </p:nvSpPr>
        <p:spPr>
          <a:xfrm>
            <a:off x="856801" y="1876926"/>
            <a:ext cx="3744000" cy="1158905"/>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856799" y="3394615"/>
            <a:ext cx="3744000" cy="559423"/>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7" y="760377"/>
            <a:ext cx="60474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591809"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1587600" y="4055749"/>
            <a:ext cx="3026141" cy="250900"/>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059928" y="760264"/>
            <a:ext cx="712597"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D86FC8AD-B83A-D1BC-C2DE-F09474A82F7F}"/>
              </a:ext>
            </a:extLst>
          </p:cNvPr>
          <p:cNvSpPr/>
          <p:nvPr userDrawn="1"/>
        </p:nvSpPr>
        <p:spPr>
          <a:xfrm rot="16200000">
            <a:off x="6738065" y="2737682"/>
            <a:ext cx="4051467"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856801" y="4048484"/>
            <a:ext cx="730798" cy="258165"/>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4" name="Rectangle 3">
            <a:extLst>
              <a:ext uri="{FF2B5EF4-FFF2-40B4-BE49-F238E27FC236}">
                <a16:creationId xmlns:a16="http://schemas.microsoft.com/office/drawing/2014/main" id="{2827FED3-B555-0F89-7F36-BE59B33FA63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AF8FE08B-A19B-B932-0C1F-A5C2590729D3}"/>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5708805-D6FB-1072-B4D3-2D05C07DBB24}"/>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c 11">
            <a:extLst>
              <a:ext uri="{FF2B5EF4-FFF2-40B4-BE49-F238E27FC236}">
                <a16:creationId xmlns:a16="http://schemas.microsoft.com/office/drawing/2014/main" id="{C8D7AB57-A301-D1B4-5B1D-345F327FF3E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6496199" y="284400"/>
            <a:ext cx="1443600" cy="782455"/>
          </a:xfrm>
          <a:prstGeom prst="rect">
            <a:avLst/>
          </a:prstGeom>
        </p:spPr>
      </p:pic>
    </p:spTree>
    <p:extLst>
      <p:ext uri="{BB962C8B-B14F-4D97-AF65-F5344CB8AC3E}">
        <p14:creationId xmlns:p14="http://schemas.microsoft.com/office/powerpoint/2010/main" val="281061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2">
    <p:spTree>
      <p:nvGrpSpPr>
        <p:cNvPr id="1" name=""/>
        <p:cNvGrpSpPr/>
        <p:nvPr/>
      </p:nvGrpSpPr>
      <p:grpSpPr>
        <a:xfrm>
          <a:off x="0" y="0"/>
          <a:ext cx="0" cy="0"/>
          <a:chOff x="0" y="0"/>
          <a:chExt cx="0" cy="0"/>
        </a:xfrm>
      </p:grpSpPr>
      <p:pic>
        <p:nvPicPr>
          <p:cNvPr id="137" name="Image 136" descr="Une image contenant ciel, Visage humain, personne, plein air&#10;&#10;Description générée automatiquement">
            <a:extLst>
              <a:ext uri="{FF2B5EF4-FFF2-40B4-BE49-F238E27FC236}">
                <a16:creationId xmlns:a16="http://schemas.microsoft.com/office/drawing/2014/main" id="{720FCE97-FD77-8FD9-73F7-3ABB406038EE}"/>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p:nvPr>
        </p:nvSpPr>
        <p:spPr>
          <a:xfrm>
            <a:off x="828810" y="2355035"/>
            <a:ext cx="4895070" cy="73117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828810" y="3273736"/>
            <a:ext cx="4895071"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8" y="760377"/>
            <a:ext cx="647287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791160" y="2923941"/>
            <a:ext cx="434248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828810" y="4486634"/>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1588293" y="4486634"/>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5" name="Rectangle 4">
            <a:extLst>
              <a:ext uri="{FF2B5EF4-FFF2-40B4-BE49-F238E27FC236}">
                <a16:creationId xmlns:a16="http://schemas.microsoft.com/office/drawing/2014/main" id="{560B6729-9DC1-9D8F-6A3A-F520E1168BCC}"/>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6FD495CB-1A2C-7E68-1B8C-4DE7875DB132}"/>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902E4C7B-8D5E-B9D2-D8F6-B3BC785327B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921061" y="284400"/>
            <a:ext cx="1443600" cy="782455"/>
          </a:xfrm>
          <a:prstGeom prst="rect">
            <a:avLst/>
          </a:prstGeom>
        </p:spPr>
      </p:pic>
    </p:spTree>
    <p:extLst>
      <p:ext uri="{BB962C8B-B14F-4D97-AF65-F5344CB8AC3E}">
        <p14:creationId xmlns:p14="http://schemas.microsoft.com/office/powerpoint/2010/main" val="715245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3">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CC0E64A8-1760-18C4-A4A9-561107482C09}"/>
              </a:ext>
            </a:extLst>
          </p:cNvPr>
          <p:cNvPicPr>
            <a:picLocks/>
          </p:cNvPicPr>
          <p:nvPr userDrawn="1"/>
        </p:nvPicPr>
        <p:blipFill>
          <a:blip r:embed="rId2"/>
          <a:srcRect/>
          <a:stretch/>
        </p:blipFill>
        <p:spPr>
          <a:xfrm>
            <a:off x="-2" y="4044"/>
            <a:ext cx="9144000" cy="5135880"/>
          </a:xfrm>
          <a:prstGeom prst="rect">
            <a:avLst/>
          </a:prstGeom>
        </p:spPr>
      </p:pic>
      <p:sp>
        <p:nvSpPr>
          <p:cNvPr id="64" name="Forme libre 63">
            <a:extLst>
              <a:ext uri="{FF2B5EF4-FFF2-40B4-BE49-F238E27FC236}">
                <a16:creationId xmlns:a16="http://schemas.microsoft.com/office/drawing/2014/main" id="{F27D0632-0BA3-7E34-0DD8-02D49E22297A}"/>
              </a:ext>
            </a:extLst>
          </p:cNvPr>
          <p:cNvSpPr/>
          <p:nvPr userDrawn="1"/>
        </p:nvSpPr>
        <p:spPr>
          <a:xfrm>
            <a:off x="760164" y="760377"/>
            <a:ext cx="6044482"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0" name="Forme libre 9">
            <a:extLst>
              <a:ext uri="{FF2B5EF4-FFF2-40B4-BE49-F238E27FC236}">
                <a16:creationId xmlns:a16="http://schemas.microsoft.com/office/drawing/2014/main" id="{890CC80E-BA80-6CF4-B639-E7BB94813E41}"/>
              </a:ext>
            </a:extLst>
          </p:cNvPr>
          <p:cNvSpPr/>
          <p:nvPr userDrawn="1"/>
        </p:nvSpPr>
        <p:spPr>
          <a:xfrm>
            <a:off x="760164" y="4715100"/>
            <a:ext cx="83838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 name="Title 1"/>
          <p:cNvSpPr>
            <a:spLocks noGrp="1"/>
          </p:cNvSpPr>
          <p:nvPr>
            <p:ph type="ctrTitle"/>
          </p:nvPr>
        </p:nvSpPr>
        <p:spPr>
          <a:xfrm>
            <a:off x="1281799" y="1748886"/>
            <a:ext cx="3780000" cy="1286946"/>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1798" y="3394615"/>
            <a:ext cx="3780000" cy="559423"/>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163412"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2023595" y="4286490"/>
            <a:ext cx="3026141" cy="149241"/>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484111" y="760264"/>
            <a:ext cx="659890"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1281799" y="4177566"/>
            <a:ext cx="741794" cy="258165"/>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65" name="Rectangle 64">
            <a:extLst>
              <a:ext uri="{FF2B5EF4-FFF2-40B4-BE49-F238E27FC236}">
                <a16:creationId xmlns:a16="http://schemas.microsoft.com/office/drawing/2014/main" id="{4338C511-9884-8CFC-D291-656E2284D004}"/>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7BD4B1EA-B810-F1B6-BD5F-87E518D49A1B}"/>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448F566D-0CD2-8ED0-5A64-E4AEA1536A41}"/>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FAC98F8E-C622-6DB7-163C-066B74BCE3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921061" y="284400"/>
            <a:ext cx="1443600" cy="782455"/>
          </a:xfrm>
          <a:prstGeom prst="rect">
            <a:avLst/>
          </a:prstGeom>
        </p:spPr>
      </p:pic>
    </p:spTree>
    <p:extLst>
      <p:ext uri="{BB962C8B-B14F-4D97-AF65-F5344CB8AC3E}">
        <p14:creationId xmlns:p14="http://schemas.microsoft.com/office/powerpoint/2010/main" val="50734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2D9C3C22-E1F9-66F7-0BBE-2901FF18D331}"/>
              </a:ext>
            </a:extLst>
          </p:cNvPr>
          <p:cNvPicPr>
            <a:picLocks/>
          </p:cNvPicPr>
          <p:nvPr userDrawn="1"/>
        </p:nvPicPr>
        <p:blipFill>
          <a:blip r:embed="rId2"/>
          <a:srcRect/>
          <a:stretch/>
        </p:blipFill>
        <p:spPr>
          <a:xfrm>
            <a:off x="-1" y="0"/>
            <a:ext cx="9144000" cy="5143500"/>
          </a:xfrm>
          <a:prstGeom prst="rect">
            <a:avLst/>
          </a:prstGeom>
        </p:spPr>
      </p:pic>
      <p:sp>
        <p:nvSpPr>
          <p:cNvPr id="10" name="Forme libre 9">
            <a:extLst>
              <a:ext uri="{FF2B5EF4-FFF2-40B4-BE49-F238E27FC236}">
                <a16:creationId xmlns:a16="http://schemas.microsoft.com/office/drawing/2014/main" id="{890CC80E-BA80-6CF4-B639-E7BB94813E41}"/>
              </a:ext>
            </a:extLst>
          </p:cNvPr>
          <p:cNvSpPr/>
          <p:nvPr userDrawn="1"/>
        </p:nvSpPr>
        <p:spPr>
          <a:xfrm>
            <a:off x="331767" y="4715100"/>
            <a:ext cx="844075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7" y="760377"/>
            <a:ext cx="60474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591809"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pic>
        <p:nvPicPr>
          <p:cNvPr id="8" name="Image 7">
            <a:extLst>
              <a:ext uri="{FF2B5EF4-FFF2-40B4-BE49-F238E27FC236}">
                <a16:creationId xmlns:a16="http://schemas.microsoft.com/office/drawing/2014/main" id="{E032D6A9-38F9-AF23-1034-C2F4CF806540}"/>
              </a:ext>
            </a:extLst>
          </p:cNvPr>
          <p:cNvPicPr>
            <a:picLocks/>
          </p:cNvPicPr>
          <p:nvPr userDrawn="1"/>
        </p:nvPicPr>
        <p:blipFill>
          <a:blip r:embed="rId3"/>
          <a:srcRect/>
          <a:stretch/>
        </p:blipFill>
        <p:spPr>
          <a:xfrm>
            <a:off x="0" y="4260"/>
            <a:ext cx="9144000" cy="5135880"/>
          </a:xfrm>
          <a:prstGeom prst="rect">
            <a:avLst/>
          </a:prstGeom>
        </p:spPr>
      </p:pic>
      <p:sp>
        <p:nvSpPr>
          <p:cNvPr id="2" name="Title 1"/>
          <p:cNvSpPr>
            <a:spLocks noGrp="1"/>
          </p:cNvSpPr>
          <p:nvPr>
            <p:ph type="ctrTitle"/>
          </p:nvPr>
        </p:nvSpPr>
        <p:spPr>
          <a:xfrm>
            <a:off x="4444640" y="1380197"/>
            <a:ext cx="3960000" cy="1014522"/>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4444640" y="2539255"/>
            <a:ext cx="3960000" cy="378197"/>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059928" y="760264"/>
            <a:ext cx="712597"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D86FC8AD-B83A-D1BC-C2DE-F09474A82F7F}"/>
              </a:ext>
            </a:extLst>
          </p:cNvPr>
          <p:cNvSpPr/>
          <p:nvPr userDrawn="1"/>
        </p:nvSpPr>
        <p:spPr>
          <a:xfrm rot="16200000">
            <a:off x="6738065" y="2737682"/>
            <a:ext cx="4051467"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4" name="Espace réservé du texte 81">
            <a:extLst>
              <a:ext uri="{FF2B5EF4-FFF2-40B4-BE49-F238E27FC236}">
                <a16:creationId xmlns:a16="http://schemas.microsoft.com/office/drawing/2014/main" id="{C0267CE8-86F1-4DD1-F836-7EA656218E74}"/>
              </a:ext>
            </a:extLst>
          </p:cNvPr>
          <p:cNvSpPr>
            <a:spLocks noGrp="1"/>
          </p:cNvSpPr>
          <p:nvPr>
            <p:ph type="body" sz="quarter" idx="12" hasCustomPrompt="1"/>
          </p:nvPr>
        </p:nvSpPr>
        <p:spPr>
          <a:xfrm>
            <a:off x="4444640" y="4217977"/>
            <a:ext cx="3026141" cy="149241"/>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5" name="Espace réservé du texte 81">
            <a:extLst>
              <a:ext uri="{FF2B5EF4-FFF2-40B4-BE49-F238E27FC236}">
                <a16:creationId xmlns:a16="http://schemas.microsoft.com/office/drawing/2014/main" id="{88387400-4586-2124-2906-E420FAC8ADC1}"/>
              </a:ext>
            </a:extLst>
          </p:cNvPr>
          <p:cNvSpPr>
            <a:spLocks noGrp="1"/>
          </p:cNvSpPr>
          <p:nvPr>
            <p:ph type="body" sz="quarter" idx="11" hasCustomPrompt="1"/>
          </p:nvPr>
        </p:nvSpPr>
        <p:spPr>
          <a:xfrm>
            <a:off x="4444640" y="2994251"/>
            <a:ext cx="1042593" cy="258165"/>
          </a:xfrm>
        </p:spPr>
        <p:txBody>
          <a:bodyPr anchor="t" anchorCtr="0"/>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pic>
        <p:nvPicPr>
          <p:cNvPr id="9" name="Graphic 8">
            <a:extLst>
              <a:ext uri="{FF2B5EF4-FFF2-40B4-BE49-F238E27FC236}">
                <a16:creationId xmlns:a16="http://schemas.microsoft.com/office/drawing/2014/main" id="{F82804DD-DD1B-2F3D-5F63-FBF13AD32289}"/>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6496199" y="284400"/>
            <a:ext cx="1443600" cy="782455"/>
          </a:xfrm>
          <a:prstGeom prst="rect">
            <a:avLst/>
          </a:prstGeom>
        </p:spPr>
      </p:pic>
    </p:spTree>
    <p:extLst>
      <p:ext uri="{BB962C8B-B14F-4D97-AF65-F5344CB8AC3E}">
        <p14:creationId xmlns:p14="http://schemas.microsoft.com/office/powerpoint/2010/main" val="4205603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and-content">
    <p:spTree>
      <p:nvGrpSpPr>
        <p:cNvPr id="1" name=""/>
        <p:cNvGrpSpPr/>
        <p:nvPr/>
      </p:nvGrpSpPr>
      <p:grpSpPr>
        <a:xfrm>
          <a:off x="0" y="0"/>
          <a:ext cx="0" cy="0"/>
          <a:chOff x="0" y="0"/>
          <a:chExt cx="0" cy="0"/>
        </a:xfrm>
      </p:grpSpPr>
      <p:sp>
        <p:nvSpPr>
          <p:cNvPr id="2" name="Title 1"/>
          <p:cNvSpPr>
            <a:spLocks noGrp="1"/>
          </p:cNvSpPr>
          <p:nvPr>
            <p:ph type="title"/>
          </p:nvPr>
        </p:nvSpPr>
        <p:spPr>
          <a:xfrm>
            <a:off x="428652" y="428400"/>
            <a:ext cx="8287200" cy="290620"/>
          </a:xfrm>
        </p:spPr>
        <p:txBody>
          <a:bodyPr/>
          <a:lstStyle/>
          <a:p>
            <a:r>
              <a:rPr lang="en-US"/>
              <a:t>Click to edit Master title style</a:t>
            </a:r>
            <a:endParaRPr lang="en-US" dirty="0"/>
          </a:p>
        </p:txBody>
      </p:sp>
      <p:sp>
        <p:nvSpPr>
          <p:cNvPr id="3" name="Content Placeholder 2"/>
          <p:cNvSpPr>
            <a:spLocks noGrp="1"/>
          </p:cNvSpPr>
          <p:nvPr>
            <p:ph idx="1"/>
          </p:nvPr>
        </p:nvSpPr>
        <p:spPr>
          <a:xfrm>
            <a:off x="428648" y="1119600"/>
            <a:ext cx="8287200" cy="2997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GB"/>
              <a:t>Fixed Income Solution</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dirty="0"/>
          </a:p>
        </p:txBody>
      </p:sp>
      <p:sp>
        <p:nvSpPr>
          <p:cNvPr id="8" name="Espace réservé du texte 7"/>
          <p:cNvSpPr>
            <a:spLocks noGrp="1"/>
          </p:cNvSpPr>
          <p:nvPr>
            <p:ph type="body" sz="quarter" idx="13"/>
          </p:nvPr>
        </p:nvSpPr>
        <p:spPr>
          <a:xfrm>
            <a:off x="428648" y="759018"/>
            <a:ext cx="8287200" cy="228362"/>
          </a:xfrm>
        </p:spPr>
        <p:txBody>
          <a:bodyPr>
            <a:normAutofit/>
          </a:bodyPr>
          <a:lstStyle>
            <a:lvl1pPr marL="0" indent="0">
              <a:buNone/>
              <a:defRPr sz="1400">
                <a:solidFill>
                  <a:srgbClr val="0073A3"/>
                </a:solidFill>
              </a:defRPr>
            </a:lvl1pPr>
          </a:lstStyle>
          <a:p>
            <a:pPr lvl="0"/>
            <a:r>
              <a:rPr lang="en-US"/>
              <a:t>Click to edit Master text styles</a:t>
            </a:r>
          </a:p>
        </p:txBody>
      </p:sp>
      <p:sp>
        <p:nvSpPr>
          <p:cNvPr id="7" name="Espace réservé du texte 6"/>
          <p:cNvSpPr>
            <a:spLocks noGrp="1"/>
          </p:cNvSpPr>
          <p:nvPr>
            <p:ph type="body" sz="quarter" idx="14"/>
          </p:nvPr>
        </p:nvSpPr>
        <p:spPr>
          <a:xfrm>
            <a:off x="428399" y="4095900"/>
            <a:ext cx="8287200" cy="459000"/>
          </a:xfrm>
        </p:spPr>
        <p:txBody>
          <a:bodyPr anchor="b">
            <a:noAutofit/>
          </a:bodyPr>
          <a:lstStyle>
            <a:lvl1pPr marL="6351" indent="0" algn="just">
              <a:buNone/>
              <a:defRPr sz="700">
                <a:solidFill>
                  <a:srgbClr val="005483"/>
                </a:solidFill>
              </a:defRPr>
            </a:lvl1pPr>
          </a:lstStyle>
          <a:p>
            <a:pPr lvl="0"/>
            <a:r>
              <a:rPr lang="en-US"/>
              <a:t>Click to edit Master text styles</a:t>
            </a:r>
          </a:p>
        </p:txBody>
      </p:sp>
    </p:spTree>
    <p:extLst>
      <p:ext uri="{BB962C8B-B14F-4D97-AF65-F5344CB8AC3E}">
        <p14:creationId xmlns:p14="http://schemas.microsoft.com/office/powerpoint/2010/main" val="321008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428399" y="428400"/>
            <a:ext cx="8287200" cy="290620"/>
          </a:xfrm>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en-GB"/>
              <a:t>Fixed Income Solution</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a:p>
        </p:txBody>
      </p:sp>
      <p:sp>
        <p:nvSpPr>
          <p:cNvPr id="8" name="Espace réservé du texte 7"/>
          <p:cNvSpPr>
            <a:spLocks noGrp="1"/>
          </p:cNvSpPr>
          <p:nvPr>
            <p:ph type="body" sz="quarter" idx="13"/>
          </p:nvPr>
        </p:nvSpPr>
        <p:spPr>
          <a:xfrm>
            <a:off x="428400" y="759018"/>
            <a:ext cx="8287200" cy="228362"/>
          </a:xfrm>
        </p:spPr>
        <p:txBody>
          <a:bodyPr>
            <a:normAutofit/>
          </a:bodyPr>
          <a:lstStyle>
            <a:lvl1pPr marL="0" indent="0">
              <a:buNone/>
              <a:defRPr sz="1400">
                <a:solidFill>
                  <a:srgbClr val="0073A3"/>
                </a:solidFill>
              </a:defRPr>
            </a:lvl1pPr>
          </a:lstStyle>
          <a:p>
            <a:pPr lvl="0"/>
            <a:r>
              <a:rPr lang="en-US"/>
              <a:t>Click to edit Master text styles</a:t>
            </a:r>
          </a:p>
        </p:txBody>
      </p:sp>
    </p:spTree>
    <p:extLst>
      <p:ext uri="{BB962C8B-B14F-4D97-AF65-F5344CB8AC3E}">
        <p14:creationId xmlns:p14="http://schemas.microsoft.com/office/powerpoint/2010/main" val="399051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hapter">
    <p:spTree>
      <p:nvGrpSpPr>
        <p:cNvPr id="1" name=""/>
        <p:cNvGrpSpPr/>
        <p:nvPr/>
      </p:nvGrpSpPr>
      <p:grpSpPr>
        <a:xfrm>
          <a:off x="0" y="0"/>
          <a:ext cx="0" cy="0"/>
          <a:chOff x="0" y="0"/>
          <a:chExt cx="0" cy="0"/>
        </a:xfrm>
      </p:grpSpPr>
      <p:sp>
        <p:nvSpPr>
          <p:cNvPr id="11" name="Espace réservé du texte 10"/>
          <p:cNvSpPr>
            <a:spLocks noGrp="1"/>
          </p:cNvSpPr>
          <p:nvPr>
            <p:ph type="body" sz="quarter" idx="13"/>
          </p:nvPr>
        </p:nvSpPr>
        <p:spPr>
          <a:xfrm>
            <a:off x="900000" y="1148400"/>
            <a:ext cx="7772089" cy="1084983"/>
          </a:xfrm>
        </p:spPr>
        <p:txBody>
          <a:bodyPr>
            <a:noAutofit/>
          </a:bodyPr>
          <a:lstStyle>
            <a:lvl1pPr marL="0" indent="0">
              <a:buNone/>
              <a:defRPr sz="7200">
                <a:solidFill>
                  <a:srgbClr val="00B4E0"/>
                </a:solidFill>
              </a:defRPr>
            </a:lvl1pPr>
          </a:lstStyle>
          <a:p>
            <a:pPr lvl="0"/>
            <a:r>
              <a:rPr lang="en-US"/>
              <a:t>Click to edit Master text styles</a:t>
            </a:r>
          </a:p>
        </p:txBody>
      </p:sp>
      <p:sp>
        <p:nvSpPr>
          <p:cNvPr id="14" name="Rectangle 13">
            <a:extLst>
              <a:ext uri="{FF2B5EF4-FFF2-40B4-BE49-F238E27FC236}">
                <a16:creationId xmlns:a16="http://schemas.microsoft.com/office/drawing/2014/main" id="{7627EB70-D448-DE46-90B8-D45BE7C8F1B0}"/>
              </a:ext>
            </a:extLst>
          </p:cNvPr>
          <p:cNvSpPr/>
          <p:nvPr userDrawn="1"/>
        </p:nvSpPr>
        <p:spPr>
          <a:xfrm>
            <a:off x="1" y="2408400"/>
            <a:ext cx="9144000" cy="1922400"/>
          </a:xfrm>
          <a:prstGeom prst="rect">
            <a:avLst/>
          </a:prstGeom>
          <a:solidFill>
            <a:schemeClr val="bg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lIns="67500" rtlCol="0" anchor="ctr"/>
          <a:lstStyle/>
          <a:p>
            <a:pPr algn="ctr"/>
            <a:endParaRPr lang="fr-FR" sz="1350"/>
          </a:p>
        </p:txBody>
      </p:sp>
      <p:sp>
        <p:nvSpPr>
          <p:cNvPr id="2" name="Title 1"/>
          <p:cNvSpPr>
            <a:spLocks noGrp="1"/>
          </p:cNvSpPr>
          <p:nvPr>
            <p:ph type="title"/>
          </p:nvPr>
        </p:nvSpPr>
        <p:spPr>
          <a:xfrm>
            <a:off x="928800" y="2624400"/>
            <a:ext cx="7772089" cy="376743"/>
          </a:xfrm>
        </p:spPr>
        <p:txBody>
          <a:bodyPr anchor="t" anchorCtr="0">
            <a:noAutofit/>
          </a:bodyPr>
          <a:lstStyle>
            <a:lvl1pPr>
              <a:defRPr sz="2900" b="0"/>
            </a:lvl1pPr>
          </a:lstStyle>
          <a:p>
            <a:r>
              <a:rPr lang="en-US"/>
              <a:t>Click to edit Master title style</a:t>
            </a:r>
            <a:endParaRPr lang="en-US" dirty="0"/>
          </a:p>
        </p:txBody>
      </p:sp>
      <p:sp>
        <p:nvSpPr>
          <p:cNvPr id="3" name="Text Placeholder 2"/>
          <p:cNvSpPr>
            <a:spLocks noGrp="1"/>
          </p:cNvSpPr>
          <p:nvPr>
            <p:ph type="body" idx="1"/>
          </p:nvPr>
        </p:nvSpPr>
        <p:spPr>
          <a:xfrm>
            <a:off x="928800" y="3034800"/>
            <a:ext cx="7772089" cy="999141"/>
          </a:xfrm>
        </p:spPr>
        <p:txBody>
          <a:bodyPr>
            <a:normAutofit/>
          </a:bodyPr>
          <a:lstStyle>
            <a:lvl1pPr marL="0" indent="0">
              <a:buNone/>
              <a:defRPr sz="2100" spc="80" baseline="0">
                <a:solidFill>
                  <a:schemeClr val="tx1"/>
                </a:solidFill>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3" indent="0">
              <a:buNone/>
              <a:defRPr sz="1600">
                <a:solidFill>
                  <a:schemeClr val="tx1">
                    <a:tint val="75000"/>
                  </a:schemeClr>
                </a:solidFill>
              </a:defRPr>
            </a:lvl4pPr>
            <a:lvl5pPr marL="1828710" indent="0">
              <a:buNone/>
              <a:defRPr sz="1600">
                <a:solidFill>
                  <a:schemeClr val="tx1">
                    <a:tint val="75000"/>
                  </a:schemeClr>
                </a:solidFill>
              </a:defRPr>
            </a:lvl5pPr>
            <a:lvl6pPr marL="2285888" indent="0">
              <a:buNone/>
              <a:defRPr sz="1600">
                <a:solidFill>
                  <a:schemeClr val="tx1">
                    <a:tint val="75000"/>
                  </a:schemeClr>
                </a:solidFill>
              </a:defRPr>
            </a:lvl6pPr>
            <a:lvl7pPr marL="2743064" indent="0">
              <a:buNone/>
              <a:defRPr sz="1600">
                <a:solidFill>
                  <a:schemeClr val="tx1">
                    <a:tint val="75000"/>
                  </a:schemeClr>
                </a:solidFill>
              </a:defRPr>
            </a:lvl7pPr>
            <a:lvl8pPr marL="3200243" indent="0">
              <a:buNone/>
              <a:defRPr sz="1600">
                <a:solidFill>
                  <a:schemeClr val="tx1">
                    <a:tint val="75000"/>
                  </a:schemeClr>
                </a:solidFill>
              </a:defRPr>
            </a:lvl8pPr>
            <a:lvl9pPr marL="365742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GB"/>
              <a:t>Fixed Income Solution</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a:p>
        </p:txBody>
      </p:sp>
      <p:sp>
        <p:nvSpPr>
          <p:cNvPr id="9" name="Rectangle 8"/>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15" name="Espace réservé du texte 14"/>
          <p:cNvSpPr>
            <a:spLocks noGrp="1"/>
          </p:cNvSpPr>
          <p:nvPr>
            <p:ph type="body" sz="quarter" idx="14"/>
          </p:nvPr>
        </p:nvSpPr>
        <p:spPr>
          <a:xfrm>
            <a:off x="928800" y="3981600"/>
            <a:ext cx="7772089" cy="218870"/>
          </a:xfrm>
        </p:spPr>
        <p:txBody>
          <a:bodyPr>
            <a:normAutofit/>
          </a:bodyPr>
          <a:lstStyle>
            <a:lvl1pPr marL="0" indent="0">
              <a:buNone/>
              <a:defRPr sz="1100" spc="51" baseline="0">
                <a:solidFill>
                  <a:srgbClr val="005483"/>
                </a:solidFill>
              </a:defRPr>
            </a:lvl1pPr>
          </a:lstStyle>
          <a:p>
            <a:pPr lvl="0"/>
            <a:r>
              <a:rPr lang="en-US"/>
              <a:t>Click to edit Master text styles</a:t>
            </a:r>
          </a:p>
        </p:txBody>
      </p:sp>
      <p:cxnSp>
        <p:nvCxnSpPr>
          <p:cNvPr id="12" name="Connecteur droit 8">
            <a:extLst>
              <a:ext uri="{FF2B5EF4-FFF2-40B4-BE49-F238E27FC236}">
                <a16:creationId xmlns:a16="http://schemas.microsoft.com/office/drawing/2014/main" id="{373BB06B-E64D-7E43-B3D3-0BCA63FAD594}"/>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que 65">
            <a:extLst>
              <a:ext uri="{FF2B5EF4-FFF2-40B4-BE49-F238E27FC236}">
                <a16:creationId xmlns:a16="http://schemas.microsoft.com/office/drawing/2014/main" id="{3D920BCD-A9EB-616C-316D-6E741412102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291643044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56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C33DA7-2BBD-3B4B-9C40-8699CB5B8861}"/>
              </a:ext>
            </a:extLst>
          </p:cNvPr>
          <p:cNvSpPr/>
          <p:nvPr userDrawn="1"/>
        </p:nvSpPr>
        <p:spPr>
          <a:xfrm>
            <a:off x="1" y="1390650"/>
            <a:ext cx="9144000" cy="2961750"/>
          </a:xfrm>
          <a:prstGeom prst="rect">
            <a:avLst/>
          </a:prstGeom>
          <a:solidFill>
            <a:schemeClr val="bg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lIns="67500" rtlCol="0" anchor="ctr"/>
          <a:lstStyle/>
          <a:p>
            <a:pPr algn="ctr"/>
            <a:endParaRPr lang="fr-FR" sz="1350"/>
          </a:p>
        </p:txBody>
      </p:sp>
      <p:sp>
        <p:nvSpPr>
          <p:cNvPr id="2" name="Titre 1"/>
          <p:cNvSpPr>
            <a:spLocks noGrp="1"/>
          </p:cNvSpPr>
          <p:nvPr>
            <p:ph type="title"/>
          </p:nvPr>
        </p:nvSpPr>
        <p:spPr>
          <a:xfrm>
            <a:off x="900000" y="813600"/>
            <a:ext cx="7775998" cy="349671"/>
          </a:xfrm>
        </p:spPr>
        <p:txBody>
          <a:bodyPr>
            <a:noAutofit/>
          </a:bodyPr>
          <a:lstStyle>
            <a:lvl1pPr>
              <a:defRPr sz="3000" b="0">
                <a:solidFill>
                  <a:srgbClr val="00B4E0"/>
                </a:solidFill>
              </a:defRPr>
            </a:lvl1pPr>
          </a:lstStyle>
          <a:p>
            <a:r>
              <a:rPr lang="en-US"/>
              <a:t>Click to edit Master title style</a:t>
            </a:r>
            <a:endParaRPr lang="fr-FR" dirty="0"/>
          </a:p>
        </p:txBody>
      </p:sp>
      <p:sp>
        <p:nvSpPr>
          <p:cNvPr id="3" name="Espace réservé du pied de page 2"/>
          <p:cNvSpPr>
            <a:spLocks noGrp="1"/>
          </p:cNvSpPr>
          <p:nvPr>
            <p:ph type="ftr" sz="quarter" idx="10"/>
          </p:nvPr>
        </p:nvSpPr>
        <p:spPr/>
        <p:txBody>
          <a:bodyPr/>
          <a:lstStyle/>
          <a:p>
            <a:r>
              <a:rPr lang="en-GB"/>
              <a:t>Fixed Income Solution</a:t>
            </a:r>
          </a:p>
        </p:txBody>
      </p:sp>
      <p:sp>
        <p:nvSpPr>
          <p:cNvPr id="4" name="Espace réservé du numéro de diapositive 3"/>
          <p:cNvSpPr>
            <a:spLocks noGrp="1"/>
          </p:cNvSpPr>
          <p:nvPr>
            <p:ph type="sldNum" sz="quarter" idx="11"/>
          </p:nvPr>
        </p:nvSpPr>
        <p:spPr/>
        <p:txBody>
          <a:bodyPr/>
          <a:lstStyle/>
          <a:p>
            <a:fld id="{B6DA55B2-71C7-D142-9718-47F3DB26F441}" type="slidenum">
              <a:rPr lang="en-GB" smtClean="0"/>
              <a:t>‹#›</a:t>
            </a:fld>
            <a:endParaRPr lang="en-GB"/>
          </a:p>
        </p:txBody>
      </p:sp>
      <p:sp>
        <p:nvSpPr>
          <p:cNvPr id="6" name="Rectangle 5"/>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9" name="Espace réservé du texte 8"/>
          <p:cNvSpPr>
            <a:spLocks noGrp="1"/>
          </p:cNvSpPr>
          <p:nvPr>
            <p:ph type="body" sz="quarter" idx="12"/>
          </p:nvPr>
        </p:nvSpPr>
        <p:spPr>
          <a:xfrm>
            <a:off x="900000" y="1576800"/>
            <a:ext cx="7703884" cy="2589301"/>
          </a:xfrm>
        </p:spPr>
        <p:txBody>
          <a:bodyPr/>
          <a:lstStyle>
            <a:lvl1pPr marL="269862" indent="-263513">
              <a:spcBef>
                <a:spcPts val="1200"/>
              </a:spcBef>
              <a:buClr>
                <a:schemeClr val="accent1"/>
              </a:buClr>
              <a:buSzPct val="100000"/>
              <a:buFont typeface="+mj-lt"/>
              <a:buAutoNum type="arabicPeriod"/>
              <a:tabLst/>
              <a:defRPr sz="1300" b="1">
                <a:solidFill>
                  <a:schemeClr val="tx1"/>
                </a:solidFill>
              </a:defRPr>
            </a:lvl1pPr>
            <a:lvl2pPr marL="536548" indent="-133344">
              <a:spcBef>
                <a:spcPts val="800"/>
              </a:spcBef>
              <a:tabLst/>
              <a:defRPr sz="1100"/>
            </a:lvl2pPr>
            <a:lvl3pPr marL="269986" indent="-265101">
              <a:spcBef>
                <a:spcPts val="1200"/>
              </a:spcBef>
              <a:buClr>
                <a:schemeClr val="tx2">
                  <a:lumMod val="60000"/>
                  <a:lumOff val="40000"/>
                </a:schemeClr>
              </a:buClr>
              <a:buFont typeface="+mj-lt"/>
              <a:buAutoNum type="arabicPeriod"/>
              <a:tabLst/>
              <a:defRPr sz="1600" b="1">
                <a:solidFill>
                  <a:schemeClr val="tx2">
                    <a:lumMod val="60000"/>
                    <a:lumOff val="40000"/>
                  </a:schemeClr>
                </a:solidFill>
              </a:defRPr>
            </a:lvl3pPr>
          </a:lstStyle>
          <a:p>
            <a:pPr lvl="0"/>
            <a:r>
              <a:rPr lang="en-US"/>
              <a:t>Click to edit Master text styles</a:t>
            </a:r>
          </a:p>
          <a:p>
            <a:pPr lvl="1"/>
            <a:r>
              <a:rPr lang="en-US"/>
              <a:t>Second level</a:t>
            </a:r>
          </a:p>
        </p:txBody>
      </p:sp>
      <p:cxnSp>
        <p:nvCxnSpPr>
          <p:cNvPr id="10" name="Connecteur droit 8">
            <a:extLst>
              <a:ext uri="{FF2B5EF4-FFF2-40B4-BE49-F238E27FC236}">
                <a16:creationId xmlns:a16="http://schemas.microsoft.com/office/drawing/2014/main" id="{B9558D40-008F-FF4A-AEC7-37BA545CF479}"/>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que 65">
            <a:extLst>
              <a:ext uri="{FF2B5EF4-FFF2-40B4-BE49-F238E27FC236}">
                <a16:creationId xmlns:a16="http://schemas.microsoft.com/office/drawing/2014/main" id="{57C8E3F8-B86D-740E-039B-9C8DBEBA4B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177391769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56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2" name="Title 1"/>
          <p:cNvSpPr>
            <a:spLocks noGrp="1"/>
          </p:cNvSpPr>
          <p:nvPr>
            <p:ph type="title"/>
          </p:nvPr>
        </p:nvSpPr>
        <p:spPr>
          <a:xfrm>
            <a:off x="428399" y="428400"/>
            <a:ext cx="8287200" cy="291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28399" y="1119600"/>
            <a:ext cx="4068000" cy="29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7598" y="1119600"/>
            <a:ext cx="4068000" cy="29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GB"/>
              <a:t>Fixed Income Solution</a:t>
            </a:r>
          </a:p>
        </p:txBody>
      </p:sp>
      <p:sp>
        <p:nvSpPr>
          <p:cNvPr id="7" name="Slide Number Placeholder 6"/>
          <p:cNvSpPr>
            <a:spLocks noGrp="1"/>
          </p:cNvSpPr>
          <p:nvPr>
            <p:ph type="sldNum" sz="quarter" idx="12"/>
          </p:nvPr>
        </p:nvSpPr>
        <p:spPr/>
        <p:txBody>
          <a:bodyPr/>
          <a:lstStyle/>
          <a:p>
            <a:fld id="{B6DA55B2-71C7-D142-9718-47F3DB26F441}" type="slidenum">
              <a:rPr lang="en-GB" smtClean="0"/>
              <a:t>‹#›</a:t>
            </a:fld>
            <a:endParaRPr lang="en-GB"/>
          </a:p>
        </p:txBody>
      </p:sp>
      <p:sp>
        <p:nvSpPr>
          <p:cNvPr id="9" name="Espace réservé du texte 8"/>
          <p:cNvSpPr>
            <a:spLocks noGrp="1"/>
          </p:cNvSpPr>
          <p:nvPr>
            <p:ph type="body" sz="quarter" idx="13"/>
          </p:nvPr>
        </p:nvSpPr>
        <p:spPr>
          <a:xfrm>
            <a:off x="428398" y="759018"/>
            <a:ext cx="8287200" cy="229500"/>
          </a:xfrm>
        </p:spPr>
        <p:txBody>
          <a:bodyPr>
            <a:normAutofit/>
          </a:bodyPr>
          <a:lstStyle>
            <a:lvl1pPr marL="0" indent="0">
              <a:buNone/>
              <a:defRPr sz="1400">
                <a:solidFill>
                  <a:srgbClr val="0073A3"/>
                </a:solidFill>
              </a:defRPr>
            </a:lvl1pPr>
          </a:lstStyle>
          <a:p>
            <a:pPr lvl="0"/>
            <a:r>
              <a:rPr lang="en-US"/>
              <a:t>Click to edit Master text styles</a:t>
            </a:r>
          </a:p>
        </p:txBody>
      </p:sp>
      <p:sp>
        <p:nvSpPr>
          <p:cNvPr id="8" name="Espace réservé du contenu 7"/>
          <p:cNvSpPr>
            <a:spLocks noGrp="1"/>
          </p:cNvSpPr>
          <p:nvPr>
            <p:ph sz="quarter" idx="14"/>
          </p:nvPr>
        </p:nvSpPr>
        <p:spPr>
          <a:xfrm>
            <a:off x="428398" y="4095752"/>
            <a:ext cx="8287200" cy="466725"/>
          </a:xfrm>
        </p:spPr>
        <p:txBody>
          <a:bodyPr anchor="b"/>
          <a:lstStyle>
            <a:lvl1pPr marL="6351" indent="0" algn="just">
              <a:buNone/>
              <a:defRPr sz="700">
                <a:solidFill>
                  <a:srgbClr val="005483"/>
                </a:solidFill>
              </a:defRPr>
            </a:lvl1pPr>
          </a:lstStyle>
          <a:p>
            <a:pPr lvl="0"/>
            <a:r>
              <a:rPr lang="en-US"/>
              <a:t>Click to edit Master text styles</a:t>
            </a:r>
          </a:p>
        </p:txBody>
      </p:sp>
    </p:spTree>
    <p:extLst>
      <p:ext uri="{BB962C8B-B14F-4D97-AF65-F5344CB8AC3E}">
        <p14:creationId xmlns:p14="http://schemas.microsoft.com/office/powerpoint/2010/main" val="1596828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sclaimer">
    <p:spTree>
      <p:nvGrpSpPr>
        <p:cNvPr id="1" name=""/>
        <p:cNvGrpSpPr/>
        <p:nvPr/>
      </p:nvGrpSpPr>
      <p:grpSpPr>
        <a:xfrm>
          <a:off x="0" y="0"/>
          <a:ext cx="0" cy="0"/>
          <a:chOff x="0" y="0"/>
          <a:chExt cx="0" cy="0"/>
        </a:xfrm>
      </p:grpSpPr>
      <p:sp>
        <p:nvSpPr>
          <p:cNvPr id="8" name="Rectangle 7"/>
          <p:cNvSpPr/>
          <p:nvPr/>
        </p:nvSpPr>
        <p:spPr>
          <a:xfrm>
            <a:off x="428400" y="46683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3" name="Espace réservé du pied de page 2"/>
          <p:cNvSpPr>
            <a:spLocks noGrp="1"/>
          </p:cNvSpPr>
          <p:nvPr>
            <p:ph type="ftr" sz="quarter" idx="10"/>
          </p:nvPr>
        </p:nvSpPr>
        <p:spPr/>
        <p:txBody>
          <a:bodyPr/>
          <a:lstStyle/>
          <a:p>
            <a:r>
              <a:rPr lang="en-GB"/>
              <a:t>Fixed Income Solution</a:t>
            </a:r>
          </a:p>
        </p:txBody>
      </p:sp>
      <p:sp>
        <p:nvSpPr>
          <p:cNvPr id="4" name="Espace réservé du numéro de diapositive 3"/>
          <p:cNvSpPr>
            <a:spLocks noGrp="1"/>
          </p:cNvSpPr>
          <p:nvPr>
            <p:ph type="sldNum" sz="quarter" idx="11"/>
          </p:nvPr>
        </p:nvSpPr>
        <p:spPr/>
        <p:txBody>
          <a:bodyPr/>
          <a:lstStyle/>
          <a:p>
            <a:fld id="{B6DA55B2-71C7-D142-9718-47F3DB26F441}" type="slidenum">
              <a:rPr lang="en-GB" smtClean="0"/>
              <a:t>‹#›</a:t>
            </a:fld>
            <a:endParaRPr lang="en-GB"/>
          </a:p>
        </p:txBody>
      </p:sp>
      <p:sp>
        <p:nvSpPr>
          <p:cNvPr id="7" name="Espace réservé du texte 6"/>
          <p:cNvSpPr>
            <a:spLocks noGrp="1"/>
          </p:cNvSpPr>
          <p:nvPr>
            <p:ph type="body" sz="quarter" idx="12"/>
          </p:nvPr>
        </p:nvSpPr>
        <p:spPr>
          <a:xfrm>
            <a:off x="428400" y="1026042"/>
            <a:ext cx="8287199" cy="3346984"/>
          </a:xfrm>
        </p:spPr>
        <p:txBody>
          <a:bodyPr anchor="b"/>
          <a:lstStyle>
            <a:lvl1pPr marL="177792" indent="-171442">
              <a:tabLst/>
              <a:defRPr sz="900">
                <a:solidFill>
                  <a:schemeClr val="accent1"/>
                </a:solidFill>
              </a:defRPr>
            </a:lvl1pPr>
            <a:lvl2pPr marL="177792" indent="0" algn="just">
              <a:buNone/>
              <a:tabLst/>
              <a:defRPr sz="700">
                <a:solidFill>
                  <a:srgbClr val="005483"/>
                </a:solidFill>
              </a:defRPr>
            </a:lvl2pPr>
          </a:lstStyle>
          <a:p>
            <a:pPr lvl="0"/>
            <a:r>
              <a:rPr lang="en-US"/>
              <a:t>Click to edit Master text styles</a:t>
            </a:r>
          </a:p>
          <a:p>
            <a:pPr lvl="1"/>
            <a:r>
              <a:rPr lang="en-US"/>
              <a:t>Second level</a:t>
            </a:r>
          </a:p>
        </p:txBody>
      </p:sp>
      <p:cxnSp>
        <p:nvCxnSpPr>
          <p:cNvPr id="11" name="Connecteur droit 8">
            <a:extLst>
              <a:ext uri="{FF2B5EF4-FFF2-40B4-BE49-F238E27FC236}">
                <a16:creationId xmlns:a16="http://schemas.microsoft.com/office/drawing/2014/main" id="{3BE4DFD2-6DFC-B643-8CAE-041166C8F85E}"/>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phique 65">
            <a:extLst>
              <a:ext uri="{FF2B5EF4-FFF2-40B4-BE49-F238E27FC236}">
                <a16:creationId xmlns:a16="http://schemas.microsoft.com/office/drawing/2014/main" id="{E27504F6-F048-B328-2091-6D2AE93D20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255479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8399" y="428400"/>
            <a:ext cx="8287200" cy="349671"/>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28399" y="1040401"/>
            <a:ext cx="8287200" cy="33443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85117" y="4845600"/>
            <a:ext cx="5212196" cy="135000"/>
          </a:xfrm>
          <a:prstGeom prst="rect">
            <a:avLst/>
          </a:prstGeom>
        </p:spPr>
        <p:txBody>
          <a:bodyPr vert="horz" lIns="0" tIns="0" rIns="0" bIns="0" rtlCol="0" anchor="t" anchorCtr="0"/>
          <a:lstStyle>
            <a:lvl1pPr algn="l">
              <a:defRPr sz="700" spc="31" baseline="0">
                <a:solidFill>
                  <a:schemeClr val="tx1"/>
                </a:solidFill>
              </a:defRPr>
            </a:lvl1pPr>
          </a:lstStyle>
          <a:p>
            <a:r>
              <a:rPr lang="en-GB"/>
              <a:t>Fixed Income Solution</a:t>
            </a:r>
          </a:p>
        </p:txBody>
      </p:sp>
      <p:sp>
        <p:nvSpPr>
          <p:cNvPr id="6" name="Slide Number Placeholder 5"/>
          <p:cNvSpPr>
            <a:spLocks noGrp="1"/>
          </p:cNvSpPr>
          <p:nvPr>
            <p:ph type="sldNum" sz="quarter" idx="4"/>
          </p:nvPr>
        </p:nvSpPr>
        <p:spPr>
          <a:xfrm>
            <a:off x="428399" y="4845600"/>
            <a:ext cx="180001" cy="135000"/>
          </a:xfrm>
          <a:prstGeom prst="rect">
            <a:avLst/>
          </a:prstGeom>
        </p:spPr>
        <p:txBody>
          <a:bodyPr vert="horz" lIns="0" tIns="0" rIns="0" bIns="0" rtlCol="0" anchor="t" anchorCtr="0"/>
          <a:lstStyle>
            <a:lvl1pPr algn="l">
              <a:defRPr sz="700">
                <a:solidFill>
                  <a:schemeClr val="tx1"/>
                </a:solidFill>
              </a:defRPr>
            </a:lvl1pPr>
          </a:lstStyle>
          <a:p>
            <a:fld id="{2B1C6FFC-D040-034F-8B69-20295064E64D}" type="slidenum">
              <a:rPr lang="fr-FR" smtClean="0"/>
              <a:pPr/>
              <a:t>‹#›</a:t>
            </a:fld>
            <a:endParaRPr lang="fr-FR" dirty="0"/>
          </a:p>
        </p:txBody>
      </p:sp>
      <p:sp>
        <p:nvSpPr>
          <p:cNvPr id="13" name="Rectangle 12"/>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sz="1800"/>
          </a:p>
        </p:txBody>
      </p:sp>
      <p:cxnSp>
        <p:nvCxnSpPr>
          <p:cNvPr id="11" name="Connecteur droit 8">
            <a:extLst>
              <a:ext uri="{FF2B5EF4-FFF2-40B4-BE49-F238E27FC236}">
                <a16:creationId xmlns:a16="http://schemas.microsoft.com/office/drawing/2014/main" id="{7F710BDB-A926-7747-A609-83D680A864E1}"/>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que 65">
            <a:extLst>
              <a:ext uri="{FF2B5EF4-FFF2-40B4-BE49-F238E27FC236}">
                <a16:creationId xmlns:a16="http://schemas.microsoft.com/office/drawing/2014/main" id="{598061B9-6267-F86B-2291-00A645681308}"/>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50136239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697" r:id="rId7"/>
    <p:sldLayoutId id="2147483698" r:id="rId8"/>
    <p:sldLayoutId id="2147483699" r:id="rId9"/>
    <p:sldLayoutId id="2147483700" r:id="rId10"/>
    <p:sldLayoutId id="2147483701" r:id="rId11"/>
    <p:sldLayoutId id="2147483702" r:id="rId12"/>
  </p:sldLayoutIdLst>
  <p:hf hdr="0" dt="0"/>
  <p:txStyles>
    <p:titleStyle>
      <a:lvl1pPr algn="l" defTabSz="914355" rtl="0" eaLnBrk="1" latinLnBrk="0" hangingPunct="1">
        <a:lnSpc>
          <a:spcPct val="90000"/>
        </a:lnSpc>
        <a:spcBef>
          <a:spcPct val="0"/>
        </a:spcBef>
        <a:buNone/>
        <a:defRPr sz="2100" b="1" kern="1200" spc="51" baseline="0">
          <a:solidFill>
            <a:schemeClr val="tx1"/>
          </a:solidFill>
          <a:latin typeface="+mj-lt"/>
          <a:ea typeface="+mj-ea"/>
          <a:cs typeface="+mj-cs"/>
        </a:defRPr>
      </a:lvl1pPr>
    </p:titleStyle>
    <p:bodyStyle>
      <a:lvl1pPr marL="195263" indent="-188913" algn="l" defTabSz="914355" rtl="0" eaLnBrk="1" latinLnBrk="0" hangingPunct="1">
        <a:lnSpc>
          <a:spcPct val="100000"/>
        </a:lnSpc>
        <a:spcBef>
          <a:spcPts val="1000"/>
        </a:spcBef>
        <a:buClr>
          <a:schemeClr val="accent1"/>
        </a:buClr>
        <a:buSzPct val="130000"/>
        <a:buFont typeface="CambriaMath" charset="0"/>
        <a:buChar char="⎯"/>
        <a:tabLst/>
        <a:defRPr sz="1400" kern="1200">
          <a:solidFill>
            <a:srgbClr val="001C4B"/>
          </a:solidFill>
          <a:latin typeface="+mn-lt"/>
          <a:ea typeface="+mn-ea"/>
          <a:cs typeface="+mn-cs"/>
        </a:defRPr>
      </a:lvl1pPr>
      <a:lvl2pPr marL="365125" indent="-141288" algn="l" defTabSz="914355" rtl="0" eaLnBrk="1" latinLnBrk="0" hangingPunct="1">
        <a:lnSpc>
          <a:spcPct val="100000"/>
        </a:lnSpc>
        <a:spcBef>
          <a:spcPts val="500"/>
        </a:spcBef>
        <a:buClr>
          <a:schemeClr val="accent2"/>
        </a:buClr>
        <a:buFont typeface="CambriaMath" charset="0"/>
        <a:buChar char="⎯"/>
        <a:tabLst/>
        <a:defRPr sz="1200" kern="1200">
          <a:solidFill>
            <a:schemeClr val="bg2">
              <a:lumMod val="10000"/>
            </a:schemeClr>
          </a:solidFill>
          <a:latin typeface="+mn-lt"/>
          <a:ea typeface="+mn-ea"/>
          <a:cs typeface="+mn-cs"/>
        </a:defRPr>
      </a:lvl2pPr>
      <a:lvl3pPr marL="536575" indent="-125413" algn="l" defTabSz="914355" rtl="0" eaLnBrk="1" latinLnBrk="0" hangingPunct="1">
        <a:lnSpc>
          <a:spcPct val="100000"/>
        </a:lnSpc>
        <a:spcBef>
          <a:spcPts val="500"/>
        </a:spcBef>
        <a:buClr>
          <a:schemeClr val="accent2"/>
        </a:buClr>
        <a:buFont typeface="LucidaGrande-Bold" charset="0"/>
        <a:buChar char="⁃"/>
        <a:tabLst/>
        <a:defRPr sz="1000" kern="1200">
          <a:solidFill>
            <a:schemeClr val="bg2">
              <a:lumMod val="10000"/>
            </a:schemeClr>
          </a:solidFill>
          <a:latin typeface="+mn-lt"/>
          <a:ea typeface="+mn-ea"/>
          <a:cs typeface="+mn-cs"/>
        </a:defRPr>
      </a:lvl3pPr>
      <a:lvl4pPr marL="7938" indent="0" algn="l" defTabSz="914355" rtl="0" eaLnBrk="1" latinLnBrk="0" hangingPunct="1">
        <a:lnSpc>
          <a:spcPct val="100000"/>
        </a:lnSpc>
        <a:spcBef>
          <a:spcPts val="500"/>
        </a:spcBef>
        <a:buFont typeface="Arial" charset="0"/>
        <a:buNone/>
        <a:tabLst/>
        <a:defRPr sz="1000" kern="1200">
          <a:solidFill>
            <a:schemeClr val="accent4"/>
          </a:solidFill>
          <a:latin typeface="+mn-lt"/>
          <a:ea typeface="+mn-ea"/>
          <a:cs typeface="+mn-cs"/>
        </a:defRPr>
      </a:lvl4pPr>
      <a:lvl5pPr marL="7938" indent="0" algn="l" defTabSz="914355" rtl="0" eaLnBrk="1" latinLnBrk="0" hangingPunct="1">
        <a:lnSpc>
          <a:spcPct val="100000"/>
        </a:lnSpc>
        <a:spcBef>
          <a:spcPts val="500"/>
        </a:spcBef>
        <a:buFont typeface="Arial" charset="0"/>
        <a:buNone/>
        <a:tabLst/>
        <a:defRPr sz="1000" kern="1200">
          <a:solidFill>
            <a:schemeClr val="accent1"/>
          </a:solidFill>
          <a:latin typeface="+mn-lt"/>
          <a:ea typeface="+mn-ea"/>
          <a:cs typeface="+mn-cs"/>
        </a:defRPr>
      </a:lvl5pPr>
      <a:lvl6pPr marL="251447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3"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31"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8"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3" algn="l" defTabSz="914355" rtl="0" eaLnBrk="1" latinLnBrk="0" hangingPunct="1">
        <a:defRPr sz="1800" kern="1200">
          <a:solidFill>
            <a:schemeClr val="tx1"/>
          </a:solidFill>
          <a:latin typeface="+mn-lt"/>
          <a:ea typeface="+mn-ea"/>
          <a:cs typeface="+mn-cs"/>
        </a:defRPr>
      </a:lvl4pPr>
      <a:lvl5pPr marL="1828710" algn="l" defTabSz="914355" rtl="0" eaLnBrk="1" latinLnBrk="0" hangingPunct="1">
        <a:defRPr sz="1800" kern="1200">
          <a:solidFill>
            <a:schemeClr val="tx1"/>
          </a:solidFill>
          <a:latin typeface="+mn-lt"/>
          <a:ea typeface="+mn-ea"/>
          <a:cs typeface="+mn-cs"/>
        </a:defRPr>
      </a:lvl5pPr>
      <a:lvl6pPr marL="2285888"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3" algn="l" defTabSz="914355" rtl="0" eaLnBrk="1" latinLnBrk="0" hangingPunct="1">
        <a:defRPr sz="1800" kern="1200">
          <a:solidFill>
            <a:schemeClr val="tx1"/>
          </a:solidFill>
          <a:latin typeface="+mn-lt"/>
          <a:ea typeface="+mn-ea"/>
          <a:cs typeface="+mn-cs"/>
        </a:defRPr>
      </a:lvl8pPr>
      <a:lvl9pPr marL="3657420"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50.png"/><Relationship Id="rId5" Type="http://schemas.openxmlformats.org/officeDocument/2006/relationships/image" Target="../media/image27.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0.png"/></Relationships>
</file>

<file path=ppt/slides/_rels/slide12.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90F12D2-2DB7-6F66-3467-BD68F96AC6FB}"/>
              </a:ext>
            </a:extLst>
          </p:cNvPr>
          <p:cNvSpPr>
            <a:spLocks noGrp="1"/>
          </p:cNvSpPr>
          <p:nvPr>
            <p:ph type="ctrTitle"/>
          </p:nvPr>
        </p:nvSpPr>
        <p:spPr>
          <a:xfrm>
            <a:off x="1285199" y="2358221"/>
            <a:ext cx="8325145" cy="724826"/>
          </a:xfrm>
        </p:spPr>
        <p:txBody>
          <a:bodyPr/>
          <a:lstStyle/>
          <a:p>
            <a:r>
              <a:rPr lang="en-US" dirty="0"/>
              <a:t>Pricing illiquidity in Strategic Asset Allocation: </a:t>
            </a:r>
            <a:br>
              <a:rPr lang="en-US" dirty="0"/>
            </a:br>
            <a:r>
              <a:rPr lang="en-US" sz="2400" dirty="0"/>
              <a:t>a calibration framework for asset allocation practitioners</a:t>
            </a:r>
            <a:endParaRPr lang="en-GB" dirty="0"/>
          </a:p>
        </p:txBody>
      </p:sp>
      <p:sp>
        <p:nvSpPr>
          <p:cNvPr id="9" name="Subtitle 8">
            <a:extLst>
              <a:ext uri="{FF2B5EF4-FFF2-40B4-BE49-F238E27FC236}">
                <a16:creationId xmlns:a16="http://schemas.microsoft.com/office/drawing/2014/main" id="{548C2807-CF2F-456A-6EB6-E4B60A78D64E}"/>
              </a:ext>
            </a:extLst>
          </p:cNvPr>
          <p:cNvSpPr>
            <a:spLocks noGrp="1"/>
          </p:cNvSpPr>
          <p:nvPr>
            <p:ph type="subTitle" idx="1"/>
          </p:nvPr>
        </p:nvSpPr>
        <p:spPr/>
        <p:txBody>
          <a:bodyPr/>
          <a:lstStyle/>
          <a:p>
            <a:r>
              <a:rPr lang="en-GB" dirty="0"/>
              <a:t>Draft</a:t>
            </a:r>
          </a:p>
        </p:txBody>
      </p:sp>
      <p:sp>
        <p:nvSpPr>
          <p:cNvPr id="10" name="Text Placeholder 9">
            <a:extLst>
              <a:ext uri="{FF2B5EF4-FFF2-40B4-BE49-F238E27FC236}">
                <a16:creationId xmlns:a16="http://schemas.microsoft.com/office/drawing/2014/main" id="{EAA91FC5-90C5-AB3C-FDEA-956D96860F6F}"/>
              </a:ext>
            </a:extLst>
          </p:cNvPr>
          <p:cNvSpPr>
            <a:spLocks noGrp="1"/>
          </p:cNvSpPr>
          <p:nvPr>
            <p:ph type="body" sz="quarter" idx="11"/>
          </p:nvPr>
        </p:nvSpPr>
        <p:spPr/>
        <p:txBody>
          <a:bodyPr/>
          <a:lstStyle/>
          <a:p>
            <a:r>
              <a:rPr lang="en-GB" dirty="0"/>
              <a:t>JUNE 2026</a:t>
            </a:r>
          </a:p>
        </p:txBody>
      </p:sp>
      <p:sp>
        <p:nvSpPr>
          <p:cNvPr id="11" name="Text Placeholder 10">
            <a:extLst>
              <a:ext uri="{FF2B5EF4-FFF2-40B4-BE49-F238E27FC236}">
                <a16:creationId xmlns:a16="http://schemas.microsoft.com/office/drawing/2014/main" id="{45770BE3-CFEB-206A-F50A-40022A712D2B}"/>
              </a:ext>
            </a:extLst>
          </p:cNvPr>
          <p:cNvSpPr>
            <a:spLocks noGrp="1"/>
          </p:cNvSpPr>
          <p:nvPr>
            <p:ph type="body" sz="quarter" idx="12"/>
          </p:nvPr>
        </p:nvSpPr>
        <p:spPr/>
        <p:txBody>
          <a:body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Tree>
    <p:extLst>
      <p:ext uri="{BB962C8B-B14F-4D97-AF65-F5344CB8AC3E}">
        <p14:creationId xmlns:p14="http://schemas.microsoft.com/office/powerpoint/2010/main" val="257739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290A4-B324-47C7-B4A5-12908C270B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15C675-65A8-229E-1D88-CF2DF7EE13BC}"/>
              </a:ext>
            </a:extLst>
          </p:cNvPr>
          <p:cNvSpPr>
            <a:spLocks noGrp="1"/>
          </p:cNvSpPr>
          <p:nvPr>
            <p:ph type="title"/>
          </p:nvPr>
        </p:nvSpPr>
        <p:spPr/>
        <p:txBody>
          <a:bodyPr/>
          <a:lstStyle/>
          <a:p>
            <a:r>
              <a:rPr lang="en-GB" dirty="0"/>
              <a:t>Agenda</a:t>
            </a:r>
            <a:endParaRPr lang="en-GB" noProof="0" dirty="0"/>
          </a:p>
        </p:txBody>
      </p:sp>
      <p:sp>
        <p:nvSpPr>
          <p:cNvPr id="4" name="Espace réservé du pied de page 3">
            <a:extLst>
              <a:ext uri="{FF2B5EF4-FFF2-40B4-BE49-F238E27FC236}">
                <a16:creationId xmlns:a16="http://schemas.microsoft.com/office/drawing/2014/main" id="{EBB7FCD2-C7D5-CE51-F266-F1DE1EA969BB}"/>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9512F159-F402-1219-775E-4131B044B82A}"/>
              </a:ext>
            </a:extLst>
          </p:cNvPr>
          <p:cNvSpPr>
            <a:spLocks noGrp="1"/>
          </p:cNvSpPr>
          <p:nvPr>
            <p:ph type="sldNum" sz="quarter" idx="12"/>
          </p:nvPr>
        </p:nvSpPr>
        <p:spPr/>
        <p:txBody>
          <a:bodyPr/>
          <a:lstStyle/>
          <a:p>
            <a:fld id="{2B1C6FFC-D040-034F-8B69-20295064E64D}" type="slidenum">
              <a:rPr lang="fr-FR" smtClean="0"/>
              <a:t>2</a:t>
            </a:fld>
            <a:endParaRPr lang="fr-FR" dirty="0"/>
          </a:p>
        </p:txBody>
      </p:sp>
      <p:sp>
        <p:nvSpPr>
          <p:cNvPr id="8" name="Espace réservé du texte 5">
            <a:extLst>
              <a:ext uri="{FF2B5EF4-FFF2-40B4-BE49-F238E27FC236}">
                <a16:creationId xmlns:a16="http://schemas.microsoft.com/office/drawing/2014/main" id="{91504F31-ACBD-E62B-84AF-820A34CCBFFF}"/>
              </a:ext>
            </a:extLst>
          </p:cNvPr>
          <p:cNvSpPr>
            <a:spLocks noGrp="1"/>
          </p:cNvSpPr>
          <p:nvPr>
            <p:ph type="body" sz="quarter" idx="13"/>
          </p:nvPr>
        </p:nvSpPr>
        <p:spPr>
          <a:xfrm>
            <a:off x="608399" y="836613"/>
            <a:ext cx="8106975" cy="3470275"/>
          </a:xfrm>
        </p:spPr>
        <p:txBody>
          <a:bodyPr>
            <a:normAutofit fontScale="92500" lnSpcReduction="20000"/>
          </a:bodyPr>
          <a:lstStyle/>
          <a:p>
            <a:pPr marL="342900" indent="-342900">
              <a:lnSpc>
                <a:spcPct val="150000"/>
              </a:lnSpc>
              <a:buFont typeface="+mj-lt"/>
              <a:buAutoNum type="arabicPeriod"/>
            </a:pPr>
            <a:r>
              <a:rPr lang="it-IT" dirty="0" err="1"/>
              <a:t>Overview</a:t>
            </a:r>
            <a:endParaRPr lang="it-IT" dirty="0"/>
          </a:p>
          <a:p>
            <a:pPr marL="342900" indent="-342900">
              <a:lnSpc>
                <a:spcPct val="150000"/>
              </a:lnSpc>
              <a:buFont typeface="+mj-lt"/>
              <a:buAutoNum type="arabicPeriod"/>
            </a:pPr>
            <a:r>
              <a:rPr lang="it-IT" dirty="0"/>
              <a:t>Asset Classes &amp; </a:t>
            </a:r>
            <a:r>
              <a:rPr lang="it-IT" dirty="0" err="1"/>
              <a:t>Illiquidity</a:t>
            </a:r>
            <a:r>
              <a:rPr lang="it-IT" dirty="0"/>
              <a:t> </a:t>
            </a:r>
            <a:r>
              <a:rPr lang="it-IT" dirty="0" err="1"/>
              <a:t>Levels</a:t>
            </a:r>
            <a:endParaRPr lang="it-IT" dirty="0"/>
          </a:p>
          <a:p>
            <a:pPr marL="342900" indent="-342900">
              <a:lnSpc>
                <a:spcPct val="150000"/>
              </a:lnSpc>
              <a:buFont typeface="+mj-lt"/>
              <a:buAutoNum type="arabicPeriod"/>
            </a:pPr>
            <a:r>
              <a:rPr lang="it-IT" dirty="0"/>
              <a:t>The </a:t>
            </a:r>
            <a:r>
              <a:rPr lang="it-IT" dirty="0" err="1"/>
              <a:t>Marginal</a:t>
            </a:r>
            <a:r>
              <a:rPr lang="it-IT" dirty="0"/>
              <a:t> Penalty </a:t>
            </a:r>
            <a:r>
              <a:rPr lang="it-IT" dirty="0" err="1"/>
              <a:t>Function</a:t>
            </a:r>
            <a:endParaRPr lang="it-IT" dirty="0"/>
          </a:p>
          <a:p>
            <a:pPr marL="342900" indent="-342900">
              <a:lnSpc>
                <a:spcPct val="150000"/>
              </a:lnSpc>
              <a:buFont typeface="+mj-lt"/>
              <a:buAutoNum type="arabicPeriod"/>
            </a:pPr>
            <a:r>
              <a:rPr lang="it-IT" dirty="0"/>
              <a:t>Portfolio </a:t>
            </a:r>
            <a:r>
              <a:rPr lang="it-IT" dirty="0" err="1"/>
              <a:t>Optimization</a:t>
            </a:r>
            <a:r>
              <a:rPr lang="it-IT" dirty="0"/>
              <a:t> with </a:t>
            </a:r>
            <a:r>
              <a:rPr lang="it-IT" dirty="0" err="1"/>
              <a:t>Illiquidity</a:t>
            </a:r>
            <a:endParaRPr lang="it-IT" dirty="0"/>
          </a:p>
          <a:p>
            <a:pPr marL="342900" indent="-342900">
              <a:lnSpc>
                <a:spcPct val="150000"/>
              </a:lnSpc>
              <a:buFont typeface="+mj-lt"/>
              <a:buAutoNum type="arabicPeriod"/>
            </a:pPr>
            <a:r>
              <a:rPr lang="it-IT" dirty="0" err="1"/>
              <a:t>Efficient</a:t>
            </a:r>
            <a:r>
              <a:rPr lang="it-IT" dirty="0"/>
              <a:t> </a:t>
            </a:r>
            <a:r>
              <a:rPr lang="it-IT" dirty="0" err="1"/>
              <a:t>Frontiers</a:t>
            </a:r>
            <a:r>
              <a:rPr lang="it-IT" dirty="0"/>
              <a:t> &amp; Portfolio </a:t>
            </a:r>
            <a:r>
              <a:rPr lang="it-IT" dirty="0" err="1"/>
              <a:t>Composition</a:t>
            </a:r>
            <a:endParaRPr lang="it-IT" dirty="0"/>
          </a:p>
          <a:p>
            <a:pPr marL="342900" indent="-342900">
              <a:lnSpc>
                <a:spcPct val="150000"/>
              </a:lnSpc>
              <a:buFont typeface="+mj-lt"/>
              <a:buAutoNum type="arabicPeriod"/>
            </a:pPr>
            <a:r>
              <a:rPr lang="it-IT" dirty="0" err="1"/>
              <a:t>Simulation</a:t>
            </a:r>
            <a:r>
              <a:rPr lang="it-IT" dirty="0"/>
              <a:t>, </a:t>
            </a:r>
            <a:r>
              <a:rPr lang="it-IT" dirty="0" err="1"/>
              <a:t>Aggregation</a:t>
            </a:r>
            <a:r>
              <a:rPr lang="it-IT" dirty="0"/>
              <a:t> &amp; Fitting</a:t>
            </a:r>
          </a:p>
          <a:p>
            <a:pPr marL="342900" indent="-342900">
              <a:lnSpc>
                <a:spcPct val="150000"/>
              </a:lnSpc>
              <a:buFont typeface="+mj-lt"/>
              <a:buAutoNum type="arabicPeriod"/>
            </a:pPr>
            <a:r>
              <a:rPr lang="it-IT" dirty="0"/>
              <a:t>Back to Portfolio </a:t>
            </a:r>
            <a:r>
              <a:rPr lang="it-IT" dirty="0" err="1"/>
              <a:t>Optimization</a:t>
            </a:r>
            <a:endParaRPr lang="it-IT" dirty="0"/>
          </a:p>
          <a:p>
            <a:pPr marL="342900" indent="-342900">
              <a:lnSpc>
                <a:spcPct val="150000"/>
              </a:lnSpc>
              <a:buFont typeface="+mj-lt"/>
              <a:buAutoNum type="arabicPeriod"/>
            </a:pPr>
            <a:r>
              <a:rPr lang="it-IT" dirty="0"/>
              <a:t>A </a:t>
            </a:r>
            <a:r>
              <a:rPr lang="it-IT" dirty="0" err="1"/>
              <a:t>different</a:t>
            </a:r>
            <a:r>
              <a:rPr lang="it-IT" dirty="0"/>
              <a:t> </a:t>
            </a:r>
            <a:r>
              <a:rPr lang="it-IT" dirty="0" err="1"/>
              <a:t>Institutional</a:t>
            </a:r>
            <a:r>
              <a:rPr lang="it-IT" dirty="0"/>
              <a:t> </a:t>
            </a:r>
            <a:r>
              <a:rPr lang="it-IT" dirty="0" err="1"/>
              <a:t>Profile</a:t>
            </a:r>
            <a:endParaRPr lang="it-IT" dirty="0"/>
          </a:p>
          <a:p>
            <a:pPr marL="342900" indent="-342900">
              <a:lnSpc>
                <a:spcPct val="150000"/>
              </a:lnSpc>
              <a:buFont typeface="+mj-lt"/>
              <a:buAutoNum type="arabicPeriod"/>
            </a:pPr>
            <a:r>
              <a:rPr lang="it-IT" dirty="0" err="1"/>
              <a:t>What’s</a:t>
            </a:r>
            <a:r>
              <a:rPr lang="it-IT" dirty="0"/>
              <a:t> </a:t>
            </a:r>
            <a:r>
              <a:rPr lang="it-IT" dirty="0" err="1"/>
              <a:t>next</a:t>
            </a:r>
            <a:r>
              <a:rPr lang="it-IT" dirty="0"/>
              <a:t>?</a:t>
            </a:r>
          </a:p>
          <a:p>
            <a:pPr>
              <a:lnSpc>
                <a:spcPct val="150000"/>
              </a:lnSpc>
            </a:pPr>
            <a:endParaRPr lang="it-IT" dirty="0"/>
          </a:p>
        </p:txBody>
      </p:sp>
    </p:spTree>
    <p:extLst>
      <p:ext uri="{BB962C8B-B14F-4D97-AF65-F5344CB8AC3E}">
        <p14:creationId xmlns:p14="http://schemas.microsoft.com/office/powerpoint/2010/main" val="1893929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B2612-3053-AED9-DCC5-46F3E964D0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350C9A3-A72A-A7D0-EB55-EA246BC9DCF9}"/>
              </a:ext>
            </a:extLst>
          </p:cNvPr>
          <p:cNvSpPr>
            <a:spLocks noGrp="1"/>
          </p:cNvSpPr>
          <p:nvPr>
            <p:ph type="title"/>
          </p:nvPr>
        </p:nvSpPr>
        <p:spPr/>
        <p:txBody>
          <a:bodyPr/>
          <a:lstStyle/>
          <a:p>
            <a:r>
              <a:rPr lang="it-IT" dirty="0" err="1"/>
              <a:t>Overview</a:t>
            </a:r>
            <a:endParaRPr lang="en-GB" noProof="0" dirty="0"/>
          </a:p>
        </p:txBody>
      </p:sp>
      <p:sp>
        <p:nvSpPr>
          <p:cNvPr id="4" name="Espace réservé du pied de page 3">
            <a:extLst>
              <a:ext uri="{FF2B5EF4-FFF2-40B4-BE49-F238E27FC236}">
                <a16:creationId xmlns:a16="http://schemas.microsoft.com/office/drawing/2014/main" id="{7901EB65-EAF6-7EAA-968D-92BB55CC9AF3}"/>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89D32FF4-462D-FE88-BCC0-E68934EF68E4}"/>
              </a:ext>
            </a:extLst>
          </p:cNvPr>
          <p:cNvSpPr>
            <a:spLocks noGrp="1"/>
          </p:cNvSpPr>
          <p:nvPr>
            <p:ph type="sldNum" sz="quarter" idx="12"/>
          </p:nvPr>
        </p:nvSpPr>
        <p:spPr/>
        <p:txBody>
          <a:bodyPr/>
          <a:lstStyle/>
          <a:p>
            <a:fld id="{2B1C6FFC-D040-034F-8B69-20295064E64D}" type="slidenum">
              <a:rPr lang="fr-FR" smtClean="0"/>
              <a:t>3</a:t>
            </a:fld>
            <a:endParaRPr lang="fr-FR" dirty="0"/>
          </a:p>
        </p:txBody>
      </p:sp>
      <p:sp>
        <p:nvSpPr>
          <p:cNvPr id="6" name="Espace réservé du texte 5">
            <a:extLst>
              <a:ext uri="{FF2B5EF4-FFF2-40B4-BE49-F238E27FC236}">
                <a16:creationId xmlns:a16="http://schemas.microsoft.com/office/drawing/2014/main" id="{325435DD-0119-72C7-EF8D-4D1A65796F51}"/>
              </a:ext>
            </a:extLst>
          </p:cNvPr>
          <p:cNvSpPr>
            <a:spLocks noGrp="1"/>
          </p:cNvSpPr>
          <p:nvPr>
            <p:ph type="body" sz="quarter" idx="13"/>
          </p:nvPr>
        </p:nvSpPr>
        <p:spPr/>
        <p:txBody>
          <a:bodyPr/>
          <a:lstStyle/>
          <a:p>
            <a:r>
              <a:rPr lang="en-US" dirty="0"/>
              <a:t>Bridging the Gap Between Theory and Calibration</a:t>
            </a:r>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2134734-CDBB-433F-222A-F96332933AC9}"/>
                  </a:ext>
                </a:extLst>
              </p:cNvPr>
              <p:cNvSpPr txBox="1"/>
              <p:nvPr/>
            </p:nvSpPr>
            <p:spPr>
              <a:xfrm>
                <a:off x="428652" y="1228562"/>
                <a:ext cx="3581747" cy="2686376"/>
              </a:xfrm>
              <a:prstGeom prst="rect">
                <a:avLst/>
              </a:prstGeom>
              <a:noFill/>
            </p:spPr>
            <p:txBody>
              <a:bodyPr wrap="square" rtlCol="0">
                <a:spAutoFit/>
              </a:bodyPr>
              <a:lstStyle/>
              <a:p>
                <a:pPr marL="171450" indent="-171450">
                  <a:buFont typeface="Arial" panose="020B0604020202020204" pitchFamily="34" charset="0"/>
                  <a:buChar char="•"/>
                </a:pPr>
                <a:r>
                  <a:rPr lang="en-US" sz="1200" dirty="0"/>
                  <a:t>Hayes, </a:t>
                </a:r>
                <a:r>
                  <a:rPr lang="en-US" sz="1200" dirty="0" err="1"/>
                  <a:t>Primbs</a:t>
                </a:r>
                <a:r>
                  <a:rPr lang="en-US" sz="1200" dirty="0"/>
                  <a:t> &amp; </a:t>
                </a:r>
                <a:r>
                  <a:rPr lang="en-US" sz="1200" dirty="0" err="1"/>
                  <a:t>Chiquoine</a:t>
                </a:r>
                <a:r>
                  <a:rPr lang="en-US" sz="1200" dirty="0"/>
                  <a:t> (2015) extend the Markowitz framework by incorporating a marginal illiquidity penalty </a:t>
                </a:r>
                <a14:m>
                  <m:oMath xmlns:m="http://schemas.openxmlformats.org/officeDocument/2006/math">
                    <m:r>
                      <a:rPr lang="it-IT" sz="1200" b="0" i="1" smtClean="0">
                        <a:latin typeface="Cambria Math" panose="02040503050406030204" pitchFamily="18" charset="0"/>
                      </a:rPr>
                      <m:t>𝑐</m:t>
                    </m:r>
                    <m:d>
                      <m:dPr>
                        <m:ctrlPr>
                          <a:rPr lang="it-IT" sz="1200" b="0" i="1" smtClean="0">
                            <a:latin typeface="Cambria Math" panose="02040503050406030204" pitchFamily="18" charset="0"/>
                          </a:rPr>
                        </m:ctrlPr>
                      </m:dPr>
                      <m:e>
                        <m:r>
                          <a:rPr lang="it-IT" sz="1200" b="0" i="1" smtClean="0">
                            <a:latin typeface="Cambria Math" panose="02040503050406030204" pitchFamily="18" charset="0"/>
                          </a:rPr>
                          <m:t>𝐿</m:t>
                        </m:r>
                      </m:e>
                    </m:d>
                    <m:r>
                      <a:rPr lang="it-IT" sz="1200" b="0" i="1" smtClean="0">
                        <a:latin typeface="Cambria Math" panose="02040503050406030204" pitchFamily="18" charset="0"/>
                      </a:rPr>
                      <m:t> </m:t>
                    </m:r>
                  </m:oMath>
                </a14:m>
                <a:r>
                  <a:rPr lang="en-US" sz="1200" dirty="0"/>
                  <a:t>into the MVO objective - but leave its identification to </a:t>
                </a:r>
                <a:r>
                  <a:rPr lang="en-US" sz="1200" b="1" dirty="0"/>
                  <a:t>subjective</a:t>
                </a:r>
                <a:r>
                  <a:rPr lang="en-US" sz="1200" dirty="0"/>
                  <a:t> </a:t>
                </a:r>
                <a:r>
                  <a:rPr lang="en-US" sz="1200" b="1" dirty="0"/>
                  <a:t>judgement</a:t>
                </a:r>
              </a:p>
              <a:p>
                <a:endParaRPr lang="en-US" sz="1200" dirty="0"/>
              </a:p>
              <a:p>
                <a:pPr marL="171450" indent="-171450">
                  <a:buFont typeface="Arial" panose="020B0604020202020204" pitchFamily="34" charset="0"/>
                  <a:buChar char="•"/>
                </a:pPr>
                <a:r>
                  <a:rPr lang="en-US" sz="1200" dirty="0"/>
                  <a:t>The </a:t>
                </a:r>
                <a:r>
                  <a:rPr lang="en-US" sz="1200" b="1" dirty="0"/>
                  <a:t>open question</a:t>
                </a:r>
                <a:r>
                  <a:rPr lang="en-US" sz="1200" dirty="0"/>
                  <a:t>: How do we estimate </a:t>
                </a:r>
                <a14:m>
                  <m:oMath xmlns:m="http://schemas.openxmlformats.org/officeDocument/2006/math">
                    <m:r>
                      <a:rPr lang="it-IT" sz="1200" i="1">
                        <a:latin typeface="Cambria Math" panose="02040503050406030204" pitchFamily="18" charset="0"/>
                      </a:rPr>
                      <m:t>𝑐</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i="1">
                        <a:latin typeface="Cambria Math" panose="02040503050406030204" pitchFamily="18" charset="0"/>
                      </a:rPr>
                      <m:t> </m:t>
                    </m:r>
                  </m:oMath>
                </a14:m>
                <a:r>
                  <a:rPr lang="en-US" sz="1200" dirty="0"/>
                  <a:t>rigorously from portfolio fundamentals?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Our </a:t>
                </a:r>
                <a:r>
                  <a:rPr lang="en-US" sz="1200" b="1" dirty="0"/>
                  <a:t>approach</a:t>
                </a:r>
                <a:r>
                  <a:rPr lang="en-US" sz="1200" dirty="0"/>
                  <a:t>: simulate realistic portfolio dynamics under lock-ups, payouts and rebalancing constraints - then fit                    </a:t>
                </a:r>
                <a14:m>
                  <m:oMath xmlns:m="http://schemas.openxmlformats.org/officeDocument/2006/math">
                    <m:r>
                      <a:rPr lang="it-IT" sz="1200" i="1">
                        <a:latin typeface="Cambria Math" panose="02040503050406030204" pitchFamily="18" charset="0"/>
                      </a:rPr>
                      <m:t>𝑐</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i="1">
                        <a:latin typeface="Cambria Math" panose="02040503050406030204" pitchFamily="18" charset="0"/>
                      </a:rPr>
                      <m:t> </m:t>
                    </m:r>
                  </m:oMath>
                </a14:m>
                <a:r>
                  <a:rPr lang="en-US" sz="1200" dirty="0"/>
                  <a:t>directly from the simulated costs</a:t>
                </a:r>
              </a:p>
              <a:p>
                <a:pPr marL="171450" indent="-171450">
                  <a:buFont typeface="Arial" panose="020B0604020202020204" pitchFamily="34" charset="0"/>
                  <a:buChar char="•"/>
                </a:pPr>
                <a:endParaRPr lang="en-US" sz="1200" dirty="0"/>
              </a:p>
            </p:txBody>
          </p:sp>
        </mc:Choice>
        <mc:Fallback xmlns="">
          <p:sp>
            <p:nvSpPr>
              <p:cNvPr id="3" name="TextBox 2">
                <a:extLst>
                  <a:ext uri="{FF2B5EF4-FFF2-40B4-BE49-F238E27FC236}">
                    <a16:creationId xmlns:a16="http://schemas.microsoft.com/office/drawing/2014/main" id="{D2134734-CDBB-433F-222A-F96332933AC9}"/>
                  </a:ext>
                </a:extLst>
              </p:cNvPr>
              <p:cNvSpPr txBox="1">
                <a:spLocks noRot="1" noChangeAspect="1" noMove="1" noResize="1" noEditPoints="1" noAdjustHandles="1" noChangeArrowheads="1" noChangeShapeType="1" noTextEdit="1"/>
              </p:cNvSpPr>
              <p:nvPr/>
            </p:nvSpPr>
            <p:spPr>
              <a:xfrm>
                <a:off x="428652" y="1228562"/>
                <a:ext cx="3581747" cy="2686376"/>
              </a:xfrm>
              <a:prstGeom prst="rect">
                <a:avLst/>
              </a:prstGeom>
              <a:blipFill>
                <a:blip r:embed="rId3"/>
                <a:stretch>
                  <a:fillRect t="-455"/>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549C5319-A8EF-EFBF-8F4E-FA70CE8B61FF}"/>
              </a:ext>
            </a:extLst>
          </p:cNvPr>
          <p:cNvPicPr>
            <a:picLocks noChangeAspect="1"/>
          </p:cNvPicPr>
          <p:nvPr/>
        </p:nvPicPr>
        <p:blipFill>
          <a:blip r:embed="rId4"/>
          <a:srcRect t="8329" b="3168"/>
          <a:stretch>
            <a:fillRect/>
          </a:stretch>
        </p:blipFill>
        <p:spPr>
          <a:xfrm>
            <a:off x="4257033" y="1162230"/>
            <a:ext cx="4458819" cy="2872288"/>
          </a:xfrm>
          <a:prstGeom prst="rect">
            <a:avLst/>
          </a:prstGeom>
        </p:spPr>
      </p:pic>
    </p:spTree>
    <p:extLst>
      <p:ext uri="{BB962C8B-B14F-4D97-AF65-F5344CB8AC3E}">
        <p14:creationId xmlns:p14="http://schemas.microsoft.com/office/powerpoint/2010/main" val="415915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75226-AE87-3B8F-21EB-3283725A122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710239-71E1-DC26-EFC4-4EF4F76EFF66}"/>
              </a:ext>
            </a:extLst>
          </p:cNvPr>
          <p:cNvSpPr>
            <a:spLocks noGrp="1"/>
          </p:cNvSpPr>
          <p:nvPr>
            <p:ph type="title"/>
          </p:nvPr>
        </p:nvSpPr>
        <p:spPr/>
        <p:txBody>
          <a:bodyPr/>
          <a:lstStyle/>
          <a:p>
            <a:r>
              <a:rPr lang="it-IT" dirty="0"/>
              <a:t>Asset Classes &amp; </a:t>
            </a:r>
            <a:r>
              <a:rPr lang="it-IT" dirty="0" err="1"/>
              <a:t>Illiquidity</a:t>
            </a:r>
            <a:r>
              <a:rPr lang="it-IT" dirty="0"/>
              <a:t> </a:t>
            </a:r>
            <a:r>
              <a:rPr lang="it-IT" dirty="0" err="1"/>
              <a:t>Levels</a:t>
            </a:r>
            <a:endParaRPr lang="en-GB" noProof="0" dirty="0"/>
          </a:p>
        </p:txBody>
      </p:sp>
      <p:sp>
        <p:nvSpPr>
          <p:cNvPr id="4" name="Espace réservé du pied de page 3">
            <a:extLst>
              <a:ext uri="{FF2B5EF4-FFF2-40B4-BE49-F238E27FC236}">
                <a16:creationId xmlns:a16="http://schemas.microsoft.com/office/drawing/2014/main" id="{34941FD6-6BC2-0B2A-9111-5746AD56A718}"/>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9BB018DA-A5D6-8C2E-5408-4C134DCF3ECB}"/>
              </a:ext>
            </a:extLst>
          </p:cNvPr>
          <p:cNvSpPr>
            <a:spLocks noGrp="1"/>
          </p:cNvSpPr>
          <p:nvPr>
            <p:ph type="sldNum" sz="quarter" idx="12"/>
          </p:nvPr>
        </p:nvSpPr>
        <p:spPr/>
        <p:txBody>
          <a:bodyPr/>
          <a:lstStyle/>
          <a:p>
            <a:fld id="{2B1C6FFC-D040-034F-8B69-20295064E64D}" type="slidenum">
              <a:rPr lang="fr-FR" smtClean="0"/>
              <a:t>4</a:t>
            </a:fld>
            <a:endParaRPr lang="fr-FR" dirty="0"/>
          </a:p>
        </p:txBody>
      </p:sp>
      <p:sp>
        <p:nvSpPr>
          <p:cNvPr id="6" name="Espace réservé du texte 5">
            <a:extLst>
              <a:ext uri="{FF2B5EF4-FFF2-40B4-BE49-F238E27FC236}">
                <a16:creationId xmlns:a16="http://schemas.microsoft.com/office/drawing/2014/main" id="{4D7D8F65-0B45-53C0-249D-88AE8E93AF93}"/>
              </a:ext>
            </a:extLst>
          </p:cNvPr>
          <p:cNvSpPr>
            <a:spLocks noGrp="1"/>
          </p:cNvSpPr>
          <p:nvPr>
            <p:ph type="body" sz="quarter" idx="13"/>
          </p:nvPr>
        </p:nvSpPr>
        <p:spPr/>
        <p:txBody>
          <a:bodyPr/>
          <a:lstStyle/>
          <a:p>
            <a:r>
              <a:rPr lang="en-GB" dirty="0"/>
              <a:t>Defining the Investment Universe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E9A4D1-8AAC-9425-2F96-DBB8EB276181}"/>
                  </a:ext>
                </a:extLst>
              </p:cNvPr>
              <p:cNvSpPr txBox="1"/>
              <p:nvPr/>
            </p:nvSpPr>
            <p:spPr>
              <a:xfrm>
                <a:off x="428399" y="3552779"/>
                <a:ext cx="8286948" cy="831703"/>
              </a:xfrm>
              <a:prstGeom prst="rect">
                <a:avLst/>
              </a:prstGeom>
              <a:noFill/>
            </p:spPr>
            <p:txBody>
              <a:bodyPr wrap="square" rtlCol="0">
                <a:spAutoFit/>
              </a:bodyPr>
              <a:lstStyle/>
              <a:p>
                <a:pPr marL="171450" indent="-171450">
                  <a:buFont typeface="Arial" panose="020B0604020202020204" pitchFamily="34" charset="0"/>
                  <a:buChar char="•"/>
                </a:pPr>
                <a:r>
                  <a:rPr lang="en-US" sz="1200" dirty="0"/>
                  <a:t>Each asset class </a:t>
                </a:r>
                <a14:m>
                  <m:oMath xmlns:m="http://schemas.openxmlformats.org/officeDocument/2006/math">
                    <m:r>
                      <a:rPr lang="it-IT" sz="1200" b="0" i="1" smtClean="0">
                        <a:latin typeface="Cambria Math" panose="02040503050406030204" pitchFamily="18" charset="0"/>
                      </a:rPr>
                      <m:t>𝑖</m:t>
                    </m:r>
                  </m:oMath>
                </a14:m>
                <a:r>
                  <a:rPr lang="en-US" sz="1200" dirty="0"/>
                  <a:t> is assigned an </a:t>
                </a:r>
                <a:r>
                  <a:rPr lang="en-US" sz="1200" b="1" dirty="0"/>
                  <a:t>illiquidity level </a:t>
                </a:r>
                <a14:m>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𝑙</m:t>
                        </m:r>
                      </m:e>
                      <m:sub>
                        <m:r>
                          <a:rPr lang="it-IT" sz="1200" b="0" i="1" smtClean="0">
                            <a:latin typeface="Cambria Math" panose="02040503050406030204" pitchFamily="18" charset="0"/>
                          </a:rPr>
                          <m:t>𝑖</m:t>
                        </m:r>
                      </m:sub>
                    </m:sSub>
                  </m:oMath>
                </a14:m>
                <a:r>
                  <a:rPr lang="en-US" sz="1200" dirty="0"/>
                  <a:t> </a:t>
                </a:r>
                <a14:m>
                  <m:oMath xmlns:m="http://schemas.openxmlformats.org/officeDocument/2006/math">
                    <m:r>
                      <a:rPr lang="en-US" sz="1200" i="1" dirty="0" smtClean="0">
                        <a:latin typeface="Cambria Math" panose="02040503050406030204" pitchFamily="18" charset="0"/>
                        <a:ea typeface="Cambria Math" panose="02040503050406030204" pitchFamily="18" charset="0"/>
                      </a:rPr>
                      <m:t>∈</m:t>
                    </m:r>
                    <m:d>
                      <m:dPr>
                        <m:begChr m:val="["/>
                        <m:endChr m:val="]"/>
                        <m:ctrlPr>
                          <a:rPr lang="en-US" sz="1200" i="1" dirty="0" smtClean="0">
                            <a:latin typeface="Cambria Math" panose="02040503050406030204" pitchFamily="18" charset="0"/>
                          </a:rPr>
                        </m:ctrlPr>
                      </m:dPr>
                      <m:e>
                        <m:r>
                          <a:rPr lang="it-IT" sz="1200" b="0" i="1" dirty="0" smtClean="0">
                            <a:latin typeface="Cambria Math" panose="02040503050406030204" pitchFamily="18" charset="0"/>
                          </a:rPr>
                          <m:t>0</m:t>
                        </m:r>
                        <m:r>
                          <a:rPr lang="it-IT" sz="1200" b="0" i="1" dirty="0" smtClean="0">
                            <a:latin typeface="Cambria Math" panose="02040503050406030204" pitchFamily="18" charset="0"/>
                          </a:rPr>
                          <m:t>, </m:t>
                        </m:r>
                        <m:r>
                          <a:rPr lang="it-IT" sz="1200" b="0" i="1" dirty="0" smtClean="0">
                            <a:latin typeface="Cambria Math" panose="02040503050406030204" pitchFamily="18" charset="0"/>
                          </a:rPr>
                          <m:t>1</m:t>
                        </m:r>
                      </m:e>
                    </m:d>
                  </m:oMath>
                </a14:m>
                <a:r>
                  <a:rPr lang="en-US" sz="1200" dirty="0"/>
                  <a:t>, where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𝑙</m:t>
                        </m:r>
                      </m:e>
                      <m:sub>
                        <m:r>
                          <a:rPr lang="it-IT" sz="1200" i="1">
                            <a:latin typeface="Cambria Math" panose="02040503050406030204" pitchFamily="18" charset="0"/>
                          </a:rPr>
                          <m:t>𝑖</m:t>
                        </m:r>
                      </m:sub>
                    </m:sSub>
                    <m:r>
                      <a:rPr lang="en-US" sz="1200" i="1" dirty="0" smtClean="0">
                        <a:latin typeface="Cambria Math" panose="02040503050406030204" pitchFamily="18" charset="0"/>
                      </a:rPr>
                      <m:t>=</m:t>
                    </m:r>
                    <m:r>
                      <a:rPr lang="it-IT" sz="1200" b="0" i="1" dirty="0" smtClean="0">
                        <a:latin typeface="Cambria Math" panose="02040503050406030204" pitchFamily="18" charset="0"/>
                      </a:rPr>
                      <m:t>0</m:t>
                    </m:r>
                    <m:r>
                      <a:rPr lang="it-IT" sz="1200" b="0" i="1" dirty="0" smtClean="0">
                        <a:latin typeface="Cambria Math" panose="02040503050406030204" pitchFamily="18" charset="0"/>
                      </a:rPr>
                      <m:t> </m:t>
                    </m:r>
                  </m:oMath>
                </a14:m>
                <a:r>
                  <a:rPr lang="en-US" sz="1200" dirty="0"/>
                  <a:t>denotes a perfectly liquid asset (e.g., Cash) and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𝑙</m:t>
                        </m:r>
                      </m:e>
                      <m:sub>
                        <m:r>
                          <a:rPr lang="it-IT" sz="1200" i="1">
                            <a:latin typeface="Cambria Math" panose="02040503050406030204" pitchFamily="18" charset="0"/>
                          </a:rPr>
                          <m:t>𝑖</m:t>
                        </m:r>
                      </m:sub>
                    </m:sSub>
                    <m:r>
                      <a:rPr lang="en-US" sz="1200" i="1" dirty="0">
                        <a:latin typeface="Cambria Math" panose="02040503050406030204" pitchFamily="18" charset="0"/>
                      </a:rPr>
                      <m:t>=</m:t>
                    </m:r>
                    <m:r>
                      <a:rPr lang="it-IT" sz="1200" b="0" i="1" dirty="0" smtClean="0">
                        <a:latin typeface="Cambria Math" panose="02040503050406030204" pitchFamily="18" charset="0"/>
                      </a:rPr>
                      <m:t>1</m:t>
                    </m:r>
                    <m:r>
                      <a:rPr lang="it-IT" sz="1200" i="1" dirty="0">
                        <a:latin typeface="Cambria Math" panose="02040503050406030204" pitchFamily="18" charset="0"/>
                      </a:rPr>
                      <m:t> </m:t>
                    </m:r>
                  </m:oMath>
                </a14:m>
                <a:r>
                  <a:rPr lang="en-US" sz="1200" dirty="0"/>
                  <a:t>denotes a fully illiquid asset (e.g., Private Equity) </a:t>
                </a:r>
              </a:p>
              <a:p>
                <a:endParaRPr lang="en-US" sz="1200" dirty="0"/>
              </a:p>
              <a:p>
                <a:pPr marL="171450" indent="-171450">
                  <a:buFont typeface="Arial" panose="020B0604020202020204" pitchFamily="34" charset="0"/>
                  <a:buChar char="•"/>
                </a:pPr>
                <a:r>
                  <a:rPr lang="en-US" sz="1200" dirty="0"/>
                  <a:t>T</a:t>
                </a:r>
                <a:r>
                  <a:rPr lang="it-IT" sz="1200" dirty="0"/>
                  <a:t>he portfolio </a:t>
                </a:r>
                <a:r>
                  <a:rPr lang="it-IT" sz="1200" dirty="0" err="1"/>
                  <a:t>illiquidity</a:t>
                </a:r>
                <a:r>
                  <a:rPr lang="it-IT" sz="1200" dirty="0"/>
                  <a:t> </a:t>
                </a:r>
                <a:r>
                  <a:rPr lang="it-IT" sz="1200" dirty="0" err="1"/>
                  <a:t>level</a:t>
                </a:r>
                <a:r>
                  <a:rPr lang="it-IT" sz="1200" dirty="0"/>
                  <a:t> </a:t>
                </a:r>
                <a:r>
                  <a:rPr lang="it-IT" sz="1200" dirty="0" err="1"/>
                  <a:t>is</a:t>
                </a:r>
                <a:r>
                  <a:rPr lang="it-IT" sz="1200" dirty="0"/>
                  <a:t> </a:t>
                </a:r>
                <a:r>
                  <a:rPr lang="it-IT" sz="1200" dirty="0" err="1"/>
                  <a:t>defined</a:t>
                </a:r>
                <a:r>
                  <a:rPr lang="it-IT" sz="1200" dirty="0"/>
                  <a:t> </a:t>
                </a:r>
                <a:r>
                  <a:rPr lang="it-IT" sz="1200" dirty="0" err="1"/>
                  <a:t>as</a:t>
                </a:r>
                <a:r>
                  <a:rPr lang="it-IT" sz="1200" dirty="0"/>
                  <a:t>: </a:t>
                </a:r>
                <a14:m>
                  <m:oMath xmlns:m="http://schemas.openxmlformats.org/officeDocument/2006/math">
                    <m:r>
                      <a:rPr lang="it-IT" sz="1200" i="1">
                        <a:latin typeface="Cambria Math" panose="02040503050406030204" pitchFamily="18" charset="0"/>
                      </a:rPr>
                      <m:t>𝐿</m:t>
                    </m:r>
                    <m:r>
                      <a:rPr lang="it-IT" sz="1200" i="1">
                        <a:latin typeface="Cambria Math" panose="02040503050406030204" pitchFamily="18" charset="0"/>
                      </a:rPr>
                      <m:t>=</m:t>
                    </m:r>
                    <m:nary>
                      <m:naryPr>
                        <m:chr m:val="∑"/>
                        <m:limLoc m:val="subSup"/>
                        <m:grow m:val="on"/>
                        <m:ctrlPr>
                          <a:rPr lang="ar-AE" sz="1200" i="1">
                            <a:latin typeface="Cambria Math" panose="02040503050406030204" pitchFamily="18" charset="0"/>
                          </a:rPr>
                        </m:ctrlPr>
                      </m:naryPr>
                      <m:sub>
                        <m:r>
                          <a:rPr lang="ar-AE" sz="1200" i="1">
                            <a:latin typeface="Cambria Math" panose="02040503050406030204" pitchFamily="18" charset="0"/>
                          </a:rPr>
                          <m:t>𝑖</m:t>
                        </m:r>
                        <m:r>
                          <a:rPr lang="ar-AE" sz="1200" i="1">
                            <a:latin typeface="Cambria Math" panose="02040503050406030204" pitchFamily="18" charset="0"/>
                          </a:rPr>
                          <m:t>=</m:t>
                        </m:r>
                        <m:r>
                          <a:rPr lang="ar-AE" sz="1200" i="1">
                            <a:latin typeface="Cambria Math" panose="02040503050406030204" pitchFamily="18" charset="0"/>
                          </a:rPr>
                          <m:t>1</m:t>
                        </m:r>
                      </m:sub>
                      <m:sup>
                        <m:r>
                          <a:rPr lang="ar-AE" sz="1200" i="1">
                            <a:latin typeface="Cambria Math" panose="02040503050406030204" pitchFamily="18" charset="0"/>
                          </a:rPr>
                          <m:t>𝑛</m:t>
                        </m:r>
                      </m:sup>
                      <m:e>
                        <m:sSub>
                          <m:sSubPr>
                            <m:ctrlPr>
                              <a:rPr lang="ar-AE" sz="1200" i="1">
                                <a:latin typeface="Cambria Math" panose="02040503050406030204" pitchFamily="18" charset="0"/>
                              </a:rPr>
                            </m:ctrlPr>
                          </m:sSubPr>
                          <m:e>
                            <m:r>
                              <a:rPr lang="ar-AE" sz="1200" i="1">
                                <a:latin typeface="Cambria Math" panose="02040503050406030204" pitchFamily="18" charset="0"/>
                              </a:rPr>
                              <m:t>𝑤</m:t>
                            </m:r>
                          </m:e>
                          <m:sub>
                            <m:r>
                              <a:rPr lang="ar-AE" sz="1200" i="1">
                                <a:latin typeface="Cambria Math" panose="02040503050406030204" pitchFamily="18" charset="0"/>
                              </a:rPr>
                              <m:t>𝑖</m:t>
                            </m:r>
                          </m:sub>
                        </m:sSub>
                      </m:e>
                    </m:nary>
                    <m:r>
                      <a:rPr lang="ar-AE" sz="1200" i="1">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𝑙</m:t>
                        </m:r>
                      </m:e>
                      <m:sub>
                        <m:r>
                          <a:rPr lang="ar-AE" sz="1200" i="1">
                            <a:latin typeface="Cambria Math" panose="02040503050406030204" pitchFamily="18" charset="0"/>
                          </a:rPr>
                          <m:t>𝑖</m:t>
                        </m:r>
                      </m:sub>
                    </m:sSub>
                  </m:oMath>
                </a14:m>
                <a:r>
                  <a:rPr lang="it-IT" sz="1200" i="1" dirty="0">
                    <a:latin typeface="Cambria Math" panose="02040503050406030204" pitchFamily="18" charset="0"/>
                  </a:rPr>
                  <a:t> </a:t>
                </a:r>
                <a:r>
                  <a:rPr lang="it-IT" sz="1200" dirty="0"/>
                  <a:t>, </a:t>
                </a:r>
                <a:r>
                  <a:rPr lang="it-IT" sz="1200" dirty="0" err="1"/>
                  <a:t>where</a:t>
                </a:r>
                <a:r>
                  <a:rPr lang="it-IT" sz="1200" dirty="0"/>
                  <a:t>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𝑤</m:t>
                        </m:r>
                      </m:e>
                      <m:sub>
                        <m:r>
                          <a:rPr lang="ar-AE" sz="1200" i="1">
                            <a:latin typeface="Cambria Math" panose="02040503050406030204" pitchFamily="18" charset="0"/>
                          </a:rPr>
                          <m:t>𝑖</m:t>
                        </m:r>
                      </m:sub>
                    </m:sSub>
                    <m:r>
                      <a:rPr lang="ar-AE" sz="1200" i="1">
                        <a:latin typeface="Cambria Math" panose="02040503050406030204" pitchFamily="18" charset="0"/>
                      </a:rPr>
                      <m:t> </m:t>
                    </m:r>
                  </m:oMath>
                </a14:m>
                <a:r>
                  <a:rPr lang="it-IT" sz="1200" dirty="0"/>
                  <a:t>are portfolio weights and </a:t>
                </a:r>
                <a14:m>
                  <m:oMath xmlns:m="http://schemas.openxmlformats.org/officeDocument/2006/math">
                    <m:nary>
                      <m:naryPr>
                        <m:chr m:val="∑"/>
                        <m:limLoc m:val="subSup"/>
                        <m:grow m:val="on"/>
                        <m:ctrlPr>
                          <a:rPr lang="ar-AE" sz="1200" i="1">
                            <a:latin typeface="Cambria Math" panose="02040503050406030204" pitchFamily="18" charset="0"/>
                          </a:rPr>
                        </m:ctrlPr>
                      </m:naryPr>
                      <m:sub>
                        <m:r>
                          <a:rPr lang="ar-AE" sz="1200" i="1">
                            <a:latin typeface="Cambria Math" panose="02040503050406030204" pitchFamily="18" charset="0"/>
                          </a:rPr>
                          <m:t>𝑖</m:t>
                        </m:r>
                        <m:r>
                          <a:rPr lang="ar-AE" sz="1200" i="1">
                            <a:latin typeface="Cambria Math" panose="02040503050406030204" pitchFamily="18" charset="0"/>
                          </a:rPr>
                          <m:t>=</m:t>
                        </m:r>
                        <m:r>
                          <a:rPr lang="ar-AE" sz="1200" i="1">
                            <a:latin typeface="Cambria Math" panose="02040503050406030204" pitchFamily="18" charset="0"/>
                          </a:rPr>
                          <m:t>1</m:t>
                        </m:r>
                      </m:sub>
                      <m:sup>
                        <m:r>
                          <a:rPr lang="ar-AE" sz="1200" i="1">
                            <a:latin typeface="Cambria Math" panose="02040503050406030204" pitchFamily="18" charset="0"/>
                          </a:rPr>
                          <m:t>𝑛</m:t>
                        </m:r>
                      </m:sup>
                      <m:e>
                        <m:sSub>
                          <m:sSubPr>
                            <m:ctrlPr>
                              <a:rPr lang="ar-AE" sz="1200" i="1">
                                <a:latin typeface="Cambria Math" panose="02040503050406030204" pitchFamily="18" charset="0"/>
                              </a:rPr>
                            </m:ctrlPr>
                          </m:sSubPr>
                          <m:e>
                            <m:r>
                              <a:rPr lang="ar-AE" sz="1200" i="1">
                                <a:latin typeface="Cambria Math" panose="02040503050406030204" pitchFamily="18" charset="0"/>
                              </a:rPr>
                              <m:t>𝑤</m:t>
                            </m:r>
                          </m:e>
                          <m:sub>
                            <m:r>
                              <a:rPr lang="ar-AE" sz="1200" i="1">
                                <a:latin typeface="Cambria Math" panose="02040503050406030204" pitchFamily="18" charset="0"/>
                              </a:rPr>
                              <m:t>𝑖</m:t>
                            </m:r>
                          </m:sub>
                        </m:sSub>
                      </m:e>
                    </m:nary>
                    <m:r>
                      <a:rPr lang="it-IT" sz="1200" b="0" i="1" smtClean="0">
                        <a:latin typeface="Cambria Math" panose="02040503050406030204" pitchFamily="18" charset="0"/>
                      </a:rPr>
                      <m:t>=</m:t>
                    </m:r>
                    <m:r>
                      <a:rPr lang="it-IT" sz="1200" b="0" i="1" smtClean="0">
                        <a:latin typeface="Cambria Math" panose="02040503050406030204" pitchFamily="18" charset="0"/>
                      </a:rPr>
                      <m:t>1</m:t>
                    </m:r>
                  </m:oMath>
                </a14:m>
                <a:endParaRPr lang="it-IT" sz="1200" dirty="0"/>
              </a:p>
            </p:txBody>
          </p:sp>
        </mc:Choice>
        <mc:Fallback xmlns="">
          <p:sp>
            <p:nvSpPr>
              <p:cNvPr id="9" name="TextBox 8">
                <a:extLst>
                  <a:ext uri="{FF2B5EF4-FFF2-40B4-BE49-F238E27FC236}">
                    <a16:creationId xmlns:a16="http://schemas.microsoft.com/office/drawing/2014/main" id="{62E9A4D1-8AAC-9425-2F96-DBB8EB276181}"/>
                  </a:ext>
                </a:extLst>
              </p:cNvPr>
              <p:cNvSpPr txBox="1">
                <a:spLocks noRot="1" noChangeAspect="1" noMove="1" noResize="1" noEditPoints="1" noAdjustHandles="1" noChangeArrowheads="1" noChangeShapeType="1" noTextEdit="1"/>
              </p:cNvSpPr>
              <p:nvPr/>
            </p:nvSpPr>
            <p:spPr>
              <a:xfrm>
                <a:off x="428399" y="3552779"/>
                <a:ext cx="8286948" cy="831703"/>
              </a:xfrm>
              <a:prstGeom prst="rect">
                <a:avLst/>
              </a:prstGeom>
              <a:blipFill>
                <a:blip r:embed="rId3"/>
                <a:stretch>
                  <a:fillRect t="-1471" b="-52941"/>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008E2258-3085-B7CB-99D1-A283EDB8D821}"/>
              </a:ext>
            </a:extLst>
          </p:cNvPr>
          <p:cNvPicPr>
            <a:picLocks noChangeAspect="1"/>
          </p:cNvPicPr>
          <p:nvPr/>
        </p:nvPicPr>
        <p:blipFill>
          <a:blip r:embed="rId4"/>
          <a:stretch>
            <a:fillRect/>
          </a:stretch>
        </p:blipFill>
        <p:spPr>
          <a:xfrm>
            <a:off x="428903" y="987380"/>
            <a:ext cx="8286949" cy="2535731"/>
          </a:xfrm>
          <a:prstGeom prst="rect">
            <a:avLst/>
          </a:prstGeom>
        </p:spPr>
      </p:pic>
    </p:spTree>
    <p:extLst>
      <p:ext uri="{BB962C8B-B14F-4D97-AF65-F5344CB8AC3E}">
        <p14:creationId xmlns:p14="http://schemas.microsoft.com/office/powerpoint/2010/main" val="147152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20FAA-A8E4-20F7-D51B-A3FA5A3E31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170C69-1476-F026-ABB2-808E0559E0FA}"/>
              </a:ext>
            </a:extLst>
          </p:cNvPr>
          <p:cNvSpPr>
            <a:spLocks noGrp="1"/>
          </p:cNvSpPr>
          <p:nvPr>
            <p:ph type="title"/>
          </p:nvPr>
        </p:nvSpPr>
        <p:spPr/>
        <p:txBody>
          <a:bodyPr/>
          <a:lstStyle/>
          <a:p>
            <a:r>
              <a:rPr lang="it-IT" dirty="0"/>
              <a:t>The </a:t>
            </a:r>
            <a:r>
              <a:rPr lang="it-IT" dirty="0" err="1"/>
              <a:t>Marginal</a:t>
            </a:r>
            <a:r>
              <a:rPr lang="it-IT" dirty="0"/>
              <a:t> Penalty </a:t>
            </a:r>
            <a:r>
              <a:rPr lang="it-IT" dirty="0" err="1"/>
              <a:t>Function</a:t>
            </a:r>
            <a:endParaRPr lang="en-GB" noProof="0" dirty="0"/>
          </a:p>
        </p:txBody>
      </p:sp>
      <p:sp>
        <p:nvSpPr>
          <p:cNvPr id="4" name="Espace réservé du pied de page 3">
            <a:extLst>
              <a:ext uri="{FF2B5EF4-FFF2-40B4-BE49-F238E27FC236}">
                <a16:creationId xmlns:a16="http://schemas.microsoft.com/office/drawing/2014/main" id="{9482006A-D65E-594B-43B4-9A34C5FEA0B6}"/>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D4CB2F4B-56A5-669B-3622-E5424FB47A47}"/>
              </a:ext>
            </a:extLst>
          </p:cNvPr>
          <p:cNvSpPr>
            <a:spLocks noGrp="1"/>
          </p:cNvSpPr>
          <p:nvPr>
            <p:ph type="sldNum" sz="quarter" idx="12"/>
          </p:nvPr>
        </p:nvSpPr>
        <p:spPr/>
        <p:txBody>
          <a:bodyPr/>
          <a:lstStyle/>
          <a:p>
            <a:fld id="{2B1C6FFC-D040-034F-8B69-20295064E64D}" type="slidenum">
              <a:rPr lang="fr-FR" smtClean="0"/>
              <a:t>5</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11DF95BC-76EC-7EA9-9484-23D1BA285E5E}"/>
                  </a:ext>
                </a:extLst>
              </p:cNvPr>
              <p:cNvSpPr>
                <a:spLocks noGrp="1"/>
              </p:cNvSpPr>
              <p:nvPr>
                <p:ph type="body" sz="quarter" idx="13"/>
              </p:nvPr>
            </p:nvSpPr>
            <p:spPr/>
            <p:txBody>
              <a:bodyPr/>
              <a:lstStyle/>
              <a:p>
                <a:r>
                  <a:rPr lang="en-US" dirty="0"/>
                  <a:t>How different marginal curves behave with identical parameters </a:t>
                </a:r>
                <a:r>
                  <a:rPr lang="en-GB" dirty="0"/>
                  <a:t>(</a:t>
                </a:r>
                <a14:m>
                  <m:oMath xmlns:m="http://schemas.openxmlformats.org/officeDocument/2006/math">
                    <m:r>
                      <a:rPr lang="en-GB" i="1" smtClean="0">
                        <a:latin typeface="Cambria Math" panose="02040503050406030204" pitchFamily="18" charset="0"/>
                        <a:ea typeface="Cambria Math" panose="02040503050406030204" pitchFamily="18" charset="0"/>
                      </a:rPr>
                      <m:t>𝛼</m:t>
                    </m:r>
                    <m:r>
                      <a:rPr lang="en-GB" i="1" smtClean="0">
                        <a:latin typeface="Cambria Math" panose="02040503050406030204" pitchFamily="18" charset="0"/>
                      </a:rPr>
                      <m:t>=</m:t>
                    </m:r>
                    <m:r>
                      <a:rPr lang="it-IT" b="0" i="1" smtClean="0">
                        <a:latin typeface="Cambria Math" panose="02040503050406030204" pitchFamily="18" charset="0"/>
                      </a:rPr>
                      <m:t>0.05,   </m:t>
                    </m:r>
                    <m:r>
                      <a:rPr lang="it-IT" b="0" i="1" smtClean="0">
                        <a:latin typeface="Cambria Math" panose="02040503050406030204" pitchFamily="18" charset="0"/>
                        <a:ea typeface="Cambria Math" panose="02040503050406030204" pitchFamily="18" charset="0"/>
                      </a:rPr>
                      <m:t>𝛽</m:t>
                    </m:r>
                    <m:r>
                      <a:rPr lang="it-IT" b="0" i="1" smtClean="0">
                        <a:latin typeface="Cambria Math" panose="02040503050406030204" pitchFamily="18" charset="0"/>
                        <a:ea typeface="Cambria Math" panose="02040503050406030204" pitchFamily="18" charset="0"/>
                      </a:rPr>
                      <m:t>=1.6) </m:t>
                    </m:r>
                  </m:oMath>
                </a14:m>
                <a:endParaRPr lang="en-GB" dirty="0"/>
              </a:p>
            </p:txBody>
          </p:sp>
        </mc:Choice>
        <mc:Fallback xmlns="">
          <p:sp>
            <p:nvSpPr>
              <p:cNvPr id="6" name="Espace réservé du texte 5">
                <a:extLst>
                  <a:ext uri="{FF2B5EF4-FFF2-40B4-BE49-F238E27FC236}">
                    <a16:creationId xmlns:a16="http://schemas.microsoft.com/office/drawing/2014/main" id="{11DF95BC-76EC-7EA9-9484-23D1BA285E5E}"/>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508516E-EAF0-A9E9-F1E3-F1185525BD99}"/>
                  </a:ext>
                </a:extLst>
              </p:cNvPr>
              <p:cNvSpPr txBox="1"/>
              <p:nvPr/>
            </p:nvSpPr>
            <p:spPr>
              <a:xfrm>
                <a:off x="428652" y="1140491"/>
                <a:ext cx="3600675" cy="3551998"/>
              </a:xfrm>
              <a:prstGeom prst="rect">
                <a:avLst/>
              </a:prstGeom>
              <a:noFill/>
            </p:spPr>
            <p:txBody>
              <a:bodyPr wrap="square" rtlCol="0">
                <a:spAutoFit/>
              </a:bodyPr>
              <a:lstStyle/>
              <a:p>
                <a:pPr marL="171450" indent="-171450">
                  <a:buFont typeface="Arial" panose="020B0604020202020204" pitchFamily="34" charset="0"/>
                  <a:buChar char="•"/>
                </a:pPr>
                <a:r>
                  <a:rPr lang="it-IT" sz="1100" b="1" dirty="0"/>
                  <a:t>Functional </a:t>
                </a:r>
                <a:r>
                  <a:rPr lang="it-IT" sz="1100" b="1" dirty="0" err="1"/>
                  <a:t>forms</a:t>
                </a:r>
                <a:r>
                  <a:rPr lang="it-IT" sz="1100" dirty="0" err="1"/>
                  <a:t>:</a:t>
                </a:r>
                <a:endParaRPr lang="it-IT" sz="1100" dirty="0"/>
              </a:p>
              <a:p>
                <a:pPr marL="685800" lvl="1" indent="-228600">
                  <a:buFont typeface="+mj-lt"/>
                  <a:buAutoNum type="arabicPeriod"/>
                </a:pPr>
                <a:r>
                  <a:rPr lang="it-IT" sz="1050" dirty="0"/>
                  <a:t>Power: </a:t>
                </a:r>
                <a14:m>
                  <m:oMath xmlns:m="http://schemas.openxmlformats.org/officeDocument/2006/math">
                    <m:r>
                      <a:rPr lang="it-IT" sz="1050" i="1">
                        <a:latin typeface="Cambria Math" panose="02040503050406030204" pitchFamily="18" charset="0"/>
                      </a:rPr>
                      <m:t>𝑐</m:t>
                    </m:r>
                    <m:d>
                      <m:dPr>
                        <m:ctrlPr>
                          <a:rPr lang="it-IT" sz="1050" i="1">
                            <a:latin typeface="Cambria Math" panose="02040503050406030204" pitchFamily="18" charset="0"/>
                          </a:rPr>
                        </m:ctrlPr>
                      </m:dPr>
                      <m:e>
                        <m:r>
                          <a:rPr lang="it-IT" sz="1050" i="1">
                            <a:latin typeface="Cambria Math" panose="02040503050406030204" pitchFamily="18" charset="0"/>
                          </a:rPr>
                          <m:t>𝐿</m:t>
                        </m:r>
                      </m:e>
                    </m:d>
                    <m:r>
                      <a:rPr lang="it-IT" sz="1050" i="1">
                        <a:latin typeface="Cambria Math" panose="02040503050406030204" pitchFamily="18" charset="0"/>
                      </a:rPr>
                      <m:t>= </m:t>
                    </m:r>
                    <m:r>
                      <a:rPr lang="it-IT" sz="1050" i="1">
                        <a:latin typeface="Cambria Math" panose="02040503050406030204" pitchFamily="18" charset="0"/>
                        <a:ea typeface="Cambria Math" panose="02040503050406030204" pitchFamily="18" charset="0"/>
                      </a:rPr>
                      <m:t>𝛼</m:t>
                    </m:r>
                    <m:sSup>
                      <m:sSupPr>
                        <m:ctrlPr>
                          <a:rPr lang="it-IT" sz="1050" i="1">
                            <a:latin typeface="Cambria Math" panose="02040503050406030204" pitchFamily="18" charset="0"/>
                            <a:ea typeface="Cambria Math" panose="02040503050406030204" pitchFamily="18" charset="0"/>
                          </a:rPr>
                        </m:ctrlPr>
                      </m:sSupPr>
                      <m:e>
                        <m:r>
                          <a:rPr lang="it-IT" sz="1050" i="1">
                            <a:latin typeface="Cambria Math" panose="02040503050406030204" pitchFamily="18" charset="0"/>
                            <a:ea typeface="Cambria Math" panose="02040503050406030204" pitchFamily="18" charset="0"/>
                          </a:rPr>
                          <m:t>𝐿</m:t>
                        </m:r>
                      </m:e>
                      <m:sup>
                        <m:r>
                          <a:rPr lang="it-IT" sz="1050" i="1">
                            <a:latin typeface="Cambria Math" panose="02040503050406030204" pitchFamily="18" charset="0"/>
                            <a:ea typeface="Cambria Math" panose="02040503050406030204" pitchFamily="18" charset="0"/>
                          </a:rPr>
                          <m:t>𝛽</m:t>
                        </m:r>
                      </m:sup>
                    </m:sSup>
                    <m:r>
                      <a:rPr lang="it-IT" sz="1050" i="1">
                        <a:latin typeface="Cambria Math" panose="02040503050406030204" pitchFamily="18" charset="0"/>
                      </a:rPr>
                      <m:t> </m:t>
                    </m:r>
                  </m:oMath>
                </a14:m>
                <a:endParaRPr lang="it-IT" sz="1050" dirty="0"/>
              </a:p>
              <a:p>
                <a:pPr marL="685800" lvl="1" indent="-228600">
                  <a:buFont typeface="+mj-lt"/>
                  <a:buAutoNum type="arabicPeriod"/>
                </a:pPr>
                <a:r>
                  <a:rPr lang="it-IT" sz="1050" dirty="0" err="1"/>
                  <a:t>Quadratic</a:t>
                </a:r>
                <a:r>
                  <a:rPr lang="it-IT" sz="1050" dirty="0"/>
                  <a:t>: </a:t>
                </a:r>
                <a14:m>
                  <m:oMath xmlns:m="http://schemas.openxmlformats.org/officeDocument/2006/math">
                    <m:r>
                      <a:rPr lang="it-IT" sz="1050" i="1">
                        <a:latin typeface="Cambria Math" panose="02040503050406030204" pitchFamily="18" charset="0"/>
                      </a:rPr>
                      <m:t>𝑐</m:t>
                    </m:r>
                    <m:d>
                      <m:dPr>
                        <m:ctrlPr>
                          <a:rPr lang="it-IT" sz="1050" i="1">
                            <a:latin typeface="Cambria Math" panose="02040503050406030204" pitchFamily="18" charset="0"/>
                          </a:rPr>
                        </m:ctrlPr>
                      </m:dPr>
                      <m:e>
                        <m:r>
                          <a:rPr lang="it-IT" sz="1050" i="1">
                            <a:latin typeface="Cambria Math" panose="02040503050406030204" pitchFamily="18" charset="0"/>
                          </a:rPr>
                          <m:t>𝐿</m:t>
                        </m:r>
                      </m:e>
                    </m:d>
                    <m:r>
                      <a:rPr lang="it-IT" sz="1050" i="1">
                        <a:latin typeface="Cambria Math" panose="02040503050406030204" pitchFamily="18" charset="0"/>
                      </a:rPr>
                      <m:t>=</m:t>
                    </m:r>
                    <m:sSup>
                      <m:sSupPr>
                        <m:ctrlPr>
                          <a:rPr lang="it-IT" sz="1050" i="1" smtClean="0">
                            <a:latin typeface="Cambria Math" panose="02040503050406030204" pitchFamily="18" charset="0"/>
                            <a:ea typeface="Cambria Math" panose="02040503050406030204" pitchFamily="18" charset="0"/>
                          </a:rPr>
                        </m:ctrlPr>
                      </m:sSupPr>
                      <m:e>
                        <m:r>
                          <a:rPr lang="it-IT" sz="1050" i="1">
                            <a:latin typeface="Cambria Math" panose="02040503050406030204" pitchFamily="18" charset="0"/>
                            <a:ea typeface="Cambria Math" panose="02040503050406030204" pitchFamily="18" charset="0"/>
                          </a:rPr>
                          <m:t>𝛼</m:t>
                        </m:r>
                        <m:r>
                          <a:rPr lang="en-US" sz="1050" i="1" dirty="0">
                            <a:latin typeface="Cambria Math" panose="02040503050406030204" pitchFamily="18" charset="0"/>
                          </a:rPr>
                          <m:t>𝐿</m:t>
                        </m:r>
                        <m:r>
                          <a:rPr lang="it-IT" sz="1050" b="0" i="1" dirty="0" smtClean="0">
                            <a:latin typeface="Cambria Math" panose="02040503050406030204" pitchFamily="18" charset="0"/>
                          </a:rPr>
                          <m:t>+ </m:t>
                        </m:r>
                        <m:r>
                          <a:rPr lang="it-IT" sz="1050" i="1" dirty="0">
                            <a:latin typeface="Cambria Math" panose="02040503050406030204" pitchFamily="18" charset="0"/>
                            <a:ea typeface="Cambria Math" panose="02040503050406030204" pitchFamily="18" charset="0"/>
                          </a:rPr>
                          <m:t>𝛽</m:t>
                        </m:r>
                        <m:r>
                          <a:rPr lang="it-IT" sz="1050" b="0" i="1" dirty="0" smtClean="0">
                            <a:latin typeface="Cambria Math" panose="02040503050406030204" pitchFamily="18" charset="0"/>
                            <a:ea typeface="Cambria Math" panose="02040503050406030204" pitchFamily="18" charset="0"/>
                          </a:rPr>
                          <m:t>𝐿</m:t>
                        </m:r>
                      </m:e>
                      <m:sup>
                        <m:r>
                          <a:rPr lang="it-IT" sz="1050" b="0" i="1" smtClean="0">
                            <a:latin typeface="Cambria Math" panose="02040503050406030204" pitchFamily="18" charset="0"/>
                            <a:ea typeface="Cambria Math" panose="02040503050406030204" pitchFamily="18" charset="0"/>
                          </a:rPr>
                          <m:t>2</m:t>
                        </m:r>
                      </m:sup>
                    </m:sSup>
                    <m:r>
                      <a:rPr lang="it-IT" sz="1050" i="1">
                        <a:latin typeface="Cambria Math" panose="02040503050406030204" pitchFamily="18" charset="0"/>
                      </a:rPr>
                      <m:t> </m:t>
                    </m:r>
                  </m:oMath>
                </a14:m>
                <a:endParaRPr lang="it-IT" sz="1050" dirty="0"/>
              </a:p>
              <a:p>
                <a:pPr marL="685800" lvl="1" indent="-228600">
                  <a:buFont typeface="+mj-lt"/>
                  <a:buAutoNum type="arabicPeriod"/>
                </a:pPr>
                <a:r>
                  <a:rPr lang="it-IT" sz="1050" dirty="0" err="1"/>
                  <a:t>Exponential</a:t>
                </a:r>
                <a:r>
                  <a:rPr lang="it-IT" sz="1050" dirty="0"/>
                  <a:t>: </a:t>
                </a:r>
                <a14:m>
                  <m:oMath xmlns:m="http://schemas.openxmlformats.org/officeDocument/2006/math">
                    <m:r>
                      <a:rPr lang="it-IT" sz="1050" i="1">
                        <a:latin typeface="Cambria Math" panose="02040503050406030204" pitchFamily="18" charset="0"/>
                      </a:rPr>
                      <m:t>𝑐</m:t>
                    </m:r>
                    <m:d>
                      <m:dPr>
                        <m:ctrlPr>
                          <a:rPr lang="it-IT" sz="1050" i="1">
                            <a:latin typeface="Cambria Math" panose="02040503050406030204" pitchFamily="18" charset="0"/>
                          </a:rPr>
                        </m:ctrlPr>
                      </m:dPr>
                      <m:e>
                        <m:r>
                          <a:rPr lang="it-IT" sz="1050" i="1">
                            <a:latin typeface="Cambria Math" panose="02040503050406030204" pitchFamily="18" charset="0"/>
                          </a:rPr>
                          <m:t>𝐿</m:t>
                        </m:r>
                      </m:e>
                    </m:d>
                    <m:r>
                      <a:rPr lang="it-IT" sz="1050" i="1">
                        <a:latin typeface="Cambria Math" panose="02040503050406030204" pitchFamily="18" charset="0"/>
                      </a:rPr>
                      <m:t>=</m:t>
                    </m:r>
                    <m:sSup>
                      <m:sSupPr>
                        <m:ctrlPr>
                          <a:rPr lang="it-IT" sz="1050" i="1">
                            <a:latin typeface="Cambria Math" panose="02040503050406030204" pitchFamily="18" charset="0"/>
                            <a:ea typeface="Cambria Math" panose="02040503050406030204" pitchFamily="18" charset="0"/>
                          </a:rPr>
                        </m:ctrlPr>
                      </m:sSupPr>
                      <m:e>
                        <m:r>
                          <a:rPr lang="it-IT" sz="1050" i="1">
                            <a:latin typeface="Cambria Math" panose="02040503050406030204" pitchFamily="18" charset="0"/>
                            <a:ea typeface="Cambria Math" panose="02040503050406030204" pitchFamily="18" charset="0"/>
                          </a:rPr>
                          <m:t>𝛼</m:t>
                        </m:r>
                        <m:r>
                          <a:rPr lang="it-IT" sz="1050" b="0" i="1" smtClean="0">
                            <a:latin typeface="Cambria Math" panose="02040503050406030204" pitchFamily="18" charset="0"/>
                            <a:ea typeface="Cambria Math" panose="02040503050406030204" pitchFamily="18" charset="0"/>
                          </a:rPr>
                          <m:t>𝑒</m:t>
                        </m:r>
                      </m:e>
                      <m:sup>
                        <m:r>
                          <a:rPr lang="it-IT" sz="1050" i="1">
                            <a:latin typeface="Cambria Math" panose="02040503050406030204" pitchFamily="18" charset="0"/>
                            <a:ea typeface="Cambria Math" panose="02040503050406030204" pitchFamily="18" charset="0"/>
                          </a:rPr>
                          <m:t>𝛽</m:t>
                        </m:r>
                        <m:r>
                          <a:rPr lang="it-IT" sz="1050" b="0" i="1" smtClean="0">
                            <a:latin typeface="Cambria Math" panose="02040503050406030204" pitchFamily="18" charset="0"/>
                            <a:ea typeface="Cambria Math" panose="02040503050406030204" pitchFamily="18" charset="0"/>
                          </a:rPr>
                          <m:t>𝐿</m:t>
                        </m:r>
                      </m:sup>
                    </m:sSup>
                    <m:r>
                      <a:rPr lang="it-IT" sz="1050" i="1">
                        <a:latin typeface="Cambria Math" panose="02040503050406030204" pitchFamily="18" charset="0"/>
                      </a:rPr>
                      <m:t> </m:t>
                    </m:r>
                  </m:oMath>
                </a14:m>
                <a:endParaRPr lang="it-IT" sz="1100" dirty="0"/>
              </a:p>
              <a:p>
                <a:endParaRPr lang="it-IT" sz="1100" dirty="0"/>
              </a:p>
              <a:p>
                <a:pPr marL="171450" indent="-171450">
                  <a:buFont typeface="Arial" panose="020B0604020202020204" pitchFamily="34" charset="0"/>
                  <a:buChar char="•"/>
                </a:pPr>
                <a:r>
                  <a:rPr lang="en-US" sz="1100" b="1" dirty="0"/>
                  <a:t>Stability Diagnostic</a:t>
                </a:r>
                <a:r>
                  <a:rPr lang="en-US" sz="1100" dirty="0"/>
                  <a:t>: large values </a:t>
                </a:r>
                <a:r>
                  <a:rPr lang="en-US" sz="1050" dirty="0"/>
                  <a:t>imply</a:t>
                </a:r>
                <a:r>
                  <a:rPr lang="en-US" sz="1100" dirty="0"/>
                  <a:t> that small changes in portfolio weights - which shift </a:t>
                </a:r>
                <a14:m>
                  <m:oMath xmlns:m="http://schemas.openxmlformats.org/officeDocument/2006/math">
                    <m:r>
                      <a:rPr lang="en-US" sz="1100" i="1" dirty="0">
                        <a:latin typeface="Cambria Math" panose="02040503050406030204" pitchFamily="18" charset="0"/>
                      </a:rPr>
                      <m:t>𝐿</m:t>
                    </m:r>
                  </m:oMath>
                </a14:m>
                <a:r>
                  <a:rPr lang="en-US" sz="1100" dirty="0"/>
                  <a:t> - cause large swings in illiquidity-adjusted returns                </a:t>
                </a:r>
                <a:r>
                  <a:rPr lang="it-IT" sz="1100" dirty="0"/>
                  <a:t> </a:t>
                </a:r>
                <a14:m>
                  <m:oMath xmlns:m="http://schemas.openxmlformats.org/officeDocument/2006/math">
                    <m:acc>
                      <m:accPr>
                        <m:chr m:val="̂"/>
                        <m:ctrlPr>
                          <a:rPr lang="el-GR" sz="1100" i="1" dirty="0" smtClean="0">
                            <a:latin typeface="Cambria Math" panose="02040503050406030204" pitchFamily="18" charset="0"/>
                            <a:ea typeface="Cambria Math" panose="02040503050406030204" pitchFamily="18" charset="0"/>
                          </a:rPr>
                        </m:ctrlPr>
                      </m:accPr>
                      <m:e>
                        <m:r>
                          <a:rPr lang="el-GR" sz="1100" i="1" dirty="0" smtClean="0">
                            <a:latin typeface="Cambria Math" panose="02040503050406030204" pitchFamily="18" charset="0"/>
                            <a:ea typeface="Cambria Math" panose="02040503050406030204" pitchFamily="18" charset="0"/>
                          </a:rPr>
                          <m:t>𝜇</m:t>
                        </m:r>
                      </m:e>
                    </m:acc>
                  </m:oMath>
                </a14:m>
                <a:r>
                  <a:rPr lang="en-US" sz="1100" dirty="0"/>
                  <a:t> </a:t>
                </a:r>
                <a14:m>
                  <m:oMath xmlns:m="http://schemas.openxmlformats.org/officeDocument/2006/math">
                    <m:r>
                      <a:rPr lang="en-US" sz="1100" i="1" dirty="0" smtClean="0">
                        <a:latin typeface="Cambria Math" panose="02040503050406030204" pitchFamily="18" charset="0"/>
                      </a:rPr>
                      <m:t>=</m:t>
                    </m:r>
                    <m:r>
                      <a:rPr lang="en-US" sz="1100" i="1" dirty="0" smtClean="0">
                        <a:latin typeface="Cambria Math" panose="02040503050406030204" pitchFamily="18" charset="0"/>
                        <a:ea typeface="Cambria Math" panose="02040503050406030204" pitchFamily="18" charset="0"/>
                      </a:rPr>
                      <m:t>𝜇</m:t>
                    </m:r>
                    <m:r>
                      <a:rPr lang="it-IT" sz="1100" b="0" i="1" dirty="0" smtClean="0">
                        <a:latin typeface="Cambria Math" panose="02040503050406030204" pitchFamily="18" charset="0"/>
                      </a:rPr>
                      <m:t>−</m:t>
                    </m:r>
                    <m:r>
                      <a:rPr lang="en-US" sz="1100" i="1" dirty="0" smtClean="0">
                        <a:latin typeface="Cambria Math" panose="02040503050406030204" pitchFamily="18" charset="0"/>
                      </a:rPr>
                      <m:t> </m:t>
                    </m:r>
                    <m:sSub>
                      <m:sSubPr>
                        <m:ctrlPr>
                          <a:rPr lang="en-US" sz="1100" i="1" dirty="0" smtClean="0">
                            <a:latin typeface="Cambria Math" panose="02040503050406030204" pitchFamily="18" charset="0"/>
                          </a:rPr>
                        </m:ctrlPr>
                      </m:sSubPr>
                      <m:e>
                        <m:r>
                          <a:rPr lang="it-IT" sz="1100" b="0" i="1" dirty="0" smtClean="0">
                            <a:latin typeface="Cambria Math" panose="02040503050406030204" pitchFamily="18" charset="0"/>
                          </a:rPr>
                          <m:t>𝑙</m:t>
                        </m:r>
                      </m:e>
                      <m:sub>
                        <m:r>
                          <a:rPr lang="it-IT" sz="1100" b="0" i="1" dirty="0" smtClean="0">
                            <a:latin typeface="Cambria Math" panose="02040503050406030204" pitchFamily="18" charset="0"/>
                          </a:rPr>
                          <m:t>𝑖</m:t>
                        </m:r>
                      </m:sub>
                    </m:sSub>
                  </m:oMath>
                </a14:m>
                <a:r>
                  <a:rPr lang="en-US" sz="1100" dirty="0"/>
                  <a:t> </a:t>
                </a:r>
                <a14:m>
                  <m:oMath xmlns:m="http://schemas.openxmlformats.org/officeDocument/2006/math">
                    <m:f>
                      <m:fPr>
                        <m:ctrlPr>
                          <a:rPr lang="en-US" sz="1100" i="1" dirty="0">
                            <a:latin typeface="Cambria Math" panose="02040503050406030204" pitchFamily="18" charset="0"/>
                          </a:rPr>
                        </m:ctrlPr>
                      </m:fPr>
                      <m:num>
                        <m:r>
                          <a:rPr lang="en-US" sz="1100" i="1" dirty="0">
                            <a:latin typeface="Cambria Math" panose="02040503050406030204" pitchFamily="18" charset="0"/>
                          </a:rPr>
                          <m:t>𝑇</m:t>
                        </m:r>
                        <m:d>
                          <m:dPr>
                            <m:ctrlPr>
                              <a:rPr lang="en-US" sz="1100" i="1" dirty="0">
                                <a:latin typeface="Cambria Math" panose="02040503050406030204" pitchFamily="18" charset="0"/>
                              </a:rPr>
                            </m:ctrlPr>
                          </m:dPr>
                          <m:e>
                            <m:r>
                              <a:rPr lang="en-US" sz="1100" i="1" dirty="0">
                                <a:latin typeface="Cambria Math" panose="02040503050406030204" pitchFamily="18" charset="0"/>
                              </a:rPr>
                              <m:t>𝐿</m:t>
                            </m:r>
                          </m:e>
                        </m:d>
                      </m:num>
                      <m:den>
                        <m:r>
                          <a:rPr lang="en-US" sz="1100" i="1" dirty="0">
                            <a:latin typeface="Cambria Math" panose="02040503050406030204" pitchFamily="18" charset="0"/>
                          </a:rPr>
                          <m:t>𝐿</m:t>
                        </m:r>
                      </m:den>
                    </m:f>
                  </m:oMath>
                </a14:m>
                <a:r>
                  <a:rPr lang="en-US" sz="1100" dirty="0"/>
                  <a:t>, potentially </a:t>
                </a:r>
                <a:r>
                  <a:rPr lang="en-US" sz="1100" dirty="0" err="1"/>
                  <a:t>destabilising</a:t>
                </a:r>
                <a:r>
                  <a:rPr lang="en-US" sz="1100" dirty="0"/>
                  <a:t> the optimizer</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b="1" dirty="0"/>
                  <a:t>Economic interpretation (Power)</a:t>
                </a:r>
                <a:r>
                  <a:rPr lang="en-US" sz="1100" dirty="0"/>
                  <a:t>:                    </a:t>
                </a:r>
                <a:r>
                  <a:rPr lang="it-IT" sz="1100" b="1" dirty="0"/>
                  <a:t>alpha</a:t>
                </a:r>
                <a:r>
                  <a:rPr lang="it-IT" sz="1100" dirty="0"/>
                  <a:t> </a:t>
                </a:r>
                <a:r>
                  <a:rPr lang="it-IT" sz="1100" dirty="0" err="1"/>
                  <a:t>determines</a:t>
                </a:r>
                <a:r>
                  <a:rPr lang="it-IT" sz="1100" dirty="0"/>
                  <a:t> the overall </a:t>
                </a:r>
                <a:r>
                  <a:rPr lang="it-IT" sz="1100" dirty="0" err="1"/>
                  <a:t>severity</a:t>
                </a:r>
                <a:r>
                  <a:rPr lang="it-IT" sz="1100" dirty="0"/>
                  <a:t> of the penalty - </a:t>
                </a:r>
                <a:r>
                  <a:rPr lang="it-IT" sz="1100" dirty="0" err="1"/>
                  <a:t>how</a:t>
                </a:r>
                <a:r>
                  <a:rPr lang="it-IT" sz="1100" dirty="0"/>
                  <a:t> </a:t>
                </a:r>
                <a:r>
                  <a:rPr lang="it-IT" sz="1100" dirty="0" err="1"/>
                  <a:t>costly</a:t>
                </a:r>
                <a:r>
                  <a:rPr lang="it-IT" sz="1100" dirty="0"/>
                  <a:t> </a:t>
                </a:r>
                <a:r>
                  <a:rPr lang="it-IT" sz="1100" dirty="0" err="1"/>
                  <a:t>illiquidity</a:t>
                </a:r>
                <a:r>
                  <a:rPr lang="it-IT" sz="1100" dirty="0"/>
                  <a:t> </a:t>
                </a:r>
                <a:r>
                  <a:rPr lang="it-IT" sz="1100" dirty="0" err="1"/>
                  <a:t>is</a:t>
                </a:r>
                <a:r>
                  <a:rPr lang="it-IT" sz="1100" dirty="0"/>
                  <a:t> for </a:t>
                </a:r>
                <a:r>
                  <a:rPr lang="it-IT" sz="1100" dirty="0" err="1"/>
                  <a:t>that</a:t>
                </a:r>
                <a:r>
                  <a:rPr lang="it-IT" sz="1100" dirty="0"/>
                  <a:t> </a:t>
                </a:r>
                <a:r>
                  <a:rPr lang="it-IT" sz="1100" dirty="0" err="1"/>
                  <a:t>specific</a:t>
                </a:r>
                <a:r>
                  <a:rPr lang="it-IT" sz="1100" dirty="0"/>
                  <a:t> </a:t>
                </a:r>
                <a:r>
                  <a:rPr lang="it-IT" sz="1100" dirty="0" err="1"/>
                  <a:t>investor</a:t>
                </a:r>
                <a:r>
                  <a:rPr lang="it-IT" sz="1100" dirty="0"/>
                  <a:t> - </a:t>
                </a:r>
                <a:r>
                  <a:rPr lang="it-IT" sz="1100" dirty="0" err="1"/>
                  <a:t>while</a:t>
                </a:r>
                <a:r>
                  <a:rPr lang="it-IT" sz="1100" dirty="0"/>
                  <a:t> </a:t>
                </a:r>
                <a:r>
                  <a:rPr lang="it-IT" sz="1100" b="1" dirty="0"/>
                  <a:t>beta</a:t>
                </a:r>
                <a:r>
                  <a:rPr lang="it-IT" sz="1100" dirty="0"/>
                  <a:t> controls the </a:t>
                </a:r>
                <a:r>
                  <a:rPr lang="it-IT" sz="1100" dirty="0" err="1"/>
                  <a:t>shape</a:t>
                </a:r>
                <a:r>
                  <a:rPr lang="it-IT" sz="1100" dirty="0"/>
                  <a:t> of the penalty curve:</a:t>
                </a:r>
                <a:r>
                  <a:rPr lang="en-US" sz="1100" dirty="0"/>
                  <a:t> a low beta reflects an investor who incurs costs uniformly across all illiquidity levels, whereas a high beta reflects an investor who tolerates illiquidity up to a threshold but faces sharply escalating costs beyond</a:t>
                </a:r>
                <a:endParaRPr lang="it-IT" sz="1100" dirty="0"/>
              </a:p>
              <a:p>
                <a:pPr marL="171450" indent="-171450">
                  <a:buFont typeface="Arial" panose="020B0604020202020204" pitchFamily="34" charset="0"/>
                  <a:buChar char="•"/>
                </a:pPr>
                <a:endParaRPr lang="en-US" sz="1100" dirty="0"/>
              </a:p>
            </p:txBody>
          </p:sp>
        </mc:Choice>
        <mc:Fallback xmlns="">
          <p:sp>
            <p:nvSpPr>
              <p:cNvPr id="10" name="TextBox 9">
                <a:extLst>
                  <a:ext uri="{FF2B5EF4-FFF2-40B4-BE49-F238E27FC236}">
                    <a16:creationId xmlns:a16="http://schemas.microsoft.com/office/drawing/2014/main" id="{C508516E-EAF0-A9E9-F1E3-F1185525BD99}"/>
                  </a:ext>
                </a:extLst>
              </p:cNvPr>
              <p:cNvSpPr txBox="1">
                <a:spLocks noRot="1" noChangeAspect="1" noMove="1" noResize="1" noEditPoints="1" noAdjustHandles="1" noChangeArrowheads="1" noChangeShapeType="1" noTextEdit="1"/>
              </p:cNvSpPr>
              <p:nvPr/>
            </p:nvSpPr>
            <p:spPr>
              <a:xfrm>
                <a:off x="428652" y="1140491"/>
                <a:ext cx="3600675" cy="3551998"/>
              </a:xfrm>
              <a:prstGeom prst="rect">
                <a:avLst/>
              </a:prstGeom>
              <a:blipFill>
                <a:blip r:embed="rId4"/>
                <a:stretch>
                  <a:fillRect t="-172"/>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FCFB6A39-AB3A-8761-B6BF-FA1F9C398124}"/>
              </a:ext>
            </a:extLst>
          </p:cNvPr>
          <p:cNvPicPr>
            <a:picLocks noChangeAspect="1"/>
          </p:cNvPicPr>
          <p:nvPr/>
        </p:nvPicPr>
        <p:blipFill>
          <a:blip r:embed="rId5"/>
          <a:stretch>
            <a:fillRect/>
          </a:stretch>
        </p:blipFill>
        <p:spPr>
          <a:xfrm>
            <a:off x="3942059" y="1140491"/>
            <a:ext cx="4774046" cy="3416250"/>
          </a:xfrm>
          <a:prstGeom prst="rect">
            <a:avLst/>
          </a:prstGeom>
        </p:spPr>
      </p:pic>
    </p:spTree>
    <p:extLst>
      <p:ext uri="{BB962C8B-B14F-4D97-AF65-F5344CB8AC3E}">
        <p14:creationId xmlns:p14="http://schemas.microsoft.com/office/powerpoint/2010/main" val="3126893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9851C-3BC0-7FD1-BF16-4B7C206AA0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18BC53-63C1-1CD5-495A-5A8EBA9EE5D5}"/>
              </a:ext>
            </a:extLst>
          </p:cNvPr>
          <p:cNvSpPr>
            <a:spLocks noGrp="1"/>
          </p:cNvSpPr>
          <p:nvPr>
            <p:ph type="title"/>
          </p:nvPr>
        </p:nvSpPr>
        <p:spPr/>
        <p:txBody>
          <a:bodyPr/>
          <a:lstStyle/>
          <a:p>
            <a:r>
              <a:rPr lang="it-IT" noProof="0" dirty="0"/>
              <a:t>Portfolio </a:t>
            </a:r>
            <a:r>
              <a:rPr lang="it-IT" noProof="0" dirty="0" err="1"/>
              <a:t>Optimization</a:t>
            </a:r>
            <a:r>
              <a:rPr lang="it-IT" noProof="0" dirty="0"/>
              <a:t> with </a:t>
            </a:r>
            <a:r>
              <a:rPr lang="it-IT" noProof="0" dirty="0" err="1"/>
              <a:t>Illiquidity</a:t>
            </a:r>
            <a:r>
              <a:rPr lang="it-IT" noProof="0" dirty="0"/>
              <a:t> </a:t>
            </a:r>
            <a:endParaRPr lang="en-GB" noProof="0" dirty="0"/>
          </a:p>
        </p:txBody>
      </p:sp>
      <p:sp>
        <p:nvSpPr>
          <p:cNvPr id="4" name="Espace réservé du pied de page 3">
            <a:extLst>
              <a:ext uri="{FF2B5EF4-FFF2-40B4-BE49-F238E27FC236}">
                <a16:creationId xmlns:a16="http://schemas.microsoft.com/office/drawing/2014/main" id="{710465A1-860F-21D3-7CDB-47FE133B0C28}"/>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87610B34-413E-1070-370F-E5DA5752888A}"/>
              </a:ext>
            </a:extLst>
          </p:cNvPr>
          <p:cNvSpPr>
            <a:spLocks noGrp="1"/>
          </p:cNvSpPr>
          <p:nvPr>
            <p:ph type="sldNum" sz="quarter" idx="12"/>
          </p:nvPr>
        </p:nvSpPr>
        <p:spPr/>
        <p:txBody>
          <a:bodyPr/>
          <a:lstStyle/>
          <a:p>
            <a:fld id="{2B1C6FFC-D040-034F-8B69-20295064E64D}" type="slidenum">
              <a:rPr lang="fr-FR" smtClean="0"/>
              <a:t>6</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DDDEB541-368A-DF6B-8D56-B8586EA6EA7B}"/>
                  </a:ext>
                </a:extLst>
              </p:cNvPr>
              <p:cNvSpPr>
                <a:spLocks noGrp="1"/>
              </p:cNvSpPr>
              <p:nvPr>
                <p:ph type="body" sz="quarter" idx="13"/>
              </p:nvPr>
            </p:nvSpPr>
            <p:spPr/>
            <p:txBody>
              <a:bodyPr/>
              <a:lstStyle/>
              <a:p>
                <a:r>
                  <a:rPr lang="en-GB" dirty="0"/>
                  <a:t>Net Efficient Frontiers (</a:t>
                </a:r>
                <a14:m>
                  <m:oMath xmlns:m="http://schemas.openxmlformats.org/officeDocument/2006/math">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rPr>
                      <m:t>=</m:t>
                    </m:r>
                    <m:r>
                      <a:rPr lang="it-IT" i="1">
                        <a:latin typeface="Cambria Math" panose="02040503050406030204" pitchFamily="18" charset="0"/>
                      </a:rPr>
                      <m:t>0.05,   </m:t>
                    </m:r>
                    <m:r>
                      <a:rPr lang="it-IT" i="1">
                        <a:latin typeface="Cambria Math" panose="02040503050406030204" pitchFamily="18" charset="0"/>
                        <a:ea typeface="Cambria Math" panose="02040503050406030204" pitchFamily="18" charset="0"/>
                      </a:rPr>
                      <m:t>𝛽</m:t>
                    </m:r>
                    <m:r>
                      <a:rPr lang="it-IT" i="1">
                        <a:latin typeface="Cambria Math" panose="02040503050406030204" pitchFamily="18" charset="0"/>
                        <a:ea typeface="Cambria Math" panose="02040503050406030204" pitchFamily="18" charset="0"/>
                      </a:rPr>
                      <m:t>=1.6) </m:t>
                    </m:r>
                  </m:oMath>
                </a14:m>
                <a:endParaRPr lang="en-GB" dirty="0"/>
              </a:p>
            </p:txBody>
          </p:sp>
        </mc:Choice>
        <mc:Fallback xmlns="">
          <p:sp>
            <p:nvSpPr>
              <p:cNvPr id="6" name="Espace réservé du texte 5">
                <a:extLst>
                  <a:ext uri="{FF2B5EF4-FFF2-40B4-BE49-F238E27FC236}">
                    <a16:creationId xmlns:a16="http://schemas.microsoft.com/office/drawing/2014/main" id="{DDDEB541-368A-DF6B-8D56-B8586EA6EA7B}"/>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FCAD6C1D-E94D-AF8C-9B1F-8F02DD6A4BBD}"/>
                  </a:ext>
                </a:extLst>
              </p:cNvPr>
              <p:cNvSpPr txBox="1"/>
              <p:nvPr/>
            </p:nvSpPr>
            <p:spPr>
              <a:xfrm>
                <a:off x="428652" y="1332885"/>
                <a:ext cx="3393103" cy="2477730"/>
              </a:xfrm>
              <a:prstGeom prst="rect">
                <a:avLst/>
              </a:prstGeom>
              <a:noFill/>
            </p:spPr>
            <p:txBody>
              <a:bodyPr wrap="square" rtlCol="0">
                <a:spAutoFit/>
              </a:bodyPr>
              <a:lstStyle/>
              <a:p>
                <a:pPr marL="171450" indent="-171450">
                  <a:buFont typeface="Arial" panose="020B0604020202020204" pitchFamily="34" charset="0"/>
                  <a:buChar char="•"/>
                </a:pPr>
                <a:r>
                  <a:rPr lang="en-US" sz="1200" dirty="0"/>
                  <a:t>Amend the objective by </a:t>
                </a:r>
                <a:r>
                  <a:rPr lang="en-US" sz="1200" b="1" dirty="0"/>
                  <a:t>subtracting the accumulated illiquidity penalty</a:t>
                </a:r>
                <a:r>
                  <a:rPr lang="it-IT" sz="1200" dirty="0"/>
                  <a:t>: </a:t>
                </a:r>
                <a14:m>
                  <m:oMath xmlns:m="http://schemas.openxmlformats.org/officeDocument/2006/math">
                    <m:func>
                      <m:funcPr>
                        <m:ctrlPr>
                          <a:rPr lang="it-IT" sz="1200" b="1" i="1">
                            <a:latin typeface="Cambria Math" panose="02040503050406030204" pitchFamily="18" charset="0"/>
                          </a:rPr>
                        </m:ctrlPr>
                      </m:funcPr>
                      <m:fName>
                        <m:limLow>
                          <m:limLowPr>
                            <m:ctrlPr>
                              <a:rPr lang="it-IT" sz="1200" b="1" i="1">
                                <a:latin typeface="Cambria Math" panose="02040503050406030204" pitchFamily="18" charset="0"/>
                              </a:rPr>
                            </m:ctrlPr>
                          </m:limLowPr>
                          <m:e>
                            <m:r>
                              <a:rPr lang="it-IT" sz="1200" b="1" i="1">
                                <a:latin typeface="Cambria Math" panose="02040503050406030204" pitchFamily="18" charset="0"/>
                              </a:rPr>
                              <m:t>𝒎𝒂𝒙</m:t>
                            </m:r>
                          </m:e>
                          <m:lim>
                            <m:r>
                              <a:rPr lang="it-IT" sz="1200" b="1" i="1">
                                <a:latin typeface="Cambria Math" panose="02040503050406030204" pitchFamily="18" charset="0"/>
                              </a:rPr>
                              <m:t>𝒘</m:t>
                            </m:r>
                          </m:lim>
                        </m:limLow>
                      </m:fName>
                      <m:e>
                        <m:sSup>
                          <m:sSupPr>
                            <m:ctrlPr>
                              <a:rPr lang="it-IT" sz="1200" b="1" i="1">
                                <a:latin typeface="Cambria Math" panose="02040503050406030204" pitchFamily="18" charset="0"/>
                              </a:rPr>
                            </m:ctrlPr>
                          </m:sSupPr>
                          <m:e>
                            <m:r>
                              <a:rPr lang="it-IT" sz="1200" b="1" i="1">
                                <a:latin typeface="Cambria Math" panose="02040503050406030204" pitchFamily="18" charset="0"/>
                              </a:rPr>
                              <m:t>𝒘</m:t>
                            </m:r>
                          </m:e>
                          <m:sup>
                            <m:r>
                              <a:rPr lang="it-IT" sz="1200" b="1" i="1">
                                <a:latin typeface="Cambria Math" panose="02040503050406030204" pitchFamily="18" charset="0"/>
                              </a:rPr>
                              <m:t>⊤</m:t>
                            </m:r>
                          </m:sup>
                        </m:sSup>
                        <m:r>
                          <a:rPr lang="it-IT" sz="1200" b="1" i="1">
                            <a:latin typeface="Cambria Math" panose="02040503050406030204" pitchFamily="18" charset="0"/>
                            <a:ea typeface="Cambria Math" panose="02040503050406030204" pitchFamily="18" charset="0"/>
                          </a:rPr>
                          <m:t>𝝁</m:t>
                        </m:r>
                        <m:r>
                          <a:rPr lang="it-IT" sz="1200" b="1" i="1">
                            <a:latin typeface="Cambria Math" panose="02040503050406030204" pitchFamily="18" charset="0"/>
                          </a:rPr>
                          <m:t>−</m:t>
                        </m:r>
                        <m:f>
                          <m:fPr>
                            <m:ctrlPr>
                              <a:rPr lang="it-IT" sz="1200" b="1" i="1">
                                <a:latin typeface="Cambria Math" panose="02040503050406030204" pitchFamily="18" charset="0"/>
                              </a:rPr>
                            </m:ctrlPr>
                          </m:fPr>
                          <m:num>
                            <m:r>
                              <a:rPr lang="it-IT" sz="1200" b="1" i="1">
                                <a:latin typeface="Cambria Math" panose="02040503050406030204" pitchFamily="18" charset="0"/>
                              </a:rPr>
                              <m:t>𝜸</m:t>
                            </m:r>
                          </m:num>
                          <m:den>
                            <m:r>
                              <a:rPr lang="it-IT" sz="1200" b="1" i="1">
                                <a:latin typeface="Cambria Math" panose="02040503050406030204" pitchFamily="18" charset="0"/>
                              </a:rPr>
                              <m:t>𝟐</m:t>
                            </m:r>
                          </m:den>
                        </m:f>
                        <m:r>
                          <m:rPr>
                            <m:nor/>
                          </m:rPr>
                          <a:rPr lang="it-IT" sz="1200" b="1" i="1">
                            <a:latin typeface="Cambria Math" panose="02040503050406030204" pitchFamily="18" charset="0"/>
                          </a:rPr>
                          <m:t> </m:t>
                        </m:r>
                        <m:sSup>
                          <m:sSupPr>
                            <m:ctrlPr>
                              <a:rPr lang="it-IT" sz="1200" b="1" i="1">
                                <a:latin typeface="Cambria Math" panose="02040503050406030204" pitchFamily="18" charset="0"/>
                              </a:rPr>
                            </m:ctrlPr>
                          </m:sSupPr>
                          <m:e>
                            <m:r>
                              <a:rPr lang="it-IT" sz="1200" b="1" i="1">
                                <a:latin typeface="Cambria Math" panose="02040503050406030204" pitchFamily="18" charset="0"/>
                              </a:rPr>
                              <m:t>𝒘</m:t>
                            </m:r>
                          </m:e>
                          <m:sup>
                            <m:r>
                              <a:rPr lang="it-IT" sz="1200" b="1" i="1">
                                <a:latin typeface="Cambria Math" panose="02040503050406030204" pitchFamily="18" charset="0"/>
                              </a:rPr>
                              <m:t>⊤</m:t>
                            </m:r>
                          </m:sup>
                        </m:sSup>
                        <m:r>
                          <a:rPr lang="el-GR" sz="1200" b="1" i="1">
                            <a:latin typeface="Cambria Math" panose="02040503050406030204" pitchFamily="18" charset="0"/>
                            <a:ea typeface="Cambria Math" panose="02040503050406030204" pitchFamily="18" charset="0"/>
                          </a:rPr>
                          <m:t>𝜮</m:t>
                        </m:r>
                        <m:r>
                          <m:rPr>
                            <m:nor/>
                          </m:rPr>
                          <a:rPr lang="it-IT" sz="1200" b="1" i="1">
                            <a:latin typeface="Cambria Math" panose="02040503050406030204" pitchFamily="18" charset="0"/>
                          </a:rPr>
                          <m:t> </m:t>
                        </m:r>
                        <m:r>
                          <a:rPr lang="it-IT" sz="1200" b="1" i="1">
                            <a:latin typeface="Cambria Math" panose="02040503050406030204" pitchFamily="18" charset="0"/>
                          </a:rPr>
                          <m:t>𝒘</m:t>
                        </m:r>
                        <m:r>
                          <a:rPr lang="it-IT" sz="1200" b="1" i="1">
                            <a:latin typeface="Cambria Math" panose="02040503050406030204" pitchFamily="18" charset="0"/>
                          </a:rPr>
                          <m:t>−</m:t>
                        </m:r>
                        <m:r>
                          <a:rPr lang="it-IT" sz="1200" b="1" i="1">
                            <a:latin typeface="Cambria Math" panose="02040503050406030204" pitchFamily="18" charset="0"/>
                          </a:rPr>
                          <m:t>𝑻</m:t>
                        </m:r>
                        <m:d>
                          <m:dPr>
                            <m:ctrlPr>
                              <a:rPr lang="it-IT" sz="1200" b="1" i="1">
                                <a:latin typeface="Cambria Math" panose="02040503050406030204" pitchFamily="18" charset="0"/>
                              </a:rPr>
                            </m:ctrlPr>
                          </m:dPr>
                          <m:e>
                            <m:r>
                              <a:rPr lang="it-IT" sz="1200" b="1" i="1">
                                <a:latin typeface="Cambria Math" panose="02040503050406030204" pitchFamily="18" charset="0"/>
                              </a:rPr>
                              <m:t>𝑳</m:t>
                            </m:r>
                            <m:d>
                              <m:dPr>
                                <m:ctrlPr>
                                  <a:rPr lang="it-IT" sz="1200" b="1" i="1">
                                    <a:latin typeface="Cambria Math" panose="02040503050406030204" pitchFamily="18" charset="0"/>
                                  </a:rPr>
                                </m:ctrlPr>
                              </m:dPr>
                              <m:e>
                                <m:r>
                                  <a:rPr lang="it-IT" sz="1200" b="1" i="1">
                                    <a:latin typeface="Cambria Math" panose="02040503050406030204" pitchFamily="18" charset="0"/>
                                  </a:rPr>
                                  <m:t>𝒘</m:t>
                                </m:r>
                              </m:e>
                            </m:d>
                          </m:e>
                        </m:d>
                      </m:e>
                    </m:func>
                  </m:oMath>
                </a14:m>
                <a:r>
                  <a:rPr lang="it-IT" sz="1200" i="1" dirty="0">
                    <a:latin typeface="Cambria Math" panose="02040503050406030204" pitchFamily="18" charset="0"/>
                  </a:rPr>
                  <a:t>,                        </a:t>
                </a:r>
                <a:r>
                  <a:rPr lang="it-IT" sz="1200" dirty="0" err="1"/>
                  <a:t>where</a:t>
                </a:r>
                <a:r>
                  <a:rPr lang="it-IT" sz="1200" dirty="0"/>
                  <a:t> </a:t>
                </a:r>
                <a14:m>
                  <m:oMath xmlns:m="http://schemas.openxmlformats.org/officeDocument/2006/math">
                    <m:r>
                      <a:rPr lang="it-IT" sz="1200" i="1">
                        <a:latin typeface="Cambria Math" panose="02040503050406030204" pitchFamily="18" charset="0"/>
                      </a:rPr>
                      <m:t>𝐿</m:t>
                    </m:r>
                    <m:r>
                      <a:rPr lang="it-IT" sz="1200" i="1">
                        <a:latin typeface="Cambria Math" panose="02040503050406030204" pitchFamily="18" charset="0"/>
                      </a:rPr>
                      <m:t>=</m:t>
                    </m:r>
                    <m:nary>
                      <m:naryPr>
                        <m:chr m:val="∑"/>
                        <m:limLoc m:val="subSup"/>
                        <m:grow m:val="on"/>
                        <m:ctrlPr>
                          <a:rPr lang="ar-AE" sz="1200" i="1">
                            <a:latin typeface="Cambria Math" panose="02040503050406030204" pitchFamily="18" charset="0"/>
                          </a:rPr>
                        </m:ctrlPr>
                      </m:naryPr>
                      <m:sub>
                        <m:r>
                          <a:rPr lang="ar-AE" sz="1200" i="1">
                            <a:latin typeface="Cambria Math" panose="02040503050406030204" pitchFamily="18" charset="0"/>
                          </a:rPr>
                          <m:t>𝑖</m:t>
                        </m:r>
                        <m:r>
                          <a:rPr lang="ar-AE" sz="1200" i="1">
                            <a:latin typeface="Cambria Math" panose="02040503050406030204" pitchFamily="18" charset="0"/>
                          </a:rPr>
                          <m:t>=</m:t>
                        </m:r>
                        <m:r>
                          <a:rPr lang="ar-AE" sz="1200" i="1">
                            <a:latin typeface="Cambria Math" panose="02040503050406030204" pitchFamily="18" charset="0"/>
                          </a:rPr>
                          <m:t>1</m:t>
                        </m:r>
                      </m:sub>
                      <m:sup>
                        <m:r>
                          <a:rPr lang="ar-AE" sz="1200" i="1">
                            <a:latin typeface="Cambria Math" panose="02040503050406030204" pitchFamily="18" charset="0"/>
                          </a:rPr>
                          <m:t>𝑛</m:t>
                        </m:r>
                      </m:sup>
                      <m:e>
                        <m:sSub>
                          <m:sSubPr>
                            <m:ctrlPr>
                              <a:rPr lang="ar-AE" sz="1200" i="1">
                                <a:latin typeface="Cambria Math" panose="02040503050406030204" pitchFamily="18" charset="0"/>
                              </a:rPr>
                            </m:ctrlPr>
                          </m:sSubPr>
                          <m:e>
                            <m:r>
                              <a:rPr lang="ar-AE" sz="1200" i="1">
                                <a:latin typeface="Cambria Math" panose="02040503050406030204" pitchFamily="18" charset="0"/>
                              </a:rPr>
                              <m:t>𝑤</m:t>
                            </m:r>
                          </m:e>
                          <m:sub>
                            <m:r>
                              <a:rPr lang="ar-AE" sz="1200" i="1">
                                <a:latin typeface="Cambria Math" panose="02040503050406030204" pitchFamily="18" charset="0"/>
                              </a:rPr>
                              <m:t>𝑖</m:t>
                            </m:r>
                          </m:sub>
                        </m:sSub>
                      </m:e>
                    </m:nary>
                    <m:r>
                      <a:rPr lang="ar-AE" sz="1200" i="1">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𝑙</m:t>
                        </m:r>
                      </m:e>
                      <m:sub>
                        <m:r>
                          <a:rPr lang="ar-AE" sz="1200" i="1">
                            <a:latin typeface="Cambria Math" panose="02040503050406030204" pitchFamily="18" charset="0"/>
                          </a:rPr>
                          <m:t>𝑖</m:t>
                        </m:r>
                      </m:sub>
                    </m:sSub>
                  </m:oMath>
                </a14:m>
                <a:r>
                  <a:rPr lang="it-IT" sz="1200" dirty="0"/>
                  <a:t> and </a:t>
                </a:r>
                <a14:m>
                  <m:oMath xmlns:m="http://schemas.openxmlformats.org/officeDocument/2006/math">
                    <m:r>
                      <a:rPr lang="it-IT" sz="1200" i="1">
                        <a:latin typeface="Cambria Math" panose="02040503050406030204" pitchFamily="18" charset="0"/>
                      </a:rPr>
                      <m:t>𝑇</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b="0" i="1" smtClean="0">
                        <a:latin typeface="Cambria Math" panose="02040503050406030204" pitchFamily="18" charset="0"/>
                      </a:rPr>
                      <m:t>=</m:t>
                    </m:r>
                    <m:nary>
                      <m:naryPr>
                        <m:ctrlPr>
                          <a:rPr lang="it-IT" sz="1200" b="0" i="1" smtClean="0">
                            <a:latin typeface="Cambria Math" panose="02040503050406030204" pitchFamily="18" charset="0"/>
                          </a:rPr>
                        </m:ctrlPr>
                      </m:naryPr>
                      <m:sub>
                        <m:r>
                          <m:rPr>
                            <m:brk m:alnAt="23"/>
                          </m:rPr>
                          <a:rPr lang="it-IT" sz="1200" b="0" i="1" smtClean="0">
                            <a:latin typeface="Cambria Math" panose="02040503050406030204" pitchFamily="18" charset="0"/>
                          </a:rPr>
                          <m:t>0</m:t>
                        </m:r>
                      </m:sub>
                      <m:sup>
                        <m:r>
                          <a:rPr lang="it-IT" sz="1200" b="0" i="1" smtClean="0">
                            <a:latin typeface="Cambria Math" panose="02040503050406030204" pitchFamily="18" charset="0"/>
                          </a:rPr>
                          <m:t>𝐿</m:t>
                        </m:r>
                      </m:sup>
                      <m:e>
                        <m:r>
                          <a:rPr lang="it-IT" sz="1200" b="0" i="1" smtClean="0">
                            <a:latin typeface="Cambria Math" panose="02040503050406030204" pitchFamily="18" charset="0"/>
                          </a:rPr>
                          <m:t>𝑐</m:t>
                        </m:r>
                        <m:d>
                          <m:dPr>
                            <m:ctrlPr>
                              <a:rPr lang="it-IT" sz="1200" b="0" i="1" smtClean="0">
                                <a:latin typeface="Cambria Math" panose="02040503050406030204" pitchFamily="18" charset="0"/>
                              </a:rPr>
                            </m:ctrlPr>
                          </m:dPr>
                          <m:e>
                            <m:r>
                              <a:rPr lang="it-IT" sz="1200" b="0" i="1" smtClean="0">
                                <a:latin typeface="Cambria Math" panose="02040503050406030204" pitchFamily="18" charset="0"/>
                              </a:rPr>
                              <m:t>𝑥</m:t>
                            </m:r>
                          </m:e>
                        </m:d>
                        <m:r>
                          <a:rPr lang="it-IT" sz="1200" b="0" i="1" smtClean="0">
                            <a:latin typeface="Cambria Math" panose="02040503050406030204" pitchFamily="18" charset="0"/>
                          </a:rPr>
                          <m:t> </m:t>
                        </m:r>
                        <m:r>
                          <a:rPr lang="it-IT" sz="1200" b="0" i="1" smtClean="0">
                            <a:latin typeface="Cambria Math" panose="02040503050406030204" pitchFamily="18" charset="0"/>
                          </a:rPr>
                          <m:t>𝑑𝑥</m:t>
                        </m:r>
                      </m:e>
                    </m:nary>
                  </m:oMath>
                </a14:m>
                <a:endParaRPr lang="it-IT" sz="1200" i="1" dirty="0">
                  <a:latin typeface="Cambria Math" panose="02040503050406030204" pitchFamily="18" charset="0"/>
                </a:endParaRPr>
              </a:p>
              <a:p>
                <a:endParaRPr lang="it-IT" sz="1200" i="1" dirty="0">
                  <a:latin typeface="Cambria Math" panose="02040503050406030204" pitchFamily="18" charset="0"/>
                </a:endParaRPr>
              </a:p>
              <a:p>
                <a:pPr marL="171450" indent="-171450">
                  <a:buFont typeface="Arial" panose="020B0604020202020204" pitchFamily="34" charset="0"/>
                  <a:buChar char="•"/>
                </a:pPr>
                <a:r>
                  <a:rPr lang="en-US" sz="1200" dirty="0"/>
                  <a:t>As gamma approaches zero, the objective becomes </a:t>
                </a:r>
                <a14:m>
                  <m:oMath xmlns:m="http://schemas.openxmlformats.org/officeDocument/2006/math">
                    <m:sSup>
                      <m:sSupPr>
                        <m:ctrlPr>
                          <a:rPr lang="it-IT" sz="1200" i="1">
                            <a:latin typeface="Cambria Math" panose="02040503050406030204" pitchFamily="18" charset="0"/>
                          </a:rPr>
                        </m:ctrlPr>
                      </m:sSupPr>
                      <m:e>
                        <m:r>
                          <a:rPr lang="it-IT" sz="1200" i="1">
                            <a:latin typeface="Cambria Math" panose="02040503050406030204" pitchFamily="18" charset="0"/>
                          </a:rPr>
                          <m:t>𝑤</m:t>
                        </m:r>
                      </m:e>
                      <m:sup>
                        <m:r>
                          <a:rPr lang="it-IT" sz="1200" i="1" smtClean="0">
                            <a:latin typeface="Cambria Math" panose="02040503050406030204" pitchFamily="18" charset="0"/>
                          </a:rPr>
                          <m:t>⊤</m:t>
                        </m:r>
                      </m:sup>
                    </m:sSup>
                    <m:r>
                      <a:rPr lang="it-IT" sz="1200" i="1">
                        <a:latin typeface="Cambria Math" panose="02040503050406030204" pitchFamily="18" charset="0"/>
                        <a:ea typeface="Cambria Math" panose="02040503050406030204" pitchFamily="18" charset="0"/>
                      </a:rPr>
                      <m:t>𝜇</m:t>
                    </m:r>
                    <m:r>
                      <a:rPr lang="it-IT" sz="1200" i="1">
                        <a:latin typeface="Cambria Math" panose="02040503050406030204" pitchFamily="18" charset="0"/>
                      </a:rPr>
                      <m:t>−</m:t>
                    </m:r>
                    <m:r>
                      <a:rPr lang="it-IT" sz="1200" i="1">
                        <a:latin typeface="Cambria Math" panose="02040503050406030204" pitchFamily="18" charset="0"/>
                      </a:rPr>
                      <m:t>𝑇</m:t>
                    </m:r>
                    <m:d>
                      <m:dPr>
                        <m:ctrlPr>
                          <a:rPr lang="it-IT" sz="1200" i="1">
                            <a:latin typeface="Cambria Math" panose="02040503050406030204" pitchFamily="18" charset="0"/>
                          </a:rPr>
                        </m:ctrlPr>
                      </m:dPr>
                      <m:e>
                        <m:r>
                          <a:rPr lang="it-IT" sz="1200" i="1">
                            <a:latin typeface="Cambria Math" panose="02040503050406030204" pitchFamily="18" charset="0"/>
                          </a:rPr>
                          <m:t>𝐿</m:t>
                        </m:r>
                        <m:d>
                          <m:dPr>
                            <m:ctrlPr>
                              <a:rPr lang="it-IT" sz="1200" i="1">
                                <a:latin typeface="Cambria Math" panose="02040503050406030204" pitchFamily="18" charset="0"/>
                              </a:rPr>
                            </m:ctrlPr>
                          </m:dPr>
                          <m:e>
                            <m:r>
                              <a:rPr lang="it-IT" sz="1200" i="1">
                                <a:latin typeface="Cambria Math" panose="02040503050406030204" pitchFamily="18" charset="0"/>
                              </a:rPr>
                              <m:t>𝑤</m:t>
                            </m:r>
                          </m:e>
                        </m:d>
                      </m:e>
                    </m:d>
                  </m:oMath>
                </a14:m>
                <a:r>
                  <a:rPr lang="en-US" sz="1200" dirty="0"/>
                  <a:t>. The optimizer finds the mix that maximizes return minus the penalty and “stops” there. Lowering gamma further does not change the solution. The point where it stops depends directly on how aggressive the penalty is.</a:t>
                </a:r>
                <a:r>
                  <a:rPr lang="it-IT" sz="1200" dirty="0"/>
                  <a:t> </a:t>
                </a:r>
              </a:p>
            </p:txBody>
          </p:sp>
        </mc:Choice>
        <mc:Fallback>
          <p:sp>
            <p:nvSpPr>
              <p:cNvPr id="14" name="TextBox 13">
                <a:extLst>
                  <a:ext uri="{FF2B5EF4-FFF2-40B4-BE49-F238E27FC236}">
                    <a16:creationId xmlns:a16="http://schemas.microsoft.com/office/drawing/2014/main" id="{FCAD6C1D-E94D-AF8C-9B1F-8F02DD6A4BBD}"/>
                  </a:ext>
                </a:extLst>
              </p:cNvPr>
              <p:cNvSpPr txBox="1">
                <a:spLocks noRot="1" noChangeAspect="1" noMove="1" noResize="1" noEditPoints="1" noAdjustHandles="1" noChangeArrowheads="1" noChangeShapeType="1" noTextEdit="1"/>
              </p:cNvSpPr>
              <p:nvPr/>
            </p:nvSpPr>
            <p:spPr>
              <a:xfrm>
                <a:off x="428652" y="1332885"/>
                <a:ext cx="3393103" cy="2477730"/>
              </a:xfrm>
              <a:prstGeom prst="rect">
                <a:avLst/>
              </a:prstGeom>
              <a:blipFill>
                <a:blip r:embed="rId4"/>
                <a:stretch>
                  <a:fillRect t="-493" r="-718" b="-985"/>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A53817AC-B1B8-8439-BBC8-C9ADF7903DD6}"/>
              </a:ext>
            </a:extLst>
          </p:cNvPr>
          <p:cNvPicPr>
            <a:picLocks noChangeAspect="1"/>
          </p:cNvPicPr>
          <p:nvPr/>
        </p:nvPicPr>
        <p:blipFill>
          <a:blip r:embed="rId5"/>
          <a:stretch>
            <a:fillRect/>
          </a:stretch>
        </p:blipFill>
        <p:spPr>
          <a:xfrm>
            <a:off x="4003598" y="1160605"/>
            <a:ext cx="4711750" cy="2822291"/>
          </a:xfrm>
          <a:prstGeom prst="rect">
            <a:avLst/>
          </a:prstGeom>
        </p:spPr>
      </p:pic>
    </p:spTree>
    <p:extLst>
      <p:ext uri="{BB962C8B-B14F-4D97-AF65-F5344CB8AC3E}">
        <p14:creationId xmlns:p14="http://schemas.microsoft.com/office/powerpoint/2010/main" val="2407350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7869-401F-F546-3A71-86DC9BD0AE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5BA765-1A35-A3BA-AEB7-67903551D5A3}"/>
              </a:ext>
            </a:extLst>
          </p:cNvPr>
          <p:cNvSpPr>
            <a:spLocks noGrp="1"/>
          </p:cNvSpPr>
          <p:nvPr>
            <p:ph type="title"/>
          </p:nvPr>
        </p:nvSpPr>
        <p:spPr>
          <a:xfrm>
            <a:off x="428652" y="435600"/>
            <a:ext cx="8287200" cy="290620"/>
          </a:xfrm>
        </p:spPr>
        <p:txBody>
          <a:bodyPr/>
          <a:lstStyle/>
          <a:p>
            <a:r>
              <a:rPr lang="it-IT" dirty="0" err="1"/>
              <a:t>Efficient</a:t>
            </a:r>
            <a:r>
              <a:rPr lang="it-IT" dirty="0"/>
              <a:t> </a:t>
            </a:r>
            <a:r>
              <a:rPr lang="it-IT" dirty="0" err="1"/>
              <a:t>Frontiers</a:t>
            </a:r>
            <a:r>
              <a:rPr lang="it-IT" dirty="0"/>
              <a:t> &amp; Portfolio </a:t>
            </a:r>
            <a:r>
              <a:rPr lang="it-IT" dirty="0" err="1"/>
              <a:t>Composition</a:t>
            </a:r>
            <a:endParaRPr lang="en-GB" noProof="0" dirty="0"/>
          </a:p>
        </p:txBody>
      </p:sp>
      <p:sp>
        <p:nvSpPr>
          <p:cNvPr id="4" name="Espace réservé du pied de page 3">
            <a:extLst>
              <a:ext uri="{FF2B5EF4-FFF2-40B4-BE49-F238E27FC236}">
                <a16:creationId xmlns:a16="http://schemas.microsoft.com/office/drawing/2014/main" id="{209D9CF0-3172-237B-1F72-5056A21A0DCB}"/>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A71663D4-C2A5-1E25-C54C-755190643A49}"/>
              </a:ext>
            </a:extLst>
          </p:cNvPr>
          <p:cNvSpPr>
            <a:spLocks noGrp="1"/>
          </p:cNvSpPr>
          <p:nvPr>
            <p:ph type="sldNum" sz="quarter" idx="12"/>
          </p:nvPr>
        </p:nvSpPr>
        <p:spPr/>
        <p:txBody>
          <a:bodyPr/>
          <a:lstStyle/>
          <a:p>
            <a:fld id="{2B1C6FFC-D040-034F-8B69-20295064E64D}" type="slidenum">
              <a:rPr lang="fr-FR" smtClean="0"/>
              <a:t>7</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F18001E5-45E7-0F86-E9C6-A4ED96C8E391}"/>
                  </a:ext>
                </a:extLst>
              </p:cNvPr>
              <p:cNvSpPr>
                <a:spLocks noGrp="1"/>
              </p:cNvSpPr>
              <p:nvPr>
                <p:ph type="body" sz="quarter" idx="13"/>
              </p:nvPr>
            </p:nvSpPr>
            <p:spPr/>
            <p:txBody>
              <a:bodyPr/>
              <a:lstStyle/>
              <a:p>
                <a:r>
                  <a:rPr lang="it-IT" dirty="0"/>
                  <a:t>Portfolio </a:t>
                </a:r>
                <a:r>
                  <a:rPr lang="it-IT" dirty="0" err="1"/>
                  <a:t>Composition</a:t>
                </a:r>
                <a:r>
                  <a:rPr lang="it-IT" dirty="0"/>
                  <a:t> by </a:t>
                </a:r>
                <a14:m>
                  <m:oMath xmlns:m="http://schemas.openxmlformats.org/officeDocument/2006/math">
                    <m:r>
                      <a:rPr lang="it-IT" i="1">
                        <a:latin typeface="Cambria Math" panose="02040503050406030204" pitchFamily="18" charset="0"/>
                      </a:rPr>
                      <m:t>𝐿</m:t>
                    </m:r>
                    <m:r>
                      <m:rPr>
                        <m:nor/>
                      </m:rPr>
                      <a:rPr lang="it-IT" b="0" i="0" smtClean="0">
                        <a:latin typeface="Cambria Math" panose="02040503050406030204" pitchFamily="18" charset="0"/>
                      </a:rPr>
                      <m:t> </m:t>
                    </m:r>
                    <m:r>
                      <m:rPr>
                        <m:nor/>
                      </m:rPr>
                      <a:rPr lang="en-GB" i="0" dirty="0"/>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rPr>
                      <m:t>=</m:t>
                    </m:r>
                    <m:r>
                      <a:rPr lang="it-IT" i="1">
                        <a:latin typeface="Cambria Math" panose="02040503050406030204" pitchFamily="18" charset="0"/>
                      </a:rPr>
                      <m:t>0.05,   </m:t>
                    </m:r>
                    <m:r>
                      <a:rPr lang="it-IT" i="1">
                        <a:latin typeface="Cambria Math" panose="02040503050406030204" pitchFamily="18" charset="0"/>
                        <a:ea typeface="Cambria Math" panose="02040503050406030204" pitchFamily="18" charset="0"/>
                      </a:rPr>
                      <m:t>𝛽</m:t>
                    </m:r>
                    <m:r>
                      <a:rPr lang="it-IT" i="1">
                        <a:latin typeface="Cambria Math" panose="02040503050406030204" pitchFamily="18" charset="0"/>
                        <a:ea typeface="Cambria Math" panose="02040503050406030204" pitchFamily="18" charset="0"/>
                      </a:rPr>
                      <m:t>=1.6)</m:t>
                    </m:r>
                  </m:oMath>
                </a14:m>
                <a:endParaRPr lang="en-GB" dirty="0"/>
              </a:p>
            </p:txBody>
          </p:sp>
        </mc:Choice>
        <mc:Fallback xmlns="">
          <p:sp>
            <p:nvSpPr>
              <p:cNvPr id="6" name="Espace réservé du texte 5">
                <a:extLst>
                  <a:ext uri="{FF2B5EF4-FFF2-40B4-BE49-F238E27FC236}">
                    <a16:creationId xmlns:a16="http://schemas.microsoft.com/office/drawing/2014/main" id="{F18001E5-45E7-0F86-E9C6-A4ED96C8E391}"/>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p:pic>
        <p:nvPicPr>
          <p:cNvPr id="7" name="Picture 6">
            <a:extLst>
              <a:ext uri="{FF2B5EF4-FFF2-40B4-BE49-F238E27FC236}">
                <a16:creationId xmlns:a16="http://schemas.microsoft.com/office/drawing/2014/main" id="{CCED71D3-3709-D906-9ACA-51B5075B785B}"/>
              </a:ext>
            </a:extLst>
          </p:cNvPr>
          <p:cNvPicPr>
            <a:picLocks noChangeAspect="1"/>
          </p:cNvPicPr>
          <p:nvPr/>
        </p:nvPicPr>
        <p:blipFill>
          <a:blip r:embed="rId4"/>
          <a:stretch>
            <a:fillRect/>
          </a:stretch>
        </p:blipFill>
        <p:spPr>
          <a:xfrm>
            <a:off x="428652" y="1124636"/>
            <a:ext cx="5468914" cy="3549862"/>
          </a:xfrm>
          <a:prstGeom prst="rect">
            <a:avLst/>
          </a:prstGeom>
        </p:spPr>
      </p:pic>
      <p:sp>
        <p:nvSpPr>
          <p:cNvPr id="11" name="TextBox 10">
            <a:extLst>
              <a:ext uri="{FF2B5EF4-FFF2-40B4-BE49-F238E27FC236}">
                <a16:creationId xmlns:a16="http://schemas.microsoft.com/office/drawing/2014/main" id="{6F6EAA16-5B0E-0600-95C4-C2B46C1124FE}"/>
              </a:ext>
            </a:extLst>
          </p:cNvPr>
          <p:cNvSpPr txBox="1"/>
          <p:nvPr/>
        </p:nvSpPr>
        <p:spPr>
          <a:xfrm>
            <a:off x="5897566" y="1283740"/>
            <a:ext cx="2818288" cy="3231654"/>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penalty reduces PE allocation and compresses the achievable return range, with GLOB_EQ emerging as the preferred liquid substitute given its high correlation with PE (ρ = 0.87) at a fraction of the illiquidity cost.</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Only the Power penalty delivers stable, economically consistent allocations - Exponential collapses the frontier to an implausibly narrow return range, while Quadratic shows erratic composition spikes - confirming Power as the appropriate functional form.</a:t>
            </a:r>
            <a:endParaRPr lang="it-IT" sz="1200" dirty="0"/>
          </a:p>
        </p:txBody>
      </p:sp>
    </p:spTree>
    <p:extLst>
      <p:ext uri="{BB962C8B-B14F-4D97-AF65-F5344CB8AC3E}">
        <p14:creationId xmlns:p14="http://schemas.microsoft.com/office/powerpoint/2010/main" val="80689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5C018-060B-6221-BD5A-2E6E05BBA3C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0A66260-79E2-9971-3AB8-544F97ED8623}"/>
              </a:ext>
            </a:extLst>
          </p:cNvPr>
          <p:cNvSpPr>
            <a:spLocks noGrp="1"/>
          </p:cNvSpPr>
          <p:nvPr>
            <p:ph type="title"/>
          </p:nvPr>
        </p:nvSpPr>
        <p:spPr/>
        <p:txBody>
          <a:bodyPr/>
          <a:lstStyle/>
          <a:p>
            <a:r>
              <a:rPr lang="it-IT" dirty="0" err="1"/>
              <a:t>Simulation</a:t>
            </a:r>
            <a:r>
              <a:rPr lang="it-IT" dirty="0"/>
              <a:t>, </a:t>
            </a:r>
            <a:r>
              <a:rPr lang="it-IT" dirty="0" err="1"/>
              <a:t>Aggregation</a:t>
            </a:r>
            <a:r>
              <a:rPr lang="it-IT" dirty="0"/>
              <a:t> &amp; Fitting</a:t>
            </a:r>
          </a:p>
        </p:txBody>
      </p:sp>
      <p:sp>
        <p:nvSpPr>
          <p:cNvPr id="4" name="Espace réservé du pied de page 3">
            <a:extLst>
              <a:ext uri="{FF2B5EF4-FFF2-40B4-BE49-F238E27FC236}">
                <a16:creationId xmlns:a16="http://schemas.microsoft.com/office/drawing/2014/main" id="{9A304B80-6580-B344-F358-80CBD29BC1EF}"/>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AE14F486-4A84-9490-AABF-9224CF7355C1}"/>
              </a:ext>
            </a:extLst>
          </p:cNvPr>
          <p:cNvSpPr>
            <a:spLocks noGrp="1"/>
          </p:cNvSpPr>
          <p:nvPr>
            <p:ph type="sldNum" sz="quarter" idx="12"/>
          </p:nvPr>
        </p:nvSpPr>
        <p:spPr/>
        <p:txBody>
          <a:bodyPr/>
          <a:lstStyle/>
          <a:p>
            <a:fld id="{2B1C6FFC-D040-034F-8B69-20295064E64D}" type="slidenum">
              <a:rPr lang="fr-FR" smtClean="0"/>
              <a:t>8</a:t>
            </a:fld>
            <a:endParaRPr lang="fr-FR" dirty="0"/>
          </a:p>
        </p:txBody>
      </p:sp>
      <p:sp>
        <p:nvSpPr>
          <p:cNvPr id="6" name="Espace réservé du texte 5">
            <a:extLst>
              <a:ext uri="{FF2B5EF4-FFF2-40B4-BE49-F238E27FC236}">
                <a16:creationId xmlns:a16="http://schemas.microsoft.com/office/drawing/2014/main" id="{D14020F2-97D6-F870-049A-5A1CC817C928}"/>
              </a:ext>
            </a:extLst>
          </p:cNvPr>
          <p:cNvSpPr>
            <a:spLocks noGrp="1"/>
          </p:cNvSpPr>
          <p:nvPr>
            <p:ph type="body" sz="quarter" idx="13"/>
          </p:nvPr>
        </p:nvSpPr>
        <p:spPr/>
        <p:txBody>
          <a:bodyPr/>
          <a:lstStyle/>
          <a:p>
            <a:r>
              <a:rPr lang="it-IT" dirty="0" err="1"/>
              <a:t>Simulation</a:t>
            </a:r>
            <a:r>
              <a:rPr lang="it-IT" dirty="0"/>
              <a:t> Design (1/2): </a:t>
            </a:r>
            <a:r>
              <a:rPr lang="it-IT" dirty="0" err="1"/>
              <a:t>Stochastic</a:t>
            </a:r>
            <a:r>
              <a:rPr lang="it-IT" dirty="0"/>
              <a:t> Dynamics</a:t>
            </a:r>
          </a:p>
          <a:p>
            <a:endParaRPr lang="it-IT" dirty="0"/>
          </a:p>
          <a:p>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957474-E3BE-8AC3-3893-0E3156A1B361}"/>
                  </a:ext>
                </a:extLst>
              </p:cNvPr>
              <p:cNvSpPr txBox="1"/>
              <p:nvPr/>
            </p:nvSpPr>
            <p:spPr>
              <a:xfrm>
                <a:off x="337899" y="1073014"/>
                <a:ext cx="8377447" cy="830997"/>
              </a:xfrm>
              <a:prstGeom prst="rect">
                <a:avLst/>
              </a:prstGeom>
              <a:noFill/>
            </p:spPr>
            <p:txBody>
              <a:bodyPr wrap="square">
                <a:spAutoFit/>
              </a:bodyPr>
              <a:lstStyle/>
              <a:p>
                <a:pPr marL="171450" indent="-171450">
                  <a:buFont typeface="Arial" panose="020B0604020202020204" pitchFamily="34" charset="0"/>
                  <a:buChar char="•"/>
                </a:pPr>
                <a:r>
                  <a:rPr lang="en-US" sz="1200" dirty="0"/>
                  <a:t>We </a:t>
                </a:r>
                <a:r>
                  <a:rPr lang="en-US" sz="1200" b="1" dirty="0"/>
                  <a:t>estimate </a:t>
                </a:r>
                <a14:m>
                  <m:oMath xmlns:m="http://schemas.openxmlformats.org/officeDocument/2006/math">
                    <m:r>
                      <a:rPr lang="it-IT" sz="1200" i="1">
                        <a:latin typeface="Cambria Math" panose="02040503050406030204" pitchFamily="18" charset="0"/>
                      </a:rPr>
                      <m:t>𝑐</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b="0" i="1" smtClean="0">
                        <a:latin typeface="Cambria Math" panose="02040503050406030204" pitchFamily="18" charset="0"/>
                      </a:rPr>
                      <m:t> </m:t>
                    </m:r>
                  </m:oMath>
                </a14:m>
                <a:r>
                  <a:rPr lang="en-US" sz="1200" b="1" dirty="0"/>
                  <a:t>empirically </a:t>
                </a:r>
                <a:r>
                  <a:rPr lang="en-US" sz="1200" dirty="0"/>
                  <a:t>by simulating realistic portfolio dynamics. For each target illiquidity level </a:t>
                </a:r>
                <a14:m>
                  <m:oMath xmlns:m="http://schemas.openxmlformats.org/officeDocument/2006/math">
                    <m:r>
                      <a:rPr lang="it-IT" sz="1200">
                        <a:latin typeface="Cambria Math" panose="02040503050406030204" pitchFamily="18" charset="0"/>
                      </a:rPr>
                      <m:t>𝐿</m:t>
                    </m:r>
                  </m:oMath>
                </a14:m>
                <a:r>
                  <a:rPr lang="en-US" sz="1200" dirty="0"/>
                  <a:t>, we run        </a:t>
                </a:r>
                <a14:m>
                  <m:oMath xmlns:m="http://schemas.openxmlformats.org/officeDocument/2006/math">
                    <m:r>
                      <a:rPr lang="it-IT" sz="1200" b="0" i="0" smtClean="0">
                        <a:latin typeface="Cambria Math" panose="02040503050406030204" pitchFamily="18" charset="0"/>
                      </a:rPr>
                      <m:t> </m:t>
                    </m:r>
                    <m:r>
                      <a:rPr lang="it-IT" sz="1200">
                        <a:latin typeface="Cambria Math" panose="02040503050406030204" pitchFamily="18" charset="0"/>
                      </a:rPr>
                      <m:t>𝑁</m:t>
                    </m:r>
                    <m:r>
                      <a:rPr lang="it-IT" sz="1200">
                        <a:latin typeface="Cambria Math" panose="02040503050406030204" pitchFamily="18" charset="0"/>
                      </a:rPr>
                      <m:t>=1000</m:t>
                    </m:r>
                  </m:oMath>
                </a14:m>
                <a:r>
                  <a:rPr lang="en-US" sz="1200" dirty="0"/>
                  <a:t> Monte Carlo scenarios over a 20-year horizon and measure </a:t>
                </a:r>
                <a:r>
                  <a:rPr lang="en-US" sz="1200" b="1" dirty="0"/>
                  <a:t>the average annual return foregone </a:t>
                </a:r>
                <a:r>
                  <a:rPr lang="en-US" sz="1200" dirty="0"/>
                  <a:t>by </a:t>
                </a:r>
                <a:r>
                  <a:rPr lang="en-US" sz="1200" b="1" dirty="0"/>
                  <a:t>operating under lock-up constraints </a:t>
                </a:r>
                <a:r>
                  <a:rPr lang="en-US" sz="1200" dirty="0"/>
                  <a:t>relative to an </a:t>
                </a:r>
                <a:r>
                  <a:rPr lang="en-US" sz="1200" b="1" dirty="0"/>
                  <a:t>unconstrained benchmark</a:t>
                </a:r>
                <a:r>
                  <a:rPr lang="en-US" sz="1200" b="0" i="0" dirty="0">
                    <a:effectLst/>
                    <a:latin typeface="ui-sans-serif"/>
                  </a:rPr>
                  <a:t>. </a:t>
                </a:r>
              </a:p>
              <a:p>
                <a:pPr marL="171450" indent="-171450">
                  <a:buFont typeface="Arial" panose="020B0604020202020204" pitchFamily="34" charset="0"/>
                  <a:buChar char="•"/>
                </a:pPr>
                <a:endParaRPr lang="it-IT" sz="1200" dirty="0"/>
              </a:p>
            </p:txBody>
          </p:sp>
        </mc:Choice>
        <mc:Fallback xmlns="">
          <p:sp>
            <p:nvSpPr>
              <p:cNvPr id="8" name="TextBox 7">
                <a:extLst>
                  <a:ext uri="{FF2B5EF4-FFF2-40B4-BE49-F238E27FC236}">
                    <a16:creationId xmlns:a16="http://schemas.microsoft.com/office/drawing/2014/main" id="{1C957474-E3BE-8AC3-3893-0E3156A1B361}"/>
                  </a:ext>
                </a:extLst>
              </p:cNvPr>
              <p:cNvSpPr txBox="1">
                <a:spLocks noRot="1" noChangeAspect="1" noMove="1" noResize="1" noEditPoints="1" noAdjustHandles="1" noChangeArrowheads="1" noChangeShapeType="1" noTextEdit="1"/>
              </p:cNvSpPr>
              <p:nvPr/>
            </p:nvSpPr>
            <p:spPr>
              <a:xfrm>
                <a:off x="337899" y="1073014"/>
                <a:ext cx="8377447" cy="830997"/>
              </a:xfrm>
              <a:prstGeom prst="rect">
                <a:avLst/>
              </a:prstGeom>
              <a:blipFill>
                <a:blip r:embed="rId3"/>
                <a:stretch>
                  <a:fillRect t="-735"/>
                </a:stretch>
              </a:blipFill>
            </p:spPr>
            <p:txBody>
              <a:bodyPr/>
              <a:lstStyle/>
              <a:p>
                <a:r>
                  <a:rPr lang="en-GB">
                    <a:noFill/>
                  </a:rPr>
                  <a:t> </a:t>
                </a:r>
              </a:p>
            </p:txBody>
          </p:sp>
        </mc:Fallback>
      </mc:AlternateContent>
      <p:grpSp>
        <p:nvGrpSpPr>
          <p:cNvPr id="17" name="Group 16">
            <a:extLst>
              <a:ext uri="{FF2B5EF4-FFF2-40B4-BE49-F238E27FC236}">
                <a16:creationId xmlns:a16="http://schemas.microsoft.com/office/drawing/2014/main" id="{8132E53B-390D-7EDD-B224-615ABC6E4528}"/>
              </a:ext>
            </a:extLst>
          </p:cNvPr>
          <p:cNvGrpSpPr/>
          <p:nvPr/>
        </p:nvGrpSpPr>
        <p:grpSpPr>
          <a:xfrm>
            <a:off x="428654" y="1870471"/>
            <a:ext cx="3922698" cy="2607928"/>
            <a:chOff x="428399" y="2351138"/>
            <a:chExt cx="3922698" cy="2426938"/>
          </a:xfrm>
        </p:grpSpPr>
        <p:sp>
          <p:nvSpPr>
            <p:cNvPr id="11" name="Rectangle: Top Corners Rounded 10">
              <a:extLst>
                <a:ext uri="{FF2B5EF4-FFF2-40B4-BE49-F238E27FC236}">
                  <a16:creationId xmlns:a16="http://schemas.microsoft.com/office/drawing/2014/main" id="{1D8CBE2D-DBCE-8040-B591-4F4916E577BE}"/>
                </a:ext>
              </a:extLst>
            </p:cNvPr>
            <p:cNvSpPr/>
            <p:nvPr/>
          </p:nvSpPr>
          <p:spPr>
            <a:xfrm>
              <a:off x="428399" y="2388717"/>
              <a:ext cx="3922696" cy="2389359"/>
            </a:xfrm>
            <a:prstGeom prst="round2SameRect">
              <a:avLst>
                <a:gd name="adj1" fmla="val 8835"/>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Top Corners Rounded 11">
              <a:extLst>
                <a:ext uri="{FF2B5EF4-FFF2-40B4-BE49-F238E27FC236}">
                  <a16:creationId xmlns:a16="http://schemas.microsoft.com/office/drawing/2014/main" id="{56DE1454-A3FA-0D89-BDE6-571E9C1BE226}"/>
                </a:ext>
              </a:extLst>
            </p:cNvPr>
            <p:cNvSpPr/>
            <p:nvPr/>
          </p:nvSpPr>
          <p:spPr>
            <a:xfrm>
              <a:off x="428399" y="2351138"/>
              <a:ext cx="3922698" cy="233003"/>
            </a:xfrm>
            <a:prstGeom prst="round2SameRect">
              <a:avLst>
                <a:gd name="adj1" fmla="val 46979"/>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noProof="0" dirty="0"/>
                <a:t>Asset returns</a:t>
              </a:r>
              <a:endParaRPr lang="en-US" sz="1050" noProof="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0C2E582-C1E9-C009-81BD-B128730579D7}"/>
                    </a:ext>
                  </a:extLst>
                </p:cNvPr>
                <p:cNvSpPr txBox="1"/>
                <p:nvPr/>
              </p:nvSpPr>
              <p:spPr>
                <a:xfrm>
                  <a:off x="720859" y="2693582"/>
                  <a:ext cx="3337775" cy="1775785"/>
                </a:xfrm>
                <a:prstGeom prst="rect">
                  <a:avLst/>
                </a:prstGeom>
                <a:noFill/>
              </p:spPr>
              <p:txBody>
                <a:bodyPr wrap="square" rtlCol="0">
                  <a:spAutoFit/>
                </a:bodyPr>
                <a:lstStyle/>
                <a:p>
                  <a:pPr marL="6350" algn="ctr"/>
                  <a:r>
                    <a:rPr lang="en-GB" sz="1200" dirty="0"/>
                    <a:t>At each time step, asset returns are drawn from a multivariate normal distribution:</a:t>
                  </a:r>
                </a:p>
                <a:p>
                  <a:pPr marL="6350" algn="ctr"/>
                  <a:endParaRPr lang="en-GB" sz="1100" dirty="0"/>
                </a:p>
                <a:p>
                  <a:pPr marL="6350" algn="ctr"/>
                  <a14:m>
                    <m:oMath xmlns:m="http://schemas.openxmlformats.org/officeDocument/2006/math">
                      <m:sSub>
                        <m:sSubPr>
                          <m:ctrlPr>
                            <a:rPr lang="en-GB" sz="1200" b="1" i="1">
                              <a:latin typeface="Cambria Math" panose="02040503050406030204" pitchFamily="18" charset="0"/>
                            </a:rPr>
                          </m:ctrlPr>
                        </m:sSubPr>
                        <m:e>
                          <m:r>
                            <a:rPr lang="en-GB" sz="1200" b="1" i="1">
                              <a:latin typeface="Cambria Math" panose="02040503050406030204" pitchFamily="18" charset="0"/>
                            </a:rPr>
                            <m:t>𝒓</m:t>
                          </m:r>
                        </m:e>
                        <m:sub>
                          <m:r>
                            <a:rPr lang="en-GB" sz="1200" b="1" i="1">
                              <a:latin typeface="Cambria Math" panose="02040503050406030204" pitchFamily="18" charset="0"/>
                            </a:rPr>
                            <m:t>𝒕</m:t>
                          </m:r>
                        </m:sub>
                      </m:sSub>
                      <m:r>
                        <a:rPr lang="en-GB" sz="1200" b="1" i="1">
                          <a:latin typeface="Cambria Math" panose="02040503050406030204" pitchFamily="18" charset="0"/>
                        </a:rPr>
                        <m:t>=</m:t>
                      </m:r>
                      <m:r>
                        <a:rPr lang="en-GB" sz="1200" b="1" i="1">
                          <a:latin typeface="Cambria Math" panose="02040503050406030204" pitchFamily="18" charset="0"/>
                        </a:rPr>
                        <m:t>𝝁</m:t>
                      </m:r>
                      <m:r>
                        <a:rPr lang="en-GB" sz="1200" b="1" i="1">
                          <a:latin typeface="Cambria Math" panose="02040503050406030204" pitchFamily="18" charset="0"/>
                        </a:rPr>
                        <m:t>+</m:t>
                      </m:r>
                      <m:r>
                        <a:rPr lang="en-GB" sz="1200" b="1" i="1">
                          <a:latin typeface="Cambria Math" panose="02040503050406030204" pitchFamily="18" charset="0"/>
                        </a:rPr>
                        <m:t>𝑪</m:t>
                      </m:r>
                      <m:r>
                        <a:rPr lang="en-GB" sz="1200" b="1" i="1" smtClean="0">
                          <a:latin typeface="Cambria Math" panose="02040503050406030204" pitchFamily="18" charset="0"/>
                          <a:ea typeface="Cambria Math" panose="02040503050406030204" pitchFamily="18" charset="0"/>
                        </a:rPr>
                        <m:t>∙</m:t>
                      </m:r>
                      <m:sSub>
                        <m:sSubPr>
                          <m:ctrlPr>
                            <a:rPr lang="en-GB" sz="1200" b="1" i="1">
                              <a:latin typeface="Cambria Math" panose="02040503050406030204" pitchFamily="18" charset="0"/>
                            </a:rPr>
                          </m:ctrlPr>
                        </m:sSubPr>
                        <m:e>
                          <m:r>
                            <a:rPr lang="en-GB" sz="1200" b="1" i="1">
                              <a:latin typeface="Cambria Math" panose="02040503050406030204" pitchFamily="18" charset="0"/>
                            </a:rPr>
                            <m:t>𝒛</m:t>
                          </m:r>
                        </m:e>
                        <m:sub>
                          <m:r>
                            <a:rPr lang="en-GB" sz="1200" b="1" i="1">
                              <a:latin typeface="Cambria Math" panose="02040503050406030204" pitchFamily="18" charset="0"/>
                            </a:rPr>
                            <m:t>𝒕</m:t>
                          </m:r>
                        </m:sub>
                      </m:sSub>
                    </m:oMath>
                  </a14:m>
                  <a:r>
                    <a:rPr lang="en-GB" sz="1100" dirty="0"/>
                    <a:t>, </a:t>
                  </a:r>
                  <a14:m>
                    <m:oMath xmlns:m="http://schemas.openxmlformats.org/officeDocument/2006/math">
                      <m:sSub>
                        <m:sSubPr>
                          <m:ctrlPr>
                            <a:rPr lang="en-GB" sz="1200" b="1" i="1">
                              <a:latin typeface="Cambria Math" panose="02040503050406030204" pitchFamily="18" charset="0"/>
                            </a:rPr>
                          </m:ctrlPr>
                        </m:sSubPr>
                        <m:e>
                          <m:r>
                            <a:rPr lang="en-GB" sz="1200" b="1" i="1">
                              <a:latin typeface="Cambria Math" panose="02040503050406030204" pitchFamily="18" charset="0"/>
                            </a:rPr>
                            <m:t>𝒛</m:t>
                          </m:r>
                        </m:e>
                        <m:sub>
                          <m:r>
                            <a:rPr lang="en-GB" sz="1200" b="1" i="1">
                              <a:latin typeface="Cambria Math" panose="02040503050406030204" pitchFamily="18" charset="0"/>
                            </a:rPr>
                            <m:t>𝒕</m:t>
                          </m:r>
                        </m:sub>
                      </m:sSub>
                      <m:r>
                        <a:rPr lang="en-GB" sz="1200" b="1" i="1">
                          <a:latin typeface="Cambria Math" panose="02040503050406030204" pitchFamily="18" charset="0"/>
                        </a:rPr>
                        <m:t>∼</m:t>
                      </m:r>
                      <m:r>
                        <a:rPr lang="en-GB" sz="1200" b="1" i="1">
                          <a:latin typeface="Cambria Math" panose="02040503050406030204" pitchFamily="18" charset="0"/>
                        </a:rPr>
                        <m:t>𝓝</m:t>
                      </m:r>
                      <m:d>
                        <m:dPr>
                          <m:ctrlPr>
                            <a:rPr lang="en-GB" sz="1200" b="1" i="1" smtClean="0">
                              <a:latin typeface="Cambria Math" panose="02040503050406030204" pitchFamily="18" charset="0"/>
                            </a:rPr>
                          </m:ctrlPr>
                        </m:dPr>
                        <m:e>
                          <m:r>
                            <a:rPr lang="it-IT" sz="1200" b="1" i="1" smtClean="0">
                              <a:latin typeface="Cambria Math" panose="02040503050406030204" pitchFamily="18" charset="0"/>
                            </a:rPr>
                            <m:t>𝟎</m:t>
                          </m:r>
                          <m:r>
                            <a:rPr lang="it-IT" sz="1200" b="1" i="1" smtClean="0">
                              <a:latin typeface="Cambria Math" panose="02040503050406030204" pitchFamily="18" charset="0"/>
                            </a:rPr>
                            <m:t>, </m:t>
                          </m:r>
                          <m:r>
                            <a:rPr lang="it-IT" sz="1200" b="1" i="1" smtClean="0">
                              <a:latin typeface="Cambria Math" panose="02040503050406030204" pitchFamily="18" charset="0"/>
                            </a:rPr>
                            <m:t>𝟏</m:t>
                          </m:r>
                        </m:e>
                      </m:d>
                    </m:oMath>
                  </a14:m>
                  <a:endParaRPr lang="en-GB" sz="1100" b="1" dirty="0"/>
                </a:p>
                <a:p>
                  <a:pPr marL="6350" algn="ctr"/>
                  <a:endParaRPr lang="en-GB" sz="1100" b="1" dirty="0"/>
                </a:p>
                <a:p>
                  <a:pPr marL="6350" algn="ctr"/>
                  <a:r>
                    <a:rPr lang="en-GB" sz="1200" dirty="0"/>
                    <a:t>where </a:t>
                  </a:r>
                  <a14:m>
                    <m:oMath xmlns:m="http://schemas.openxmlformats.org/officeDocument/2006/math">
                      <m:r>
                        <a:rPr lang="en-GB" sz="1200">
                          <a:latin typeface="Cambria Math" panose="02040503050406030204" pitchFamily="18" charset="0"/>
                        </a:rPr>
                        <m:t>𝑪</m:t>
                      </m:r>
                    </m:oMath>
                  </a14:m>
                  <a:r>
                    <a:rPr lang="en-GB" sz="1200" dirty="0"/>
                    <a:t> is the Cholesky decomposition of </a:t>
                  </a:r>
                  <a14:m>
                    <m:oMath xmlns:m="http://schemas.openxmlformats.org/officeDocument/2006/math">
                      <m:r>
                        <a:rPr lang="el-GR" sz="1200" b="1" i="1">
                          <a:latin typeface="Cambria Math" panose="02040503050406030204" pitchFamily="18" charset="0"/>
                        </a:rPr>
                        <m:t>𝚺</m:t>
                      </m:r>
                    </m:oMath>
                  </a14:m>
                  <a:r>
                    <a:rPr lang="en-GB" sz="1200" dirty="0"/>
                    <a:t>,</a:t>
                  </a:r>
                  <a:br>
                    <a:rPr lang="en-GB" sz="1200" dirty="0"/>
                  </a:br>
                  <a:r>
                    <a:rPr lang="en-GB" sz="1200" dirty="0"/>
                    <a:t>so that cross-asset correlations are preserved exactly. </a:t>
                  </a:r>
                </a:p>
                <a:p>
                  <a:pPr marL="6350" algn="ctr"/>
                  <a:r>
                    <a:rPr lang="en-GB" sz="1200" dirty="0"/>
                    <a:t>The vector </a:t>
                  </a:r>
                  <a14:m>
                    <m:oMath xmlns:m="http://schemas.openxmlformats.org/officeDocument/2006/math">
                      <m:r>
                        <a:rPr lang="en-GB" sz="1200">
                          <a:latin typeface="Cambria Math" panose="02040503050406030204" pitchFamily="18" charset="0"/>
                        </a:rPr>
                        <m:t>𝝁</m:t>
                      </m:r>
                      <m:r>
                        <a:rPr lang="en-GB" sz="1200">
                          <a:latin typeface="Cambria Math" panose="02040503050406030204" pitchFamily="18" charset="0"/>
                        </a:rPr>
                        <m:t> </m:t>
                      </m:r>
                    </m:oMath>
                  </a14:m>
                  <a:r>
                    <a:rPr lang="en-GB" sz="1200" dirty="0"/>
                    <a:t>contains the expected returns from Amundi’s CMA.</a:t>
                  </a:r>
                </a:p>
              </p:txBody>
            </p:sp>
          </mc:Choice>
          <mc:Fallback xmlns="">
            <p:sp>
              <p:nvSpPr>
                <p:cNvPr id="13" name="TextBox 12">
                  <a:extLst>
                    <a:ext uri="{FF2B5EF4-FFF2-40B4-BE49-F238E27FC236}">
                      <a16:creationId xmlns:a16="http://schemas.microsoft.com/office/drawing/2014/main" id="{B0C2E582-C1E9-C009-81BD-B128730579D7}"/>
                    </a:ext>
                  </a:extLst>
                </p:cNvPr>
                <p:cNvSpPr txBox="1">
                  <a:spLocks noRot="1" noChangeAspect="1" noMove="1" noResize="1" noEditPoints="1" noAdjustHandles="1" noChangeArrowheads="1" noChangeShapeType="1" noTextEdit="1"/>
                </p:cNvSpPr>
                <p:nvPr/>
              </p:nvSpPr>
              <p:spPr>
                <a:xfrm>
                  <a:off x="720859" y="2693582"/>
                  <a:ext cx="3337775" cy="1775785"/>
                </a:xfrm>
                <a:prstGeom prst="rect">
                  <a:avLst/>
                </a:prstGeom>
                <a:blipFill>
                  <a:blip r:embed="rId4"/>
                  <a:stretch>
                    <a:fillRect t="-319" r="-365" b="-1278"/>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97C41B3B-74CB-56D9-C99D-54337B743693}"/>
              </a:ext>
            </a:extLst>
          </p:cNvPr>
          <p:cNvGrpSpPr/>
          <p:nvPr/>
        </p:nvGrpSpPr>
        <p:grpSpPr>
          <a:xfrm>
            <a:off x="4793152" y="1870470"/>
            <a:ext cx="3922700" cy="2607929"/>
            <a:chOff x="4792647" y="1750763"/>
            <a:chExt cx="3922700" cy="2426937"/>
          </a:xfrm>
        </p:grpSpPr>
        <p:sp>
          <p:nvSpPr>
            <p:cNvPr id="14" name="Rectangle: Top Corners Rounded 13">
              <a:extLst>
                <a:ext uri="{FF2B5EF4-FFF2-40B4-BE49-F238E27FC236}">
                  <a16:creationId xmlns:a16="http://schemas.microsoft.com/office/drawing/2014/main" id="{8C211B6C-D5A5-D865-C8A8-85A84DBB1C90}"/>
                </a:ext>
              </a:extLst>
            </p:cNvPr>
            <p:cNvSpPr/>
            <p:nvPr/>
          </p:nvSpPr>
          <p:spPr>
            <a:xfrm>
              <a:off x="4792647" y="1832893"/>
              <a:ext cx="3922696" cy="2344807"/>
            </a:xfrm>
            <a:prstGeom prst="round2SameRect">
              <a:avLst>
                <a:gd name="adj1" fmla="val 8835"/>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dirty="0"/>
            </a:p>
          </p:txBody>
        </p:sp>
        <p:sp>
          <p:nvSpPr>
            <p:cNvPr id="15" name="Rectangle: Top Corners Rounded 14">
              <a:extLst>
                <a:ext uri="{FF2B5EF4-FFF2-40B4-BE49-F238E27FC236}">
                  <a16:creationId xmlns:a16="http://schemas.microsoft.com/office/drawing/2014/main" id="{AA8FFA0C-9F27-92AA-4819-671DB320B610}"/>
                </a:ext>
              </a:extLst>
            </p:cNvPr>
            <p:cNvSpPr/>
            <p:nvPr/>
          </p:nvSpPr>
          <p:spPr>
            <a:xfrm>
              <a:off x="4792649" y="1750763"/>
              <a:ext cx="3922698" cy="233002"/>
            </a:xfrm>
            <a:prstGeom prst="round2SameRect">
              <a:avLst>
                <a:gd name="adj1" fmla="val 46979"/>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noProof="0" dirty="0"/>
                <a:t>Annual Payout</a:t>
              </a:r>
              <a:endParaRPr lang="en-US" sz="1050" noProof="0" dirty="0"/>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7401076-A8D9-AA2F-BBB8-A67F340A5224}"/>
                  </a:ext>
                </a:extLst>
              </p:cNvPr>
              <p:cNvSpPr txBox="1"/>
              <p:nvPr/>
            </p:nvSpPr>
            <p:spPr>
              <a:xfrm>
                <a:off x="4991456" y="2202876"/>
                <a:ext cx="3526088" cy="2535438"/>
              </a:xfrm>
              <a:prstGeom prst="rect">
                <a:avLst/>
              </a:prstGeom>
              <a:noFill/>
            </p:spPr>
            <p:txBody>
              <a:bodyPr wrap="square" rtlCol="0">
                <a:spAutoFit/>
              </a:bodyPr>
              <a:lstStyle>
                <a:defPPr>
                  <a:defRPr lang="en-US"/>
                </a:defPPr>
                <a:lvl1pPr marL="6350" algn="ctr">
                  <a:defRPr sz="1100"/>
                </a:lvl1pPr>
              </a:lstStyle>
              <a:p>
                <a:r>
                  <a:rPr lang="en-GB" sz="1200" dirty="0"/>
                  <a:t>The annual payout </a:t>
                </a:r>
                <a14:m>
                  <m:oMath xmlns:m="http://schemas.openxmlformats.org/officeDocument/2006/math">
                    <m:sSub>
                      <m:sSubPr>
                        <m:ctrlPr>
                          <a:rPr lang="en-GB" sz="1200" i="1">
                            <a:latin typeface="Cambria Math" panose="02040503050406030204" pitchFamily="18" charset="0"/>
                          </a:rPr>
                        </m:ctrlPr>
                      </m:sSubPr>
                      <m:e>
                        <m:r>
                          <a:rPr lang="it-IT" sz="1200">
                            <a:latin typeface="Cambria Math" panose="02040503050406030204" pitchFamily="18" charset="0"/>
                          </a:rPr>
                          <m:t>𝜹</m:t>
                        </m:r>
                      </m:e>
                      <m:sub>
                        <m:r>
                          <a:rPr lang="it-IT" sz="1200">
                            <a:latin typeface="Cambria Math" panose="02040503050406030204" pitchFamily="18" charset="0"/>
                          </a:rPr>
                          <m:t>𝑡</m:t>
                        </m:r>
                      </m:sub>
                    </m:sSub>
                  </m:oMath>
                </a14:m>
                <a:r>
                  <a:rPr lang="en-GB" sz="1200" dirty="0"/>
                  <a:t> follows a mean-reverting AR(1) process, correlated with the equity shock:</a:t>
                </a:r>
              </a:p>
              <a:p>
                <a:endParaRPr lang="en-GB" dirty="0"/>
              </a:p>
              <a:p>
                <a:pPr/>
                <a14:m>
                  <m:oMathPara xmlns:m="http://schemas.openxmlformats.org/officeDocument/2006/math">
                    <m:oMathParaPr>
                      <m:jc m:val="centerGroup"/>
                    </m:oMathParaPr>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𝜹</m:t>
                          </m:r>
                        </m:e>
                        <m:sub>
                          <m:r>
                            <a:rPr lang="en-GB" b="1" i="1">
                              <a:latin typeface="Cambria Math" panose="02040503050406030204" pitchFamily="18" charset="0"/>
                            </a:rPr>
                            <m:t>𝒕</m:t>
                          </m:r>
                        </m:sub>
                      </m:sSub>
                      <m:r>
                        <a:rPr lang="it-IT" b="1" i="1" smtClean="0">
                          <a:latin typeface="Cambria Math" panose="02040503050406030204" pitchFamily="18" charset="0"/>
                        </a:rPr>
                        <m:t>=</m:t>
                      </m:r>
                      <m:acc>
                        <m:accPr>
                          <m:chr m:val="̅"/>
                          <m:ctrlPr>
                            <a:rPr lang="en-GB" b="1" i="1">
                              <a:latin typeface="Cambria Math" panose="02040503050406030204" pitchFamily="18" charset="0"/>
                            </a:rPr>
                          </m:ctrlPr>
                        </m:accPr>
                        <m:e>
                          <m:r>
                            <a:rPr lang="en-GB" b="1" i="1">
                              <a:latin typeface="Cambria Math" panose="02040503050406030204" pitchFamily="18" charset="0"/>
                            </a:rPr>
                            <m:t>𝜹</m:t>
                          </m:r>
                        </m:e>
                      </m:acc>
                      <m:r>
                        <a:rPr lang="it-IT" b="1"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𝝆</m:t>
                          </m:r>
                        </m:e>
                        <m:sub>
                          <m:r>
                            <a:rPr lang="it-IT" b="1" i="1">
                              <a:latin typeface="Cambria Math" panose="02040503050406030204" pitchFamily="18" charset="0"/>
                            </a:rPr>
                            <m:t>𝑨𝑹</m:t>
                          </m:r>
                        </m:sub>
                      </m:sSub>
                      <m:d>
                        <m:dPr>
                          <m:ctrlPr>
                            <a:rPr lang="it-IT"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𝜹</m:t>
                              </m:r>
                            </m:e>
                            <m:sub>
                              <m:r>
                                <a:rPr lang="en-GB" b="1" i="1">
                                  <a:latin typeface="Cambria Math" panose="02040503050406030204" pitchFamily="18" charset="0"/>
                                </a:rPr>
                                <m:t>𝒕</m:t>
                              </m:r>
                              <m:r>
                                <a:rPr lang="it-IT" b="1" i="1">
                                  <a:latin typeface="Cambria Math" panose="02040503050406030204" pitchFamily="18" charset="0"/>
                                </a:rPr>
                                <m:t>−</m:t>
                              </m:r>
                              <m:r>
                                <a:rPr lang="it-IT" b="1" i="1">
                                  <a:latin typeface="Cambria Math" panose="02040503050406030204" pitchFamily="18" charset="0"/>
                                </a:rPr>
                                <m:t>𝟏</m:t>
                              </m:r>
                            </m:sub>
                          </m:sSub>
                          <m:r>
                            <a:rPr lang="it-IT" b="1" i="1">
                              <a:latin typeface="Cambria Math" panose="02040503050406030204" pitchFamily="18" charset="0"/>
                            </a:rPr>
                            <m:t>−</m:t>
                          </m:r>
                          <m:acc>
                            <m:accPr>
                              <m:chr m:val="̅"/>
                              <m:ctrlPr>
                                <a:rPr lang="en-GB" b="1" i="1">
                                  <a:latin typeface="Cambria Math" panose="02040503050406030204" pitchFamily="18" charset="0"/>
                                </a:rPr>
                              </m:ctrlPr>
                            </m:accPr>
                            <m:e>
                              <m:r>
                                <a:rPr lang="en-GB" b="1" i="1">
                                  <a:latin typeface="Cambria Math" panose="02040503050406030204" pitchFamily="18" charset="0"/>
                                </a:rPr>
                                <m:t>𝜹</m:t>
                              </m:r>
                            </m:e>
                          </m:acc>
                        </m:e>
                      </m:d>
                      <m:r>
                        <a:rPr lang="it-IT" b="1"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𝝈</m:t>
                          </m:r>
                        </m:e>
                        <m:sub>
                          <m:r>
                            <a:rPr lang="en-GB" b="1" i="1">
                              <a:latin typeface="Cambria Math" panose="02040503050406030204" pitchFamily="18" charset="0"/>
                              <a:ea typeface="Cambria Math" panose="02040503050406030204" pitchFamily="18" charset="0"/>
                            </a:rPr>
                            <m:t>𝜹</m:t>
                          </m:r>
                        </m:sub>
                      </m:sSub>
                      <m:d>
                        <m:dPr>
                          <m:ctrlPr>
                            <a:rPr lang="it-IT" b="1" i="1">
                              <a:latin typeface="Cambria Math" panose="02040503050406030204" pitchFamily="18" charset="0"/>
                            </a:rPr>
                          </m:ctrlPr>
                        </m:dPr>
                        <m:e>
                          <m:r>
                            <a:rPr lang="it-IT" b="1" i="1">
                              <a:latin typeface="Cambria Math" panose="02040503050406030204" pitchFamily="18" charset="0"/>
                              <a:ea typeface="Cambria Math" panose="02040503050406030204" pitchFamily="18" charset="0"/>
                            </a:rPr>
                            <m:t>𝝆</m:t>
                          </m:r>
                          <m:r>
                            <a:rPr lang="en-GB" b="1" i="1">
                              <a:latin typeface="Cambria Math" panose="02040503050406030204" pitchFamily="18" charset="0"/>
                              <a:ea typeface="Cambria Math" panose="02040503050406030204" pitchFamily="18" charset="0"/>
                            </a:rPr>
                            <m:t>∙</m:t>
                          </m:r>
                          <m:sSubSup>
                            <m:sSubSupPr>
                              <m:ctrlPr>
                                <a:rPr lang="it-IT" b="1" i="1">
                                  <a:latin typeface="Cambria Math" panose="02040503050406030204" pitchFamily="18" charset="0"/>
                                  <a:ea typeface="Cambria Math" panose="02040503050406030204" pitchFamily="18" charset="0"/>
                                </a:rPr>
                              </m:ctrlPr>
                            </m:sSubSupPr>
                            <m:e>
                              <m:r>
                                <a:rPr lang="it-IT" b="1" i="1">
                                  <a:latin typeface="Cambria Math" panose="02040503050406030204" pitchFamily="18" charset="0"/>
                                  <a:ea typeface="Cambria Math" panose="02040503050406030204" pitchFamily="18" charset="0"/>
                                </a:rPr>
                                <m:t>𝒛</m:t>
                              </m:r>
                            </m:e>
                            <m:sub>
                              <m:r>
                                <a:rPr lang="it-IT" b="1" i="1">
                                  <a:latin typeface="Cambria Math" panose="02040503050406030204" pitchFamily="18" charset="0"/>
                                  <a:ea typeface="Cambria Math" panose="02040503050406030204" pitchFamily="18" charset="0"/>
                                </a:rPr>
                                <m:t>𝒕</m:t>
                              </m:r>
                            </m:sub>
                            <m:sup>
                              <m:r>
                                <a:rPr lang="it-IT" b="1" i="1">
                                  <a:latin typeface="Cambria Math" panose="02040503050406030204" pitchFamily="18" charset="0"/>
                                  <a:ea typeface="Cambria Math" panose="02040503050406030204" pitchFamily="18" charset="0"/>
                                </a:rPr>
                                <m:t>𝑬𝑸</m:t>
                              </m:r>
                            </m:sup>
                          </m:sSubSup>
                          <m:r>
                            <a:rPr lang="it-IT" b="1" i="1">
                              <a:latin typeface="Cambria Math" panose="02040503050406030204" pitchFamily="18" charset="0"/>
                              <a:ea typeface="Cambria Math" panose="02040503050406030204" pitchFamily="18" charset="0"/>
                            </a:rPr>
                            <m:t>+</m:t>
                          </m:r>
                          <m:rad>
                            <m:radPr>
                              <m:degHide m:val="on"/>
                              <m:ctrlPr>
                                <a:rPr lang="it-IT" b="1" i="1">
                                  <a:latin typeface="Cambria Math" panose="02040503050406030204" pitchFamily="18" charset="0"/>
                                  <a:ea typeface="Cambria Math" panose="02040503050406030204" pitchFamily="18" charset="0"/>
                                </a:rPr>
                              </m:ctrlPr>
                            </m:radPr>
                            <m:deg/>
                            <m:e>
                              <m:r>
                                <a:rPr lang="it-IT" b="1" i="1">
                                  <a:latin typeface="Cambria Math" panose="02040503050406030204" pitchFamily="18" charset="0"/>
                                  <a:ea typeface="Cambria Math" panose="02040503050406030204" pitchFamily="18" charset="0"/>
                                </a:rPr>
                                <m:t>𝟏</m:t>
                              </m:r>
                              <m:r>
                                <a:rPr lang="it-IT" b="1" i="1">
                                  <a:latin typeface="Cambria Math" panose="02040503050406030204" pitchFamily="18" charset="0"/>
                                  <a:ea typeface="Cambria Math" panose="02040503050406030204" pitchFamily="18" charset="0"/>
                                </a:rPr>
                                <m:t>−</m:t>
                              </m:r>
                              <m:sSup>
                                <m:sSupPr>
                                  <m:ctrlPr>
                                    <a:rPr lang="it-IT" b="1" i="1">
                                      <a:latin typeface="Cambria Math" panose="02040503050406030204" pitchFamily="18" charset="0"/>
                                      <a:ea typeface="Cambria Math" panose="02040503050406030204" pitchFamily="18" charset="0"/>
                                    </a:rPr>
                                  </m:ctrlPr>
                                </m:sSupPr>
                                <m:e>
                                  <m:r>
                                    <a:rPr lang="it-IT" b="1" i="1">
                                      <a:latin typeface="Cambria Math" panose="02040503050406030204" pitchFamily="18" charset="0"/>
                                      <a:ea typeface="Cambria Math" panose="02040503050406030204" pitchFamily="18" charset="0"/>
                                    </a:rPr>
                                    <m:t>𝝆</m:t>
                                  </m:r>
                                </m:e>
                                <m:sup>
                                  <m:r>
                                    <a:rPr lang="it-IT" b="1" i="1">
                                      <a:latin typeface="Cambria Math" panose="02040503050406030204" pitchFamily="18" charset="0"/>
                                      <a:ea typeface="Cambria Math" panose="02040503050406030204" pitchFamily="18" charset="0"/>
                                    </a:rPr>
                                    <m:t>𝟐</m:t>
                                  </m:r>
                                </m:sup>
                              </m:sSup>
                            </m:e>
                          </m:rad>
                          <m:r>
                            <a:rPr lang="en-GB" b="1" i="1">
                              <a:latin typeface="Cambria Math" panose="02040503050406030204" pitchFamily="18" charset="0"/>
                              <a:ea typeface="Cambria Math" panose="02040503050406030204" pitchFamily="18" charset="0"/>
                            </a:rPr>
                            <m:t>∙</m:t>
                          </m:r>
                          <m:sSub>
                            <m:sSubPr>
                              <m:ctrlPr>
                                <a:rPr lang="it-IT" b="1" i="1">
                                  <a:latin typeface="Cambria Math" panose="02040503050406030204" pitchFamily="18" charset="0"/>
                                  <a:ea typeface="Cambria Math" panose="02040503050406030204" pitchFamily="18" charset="0"/>
                                </a:rPr>
                              </m:ctrlPr>
                            </m:sSubPr>
                            <m:e>
                              <m:r>
                                <a:rPr lang="it-IT" b="1" i="1">
                                  <a:latin typeface="Cambria Math" panose="02040503050406030204" pitchFamily="18" charset="0"/>
                                  <a:ea typeface="Cambria Math" panose="02040503050406030204" pitchFamily="18" charset="0"/>
                                </a:rPr>
                                <m:t>𝜺</m:t>
                              </m:r>
                            </m:e>
                            <m:sub>
                              <m:r>
                                <a:rPr lang="it-IT" b="1" i="1">
                                  <a:latin typeface="Cambria Math" panose="02040503050406030204" pitchFamily="18" charset="0"/>
                                  <a:ea typeface="Cambria Math" panose="02040503050406030204" pitchFamily="18" charset="0"/>
                                </a:rPr>
                                <m:t>𝒕</m:t>
                              </m:r>
                            </m:sub>
                          </m:sSub>
                        </m:e>
                      </m:d>
                    </m:oMath>
                  </m:oMathPara>
                </a14:m>
                <a:endParaRPr lang="en-GB" b="1" dirty="0">
                  <a:effectLst/>
                </a:endParaRPr>
              </a:p>
              <a:p>
                <a:endParaRPr lang="en-GB" dirty="0"/>
              </a:p>
              <a:p>
                <a:r>
                  <a:rPr lang="en-GB" sz="1200" dirty="0"/>
                  <a:t>where </a:t>
                </a:r>
                <a14:m>
                  <m:oMath xmlns:m="http://schemas.openxmlformats.org/officeDocument/2006/math">
                    <m:acc>
                      <m:accPr>
                        <m:chr m:val="̅"/>
                        <m:ctrlPr>
                          <a:rPr lang="en-GB" sz="1200" b="1" i="1">
                            <a:latin typeface="Cambria Math" panose="02040503050406030204" pitchFamily="18" charset="0"/>
                          </a:rPr>
                        </m:ctrlPr>
                      </m:accPr>
                      <m:e>
                        <m:r>
                          <a:rPr lang="en-GB" sz="1200" b="1" i="1">
                            <a:latin typeface="Cambria Math" panose="02040503050406030204" pitchFamily="18" charset="0"/>
                          </a:rPr>
                          <m:t>𝜹</m:t>
                        </m:r>
                      </m:e>
                    </m:acc>
                  </m:oMath>
                </a14:m>
                <a:r>
                  <a:rPr lang="en-GB" sz="1200" dirty="0"/>
                  <a:t> is the long-run mean payout rate and </a:t>
                </a:r>
                <a14:m>
                  <m:oMath xmlns:m="http://schemas.openxmlformats.org/officeDocument/2006/math">
                    <m:sSub>
                      <m:sSubPr>
                        <m:ctrlPr>
                          <a:rPr lang="en-GB" sz="1200" b="1" i="1">
                            <a:latin typeface="Cambria Math" panose="02040503050406030204" pitchFamily="18" charset="0"/>
                          </a:rPr>
                        </m:ctrlPr>
                      </m:sSubPr>
                      <m:e>
                        <m:r>
                          <a:rPr lang="en-GB" sz="1200" b="1" i="1">
                            <a:latin typeface="Cambria Math" panose="02040503050406030204" pitchFamily="18" charset="0"/>
                            <a:ea typeface="Cambria Math" panose="02040503050406030204" pitchFamily="18" charset="0"/>
                          </a:rPr>
                          <m:t>𝝆</m:t>
                        </m:r>
                      </m:e>
                      <m:sub>
                        <m:r>
                          <a:rPr lang="it-IT" sz="1200" b="1" i="1">
                            <a:latin typeface="Cambria Math" panose="02040503050406030204" pitchFamily="18" charset="0"/>
                          </a:rPr>
                          <m:t>𝑨𝑹</m:t>
                        </m:r>
                      </m:sub>
                    </m:sSub>
                  </m:oMath>
                </a14:m>
                <a:r>
                  <a:rPr lang="en-GB" sz="1200" dirty="0"/>
                  <a:t> is the persistence (spending rules change slowly), </a:t>
                </a:r>
                <a14:m>
                  <m:oMath xmlns:m="http://schemas.openxmlformats.org/officeDocument/2006/math">
                    <m:r>
                      <a:rPr lang="it-IT" sz="1200" b="1" i="1" smtClean="0">
                        <a:latin typeface="Cambria Math" panose="02040503050406030204" pitchFamily="18" charset="0"/>
                        <a:ea typeface="Cambria Math" panose="02040503050406030204" pitchFamily="18" charset="0"/>
                      </a:rPr>
                      <m:t>𝝆</m:t>
                    </m:r>
                  </m:oMath>
                </a14:m>
                <a:r>
                  <a:rPr lang="en-GB" sz="1200" dirty="0"/>
                  <a:t> is the correlation with equity and </a:t>
                </a:r>
                <a14:m>
                  <m:oMath xmlns:m="http://schemas.openxmlformats.org/officeDocument/2006/math">
                    <m:sSub>
                      <m:sSubPr>
                        <m:ctrlPr>
                          <a:rPr lang="it-IT" sz="1200" b="1" i="1">
                            <a:latin typeface="Cambria Math" panose="02040503050406030204" pitchFamily="18" charset="0"/>
                            <a:ea typeface="Cambria Math" panose="02040503050406030204" pitchFamily="18" charset="0"/>
                          </a:rPr>
                        </m:ctrlPr>
                      </m:sSubPr>
                      <m:e>
                        <m:r>
                          <a:rPr lang="it-IT" sz="1200" b="1" i="1">
                            <a:latin typeface="Cambria Math" panose="02040503050406030204" pitchFamily="18" charset="0"/>
                            <a:ea typeface="Cambria Math" panose="02040503050406030204" pitchFamily="18" charset="0"/>
                          </a:rPr>
                          <m:t>𝜺</m:t>
                        </m:r>
                      </m:e>
                      <m:sub>
                        <m:r>
                          <a:rPr lang="it-IT" sz="1200" b="1" i="1">
                            <a:latin typeface="Cambria Math" panose="02040503050406030204" pitchFamily="18" charset="0"/>
                            <a:ea typeface="Cambria Math" panose="02040503050406030204" pitchFamily="18" charset="0"/>
                          </a:rPr>
                          <m:t>𝒕</m:t>
                        </m:r>
                      </m:sub>
                    </m:sSub>
                  </m:oMath>
                </a14:m>
                <a:r>
                  <a:rPr lang="en-GB" sz="1200" dirty="0"/>
                  <a:t> the idiosyncratic shock.</a:t>
                </a:r>
              </a:p>
              <a:p>
                <a14:m>
                  <m:oMath xmlns:m="http://schemas.openxmlformats.org/officeDocument/2006/math">
                    <m:r>
                      <a:rPr lang="it-IT" sz="1200" b="1" i="1">
                        <a:latin typeface="Cambria Math" panose="02040503050406030204" pitchFamily="18" charset="0"/>
                        <a:ea typeface="Cambria Math" panose="02040503050406030204" pitchFamily="18" charset="0"/>
                      </a:rPr>
                      <m:t>𝝆</m:t>
                    </m:r>
                    <m:r>
                      <a:rPr lang="it-IT" sz="1200" b="1" i="1" smtClean="0">
                        <a:latin typeface="Cambria Math" panose="02040503050406030204" pitchFamily="18" charset="0"/>
                        <a:ea typeface="Cambria Math" panose="02040503050406030204" pitchFamily="18" charset="0"/>
                      </a:rPr>
                      <m:t>&lt;</m:t>
                    </m:r>
                    <m:r>
                      <a:rPr lang="it-IT" sz="1200" b="1" i="1" smtClean="0">
                        <a:latin typeface="Cambria Math" panose="02040503050406030204" pitchFamily="18" charset="0"/>
                        <a:ea typeface="Cambria Math" panose="02040503050406030204" pitchFamily="18" charset="0"/>
                      </a:rPr>
                      <m:t>𝟎</m:t>
                    </m:r>
                  </m:oMath>
                </a14:m>
                <a:r>
                  <a:rPr lang="en-GB" sz="1200" dirty="0"/>
                  <a:t>: payout pressure is highest when markets are down</a:t>
                </a:r>
              </a:p>
              <a:p>
                <a:endParaRPr lang="en-GB" sz="1200" dirty="0"/>
              </a:p>
              <a:p>
                <a:endParaRPr lang="en-GB" sz="1200" dirty="0"/>
              </a:p>
            </p:txBody>
          </p:sp>
        </mc:Choice>
        <mc:Fallback xmlns="">
          <p:sp>
            <p:nvSpPr>
              <p:cNvPr id="16" name="TextBox 15">
                <a:extLst>
                  <a:ext uri="{FF2B5EF4-FFF2-40B4-BE49-F238E27FC236}">
                    <a16:creationId xmlns:a16="http://schemas.microsoft.com/office/drawing/2014/main" id="{F7401076-A8D9-AA2F-BBB8-A67F340A5224}"/>
                  </a:ext>
                </a:extLst>
              </p:cNvPr>
              <p:cNvSpPr txBox="1">
                <a:spLocks noRot="1" noChangeAspect="1" noMove="1" noResize="1" noEditPoints="1" noAdjustHandles="1" noChangeArrowheads="1" noChangeShapeType="1" noTextEdit="1"/>
              </p:cNvSpPr>
              <p:nvPr/>
            </p:nvSpPr>
            <p:spPr>
              <a:xfrm>
                <a:off x="4991456" y="2202876"/>
                <a:ext cx="3526088" cy="2535438"/>
              </a:xfrm>
              <a:prstGeom prst="rect">
                <a:avLst/>
              </a:prstGeom>
              <a:blipFill>
                <a:blip r:embed="rId5"/>
                <a:stretch>
                  <a:fillRect t="-240" r="-519"/>
                </a:stretch>
              </a:blipFill>
            </p:spPr>
            <p:txBody>
              <a:bodyPr/>
              <a:lstStyle/>
              <a:p>
                <a:r>
                  <a:rPr lang="en-GB">
                    <a:noFill/>
                  </a:rPr>
                  <a:t> </a:t>
                </a:r>
              </a:p>
            </p:txBody>
          </p:sp>
        </mc:Fallback>
      </mc:AlternateContent>
    </p:spTree>
    <p:extLst>
      <p:ext uri="{BB962C8B-B14F-4D97-AF65-F5344CB8AC3E}">
        <p14:creationId xmlns:p14="http://schemas.microsoft.com/office/powerpoint/2010/main" val="3877912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99C8-EDE4-212B-85E4-6B03313CBB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714C07-FEEB-6AFB-C898-5A0278A62D5D}"/>
              </a:ext>
            </a:extLst>
          </p:cNvPr>
          <p:cNvSpPr>
            <a:spLocks noGrp="1"/>
          </p:cNvSpPr>
          <p:nvPr>
            <p:ph type="title"/>
          </p:nvPr>
        </p:nvSpPr>
        <p:spPr/>
        <p:txBody>
          <a:bodyPr/>
          <a:lstStyle/>
          <a:p>
            <a:r>
              <a:rPr lang="it-IT" dirty="0" err="1"/>
              <a:t>Simulation</a:t>
            </a:r>
            <a:r>
              <a:rPr lang="it-IT" dirty="0"/>
              <a:t>, </a:t>
            </a:r>
            <a:r>
              <a:rPr lang="it-IT" dirty="0" err="1"/>
              <a:t>Aggregation</a:t>
            </a:r>
            <a:r>
              <a:rPr lang="it-IT" dirty="0"/>
              <a:t> &amp; Fitting</a:t>
            </a:r>
          </a:p>
        </p:txBody>
      </p:sp>
      <p:sp>
        <p:nvSpPr>
          <p:cNvPr id="4" name="Espace réservé du pied de page 3">
            <a:extLst>
              <a:ext uri="{FF2B5EF4-FFF2-40B4-BE49-F238E27FC236}">
                <a16:creationId xmlns:a16="http://schemas.microsoft.com/office/drawing/2014/main" id="{4BC3286A-8F01-ADD7-EC26-608535F70435}"/>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6E660AE3-B14C-1ABB-D8AE-DED24D2187D3}"/>
              </a:ext>
            </a:extLst>
          </p:cNvPr>
          <p:cNvSpPr>
            <a:spLocks noGrp="1"/>
          </p:cNvSpPr>
          <p:nvPr>
            <p:ph type="sldNum" sz="quarter" idx="12"/>
          </p:nvPr>
        </p:nvSpPr>
        <p:spPr/>
        <p:txBody>
          <a:bodyPr/>
          <a:lstStyle/>
          <a:p>
            <a:fld id="{2B1C6FFC-D040-034F-8B69-20295064E64D}" type="slidenum">
              <a:rPr lang="fr-FR" smtClean="0"/>
              <a:t>9</a:t>
            </a:fld>
            <a:endParaRPr lang="fr-FR" dirty="0"/>
          </a:p>
        </p:txBody>
      </p:sp>
      <p:sp>
        <p:nvSpPr>
          <p:cNvPr id="6" name="Espace réservé du texte 5">
            <a:extLst>
              <a:ext uri="{FF2B5EF4-FFF2-40B4-BE49-F238E27FC236}">
                <a16:creationId xmlns:a16="http://schemas.microsoft.com/office/drawing/2014/main" id="{D88833E0-B710-E06A-A1B6-1430693C0352}"/>
              </a:ext>
            </a:extLst>
          </p:cNvPr>
          <p:cNvSpPr>
            <a:spLocks noGrp="1"/>
          </p:cNvSpPr>
          <p:nvPr>
            <p:ph type="body" sz="quarter" idx="13"/>
          </p:nvPr>
        </p:nvSpPr>
        <p:spPr/>
        <p:txBody>
          <a:bodyPr/>
          <a:lstStyle/>
          <a:p>
            <a:r>
              <a:rPr lang="it-IT" dirty="0" err="1"/>
              <a:t>Simulation</a:t>
            </a:r>
            <a:r>
              <a:rPr lang="it-IT" dirty="0"/>
              <a:t> Design (1/2): Tranches, Lock-ups &amp; Costs</a:t>
            </a:r>
          </a:p>
          <a:p>
            <a:endParaRPr lang="it-IT" dirty="0"/>
          </a:p>
          <a:p>
            <a:endParaRPr lang="en-GB"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3C764E1-9017-CFF4-657A-C071ACD1D5C3}"/>
                  </a:ext>
                </a:extLst>
              </p:cNvPr>
              <p:cNvSpPr txBox="1"/>
              <p:nvPr/>
            </p:nvSpPr>
            <p:spPr>
              <a:xfrm>
                <a:off x="338405" y="1041118"/>
                <a:ext cx="8377447" cy="2393219"/>
              </a:xfrm>
              <a:prstGeom prst="rect">
                <a:avLst/>
              </a:prstGeom>
              <a:noFill/>
            </p:spPr>
            <p:txBody>
              <a:bodyPr wrap="square">
                <a:spAutoFit/>
              </a:bodyPr>
              <a:lstStyle/>
              <a:p>
                <a:pPr marL="171450" indent="-171450">
                  <a:buFont typeface="Arial" panose="020B0604020202020204" pitchFamily="34" charset="0"/>
                  <a:buChar char="•"/>
                </a:pPr>
                <a:r>
                  <a:rPr lang="en-GB" sz="1200" dirty="0">
                    <a:latin typeface="ui-sans-serif"/>
                  </a:rPr>
                  <a:t>Each illiquid asset class is subject to a </a:t>
                </a:r>
                <a:r>
                  <a:rPr lang="en-GB" sz="1200" b="1" dirty="0">
                    <a:latin typeface="ui-sans-serif"/>
                  </a:rPr>
                  <a:t>lock-up period </a:t>
                </a:r>
                <a:r>
                  <a:rPr lang="en-GB" sz="1200" dirty="0">
                    <a:latin typeface="ui-sans-serif"/>
                  </a:rPr>
                  <a:t>during which positions cannot be freely liquidated: </a:t>
                </a:r>
                <a:r>
                  <a:rPr lang="en-US" sz="1200" dirty="0">
                    <a:latin typeface="ui-sans-serif"/>
                  </a:rPr>
                  <a:t>HF_FOF carries a 2-year lock-up, GLOB_RE 5 years, and GLOB_PE 8 years</a:t>
                </a:r>
                <a:r>
                  <a:rPr lang="en-GB" sz="1200" dirty="0">
                    <a:latin typeface="ui-sans-serif"/>
                  </a:rPr>
                  <a:t>. These constraints are enforced through a </a:t>
                </a:r>
                <a:r>
                  <a:rPr lang="en-GB" sz="1200" b="1" dirty="0">
                    <a:latin typeface="ui-sans-serif"/>
                  </a:rPr>
                  <a:t>tranche-tracking system </a:t>
                </a:r>
                <a:r>
                  <a:rPr lang="en-GB" sz="1200" dirty="0">
                    <a:latin typeface="ui-sans-serif"/>
                  </a:rPr>
                  <a:t>that records the purchase date of each position. </a:t>
                </a:r>
              </a:p>
              <a:p>
                <a:pPr marL="171450" indent="-171450">
                  <a:buFont typeface="Arial" panose="020B0604020202020204" pitchFamily="34" charset="0"/>
                  <a:buChar char="•"/>
                </a:pPr>
                <a:endParaRPr lang="en-GB" sz="1200" dirty="0">
                  <a:latin typeface="ui-sans-serif"/>
                </a:endParaRPr>
              </a:p>
              <a:p>
                <a:pPr marL="171450" indent="-171450">
                  <a:buFont typeface="Arial" panose="020B0604020202020204" pitchFamily="34" charset="0"/>
                  <a:buChar char="•"/>
                </a:pPr>
                <a:r>
                  <a:rPr lang="en-US" sz="1200" dirty="0">
                    <a:latin typeface="ui-sans-serif"/>
                  </a:rPr>
                  <a:t>When a locked position must be liquidated before expiry - either to meet the annual payout or to restore the minimum liquidity buffer - the fund incurs an </a:t>
                </a:r>
                <a:r>
                  <a:rPr lang="en-US" sz="1200" b="1" dirty="0">
                    <a:latin typeface="ui-sans-serif"/>
                  </a:rPr>
                  <a:t>asset-specific haircut</a:t>
                </a:r>
                <a:r>
                  <a:rPr lang="en-US" sz="1200" dirty="0">
                    <a:latin typeface="ui-sans-serif"/>
                  </a:rPr>
                  <a:t> </a:t>
                </a:r>
                <a14:m>
                  <m:oMath xmlns:m="http://schemas.openxmlformats.org/officeDocument/2006/math">
                    <m:sSub>
                      <m:sSubPr>
                        <m:ctrlPr>
                          <a:rPr lang="en-US" sz="1200" b="1" i="1" smtClean="0">
                            <a:latin typeface="Cambria Math" panose="02040503050406030204" pitchFamily="18" charset="0"/>
                          </a:rPr>
                        </m:ctrlPr>
                      </m:sSubPr>
                      <m:e>
                        <m:r>
                          <a:rPr lang="it-IT" sz="1200" b="1" i="1" smtClean="0">
                            <a:latin typeface="Cambria Math" panose="02040503050406030204" pitchFamily="18" charset="0"/>
                          </a:rPr>
                          <m:t>𝒉</m:t>
                        </m:r>
                      </m:e>
                      <m:sub>
                        <m:r>
                          <a:rPr lang="it-IT" sz="1200" b="1" i="1" smtClean="0">
                            <a:latin typeface="Cambria Math" panose="02040503050406030204" pitchFamily="18" charset="0"/>
                          </a:rPr>
                          <m:t>𝒊</m:t>
                        </m:r>
                      </m:sub>
                    </m:sSub>
                  </m:oMath>
                </a14:m>
                <a:r>
                  <a:rPr lang="en-US" sz="1200" b="1" dirty="0">
                    <a:latin typeface="ui-sans-serif"/>
                  </a:rPr>
                  <a:t> </a:t>
                </a:r>
                <a:r>
                  <a:rPr lang="en-US" sz="1200" dirty="0">
                    <a:latin typeface="ui-sans-serif"/>
                  </a:rPr>
                  <a:t>reflecting secondary market transaction costs. </a:t>
                </a:r>
                <a:r>
                  <a:rPr lang="en-GB" sz="1200" dirty="0">
                    <a:latin typeface="ui-sans-serif"/>
                  </a:rPr>
                  <a:t>or example, an early exit from GLOB_PE costs 20%, from GLOB_RE 12%, and from HF_FOF 5%. </a:t>
                </a:r>
                <a:r>
                  <a:rPr lang="en-US" sz="1200" dirty="0">
                    <a:latin typeface="ui-sans-serif"/>
                  </a:rPr>
                  <a:t>Haircuts are held constant throughout the simulation.</a:t>
                </a:r>
              </a:p>
              <a:p>
                <a:pPr marL="171450" indent="-171450">
                  <a:buFont typeface="Arial" panose="020B0604020202020204" pitchFamily="34" charset="0"/>
                  <a:buChar char="•"/>
                </a:pPr>
                <a:endParaRPr lang="en-US" sz="1200" dirty="0">
                  <a:latin typeface="ui-sans-serif"/>
                </a:endParaRPr>
              </a:p>
              <a:p>
                <a:pPr marL="171450" indent="-171450">
                  <a:buFont typeface="Arial" panose="020B0604020202020204" pitchFamily="34" charset="0"/>
                  <a:buChar char="•"/>
                </a:pPr>
                <a:r>
                  <a:rPr lang="en-US" sz="1200" dirty="0">
                    <a:latin typeface="ui-sans-serif"/>
                  </a:rPr>
                  <a:t>The cost captures </a:t>
                </a:r>
                <a:r>
                  <a:rPr lang="en-US" sz="1200" b="1" dirty="0">
                    <a:latin typeface="ui-sans-serif"/>
                  </a:rPr>
                  <a:t>two sources of friction</a:t>
                </a:r>
                <a:r>
                  <a:rPr lang="en-US" sz="1200" dirty="0">
                    <a:latin typeface="ui-sans-serif"/>
                  </a:rPr>
                  <a:t>: </a:t>
                </a:r>
                <a:r>
                  <a:rPr lang="en-US" sz="1200" b="1" dirty="0">
                    <a:latin typeface="ui-sans-serif"/>
                  </a:rPr>
                  <a:t>rebalancing gap </a:t>
                </a:r>
                <a:r>
                  <a:rPr lang="en-US" sz="1200" dirty="0">
                    <a:latin typeface="ui-sans-serif"/>
                  </a:rPr>
                  <a:t>from lock-up constraints, and the </a:t>
                </a:r>
                <a:r>
                  <a:rPr lang="en-US" sz="1200" b="1" dirty="0">
                    <a:latin typeface="ui-sans-serif"/>
                  </a:rPr>
                  <a:t>haircuts</a:t>
                </a:r>
                <a:r>
                  <a:rPr lang="en-US" sz="1200" dirty="0">
                    <a:latin typeface="ui-sans-serif"/>
                  </a:rPr>
                  <a:t> on locked assets sold to restore the liquidity buffer and on the ones in the proportional payout. Simulated costs are used to fit </a:t>
                </a:r>
                <a14:m>
                  <m:oMath xmlns:m="http://schemas.openxmlformats.org/officeDocument/2006/math">
                    <m:r>
                      <a:rPr lang="it-IT" sz="1200" i="1">
                        <a:latin typeface="Cambria Math" panose="02040503050406030204" pitchFamily="18" charset="0"/>
                      </a:rPr>
                      <m:t>𝑇</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i="1">
                        <a:latin typeface="Cambria Math" panose="02040503050406030204" pitchFamily="18" charset="0"/>
                      </a:rPr>
                      <m:t>=</m:t>
                    </m:r>
                    <m:f>
                      <m:fPr>
                        <m:ctrlPr>
                          <a:rPr lang="it-IT" sz="1200" i="1">
                            <a:latin typeface="Cambria Math" panose="02040503050406030204" pitchFamily="18" charset="0"/>
                          </a:rPr>
                        </m:ctrlPr>
                      </m:fPr>
                      <m:num>
                        <m:r>
                          <a:rPr lang="it-IT" sz="1200" i="1">
                            <a:latin typeface="Cambria Math" panose="02040503050406030204" pitchFamily="18" charset="0"/>
                            <a:ea typeface="Cambria Math" panose="02040503050406030204" pitchFamily="18" charset="0"/>
                          </a:rPr>
                          <m:t>𝛼</m:t>
                        </m:r>
                      </m:num>
                      <m:den>
                        <m:r>
                          <a:rPr lang="it-IT" sz="1200" i="1">
                            <a:latin typeface="Cambria Math" panose="02040503050406030204" pitchFamily="18" charset="0"/>
                            <a:ea typeface="Cambria Math" panose="02040503050406030204" pitchFamily="18" charset="0"/>
                          </a:rPr>
                          <m:t>𝛽</m:t>
                        </m:r>
                        <m:r>
                          <a:rPr lang="it-IT" sz="1200" i="1">
                            <a:latin typeface="Cambria Math" panose="02040503050406030204" pitchFamily="18" charset="0"/>
                          </a:rPr>
                          <m:t>+1</m:t>
                        </m:r>
                      </m:den>
                    </m:f>
                    <m:sSup>
                      <m:sSupPr>
                        <m:ctrlPr>
                          <a:rPr lang="it-IT" sz="1200" i="1">
                            <a:latin typeface="Cambria Math" panose="02040503050406030204" pitchFamily="18" charset="0"/>
                          </a:rPr>
                        </m:ctrlPr>
                      </m:sSupPr>
                      <m:e>
                        <m:r>
                          <a:rPr lang="it-IT" sz="1200" i="1">
                            <a:latin typeface="Cambria Math" panose="02040503050406030204" pitchFamily="18" charset="0"/>
                          </a:rPr>
                          <m:t>𝐿</m:t>
                        </m:r>
                      </m:e>
                      <m:sup>
                        <m:r>
                          <a:rPr lang="it-IT" sz="1200" i="1">
                            <a:latin typeface="Cambria Math" panose="02040503050406030204" pitchFamily="18" charset="0"/>
                            <a:ea typeface="Cambria Math" panose="02040503050406030204" pitchFamily="18" charset="0"/>
                          </a:rPr>
                          <m:t>𝛽</m:t>
                        </m:r>
                        <m:r>
                          <a:rPr lang="it-IT" sz="1200" i="1">
                            <a:latin typeface="Cambria Math" panose="02040503050406030204" pitchFamily="18" charset="0"/>
                          </a:rPr>
                          <m:t>+1</m:t>
                        </m:r>
                      </m:sup>
                    </m:sSup>
                  </m:oMath>
                </a14:m>
                <a:r>
                  <a:rPr lang="en-US" sz="1200" dirty="0">
                    <a:latin typeface="ui-sans-serif"/>
                  </a:rPr>
                  <a:t>.</a:t>
                </a:r>
              </a:p>
              <a:p>
                <a:pPr marL="171450" indent="-171450">
                  <a:buFont typeface="Arial" panose="020B0604020202020204" pitchFamily="34" charset="0"/>
                  <a:buChar char="•"/>
                </a:pPr>
                <a:endParaRPr lang="en-US" sz="1200" dirty="0">
                  <a:latin typeface="ui-sans-serif"/>
                </a:endParaRPr>
              </a:p>
              <a:p>
                <a:endParaRPr lang="it-IT" sz="1200" dirty="0"/>
              </a:p>
            </p:txBody>
          </p:sp>
        </mc:Choice>
        <mc:Fallback>
          <p:sp>
            <p:nvSpPr>
              <p:cNvPr id="8" name="TextBox 7">
                <a:extLst>
                  <a:ext uri="{FF2B5EF4-FFF2-40B4-BE49-F238E27FC236}">
                    <a16:creationId xmlns:a16="http://schemas.microsoft.com/office/drawing/2014/main" id="{53C764E1-9017-CFF4-657A-C071ACD1D5C3}"/>
                  </a:ext>
                </a:extLst>
              </p:cNvPr>
              <p:cNvSpPr txBox="1">
                <a:spLocks noRot="1" noChangeAspect="1" noMove="1" noResize="1" noEditPoints="1" noAdjustHandles="1" noChangeArrowheads="1" noChangeShapeType="1" noTextEdit="1"/>
              </p:cNvSpPr>
              <p:nvPr/>
            </p:nvSpPr>
            <p:spPr>
              <a:xfrm>
                <a:off x="338405" y="1041118"/>
                <a:ext cx="8377447" cy="2393219"/>
              </a:xfrm>
              <a:prstGeom prst="rect">
                <a:avLst/>
              </a:prstGeom>
              <a:blipFill>
                <a:blip r:embed="rId3"/>
                <a:stretch>
                  <a:fillRect t="-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2E97FF6-EC13-4D6A-1FF0-A44037308410}"/>
                  </a:ext>
                </a:extLst>
              </p:cNvPr>
              <p:cNvGraphicFramePr>
                <a:graphicFrameLocks noGrp="1"/>
              </p:cNvGraphicFramePr>
              <p:nvPr>
                <p:extLst>
                  <p:ext uri="{D42A27DB-BD31-4B8C-83A1-F6EECF244321}">
                    <p14:modId xmlns:p14="http://schemas.microsoft.com/office/powerpoint/2010/main" val="3405880389"/>
                  </p:ext>
                </p:extLst>
              </p:nvPr>
            </p:nvGraphicFramePr>
            <p:xfrm>
              <a:off x="428148" y="3143262"/>
              <a:ext cx="8287195" cy="1225659"/>
            </p:xfrm>
            <a:graphic>
              <a:graphicData uri="http://schemas.openxmlformats.org/drawingml/2006/table">
                <a:tbl>
                  <a:tblPr/>
                  <a:tblGrid>
                    <a:gridCol w="1657439">
                      <a:extLst>
                        <a:ext uri="{9D8B030D-6E8A-4147-A177-3AD203B41FA5}">
                          <a16:colId xmlns:a16="http://schemas.microsoft.com/office/drawing/2014/main" val="4065429468"/>
                        </a:ext>
                      </a:extLst>
                    </a:gridCol>
                    <a:gridCol w="1657439">
                      <a:extLst>
                        <a:ext uri="{9D8B030D-6E8A-4147-A177-3AD203B41FA5}">
                          <a16:colId xmlns:a16="http://schemas.microsoft.com/office/drawing/2014/main" val="1278939361"/>
                        </a:ext>
                      </a:extLst>
                    </a:gridCol>
                    <a:gridCol w="1657439">
                      <a:extLst>
                        <a:ext uri="{9D8B030D-6E8A-4147-A177-3AD203B41FA5}">
                          <a16:colId xmlns:a16="http://schemas.microsoft.com/office/drawing/2014/main" val="2083172823"/>
                        </a:ext>
                      </a:extLst>
                    </a:gridCol>
                    <a:gridCol w="1657439">
                      <a:extLst>
                        <a:ext uri="{9D8B030D-6E8A-4147-A177-3AD203B41FA5}">
                          <a16:colId xmlns:a16="http://schemas.microsoft.com/office/drawing/2014/main" val="2937183584"/>
                        </a:ext>
                      </a:extLst>
                    </a:gridCol>
                    <a:gridCol w="1657439">
                      <a:extLst>
                        <a:ext uri="{9D8B030D-6E8A-4147-A177-3AD203B41FA5}">
                          <a16:colId xmlns:a16="http://schemas.microsoft.com/office/drawing/2014/main" val="1574663979"/>
                        </a:ext>
                      </a:extLst>
                    </a:gridCol>
                  </a:tblGrid>
                  <a:tr h="164377">
                    <a:tc>
                      <a:txBody>
                        <a:bodyPr/>
                        <a:lstStyle/>
                        <a:p>
                          <a:pPr algn="ctr" fontAlgn="ctr">
                            <a:buNone/>
                          </a:pPr>
                          <a:r>
                            <a:rPr lang="en-US" sz="1000" b="1" i="0" u="none" strike="noStrike" dirty="0">
                              <a:solidFill>
                                <a:srgbClr val="FFFFFF"/>
                              </a:solidFill>
                              <a:effectLst/>
                              <a:latin typeface="Calibri" panose="020F0502020204030204" pitchFamily="34" charset="0"/>
                            </a:rPr>
                            <a:t>Parameter</a:t>
                          </a:r>
                        </a:p>
                      </a:txBody>
                      <a:tcPr marL="9073" marR="9073" marT="9073" marB="0" anchor="ctr">
                        <a:lnL>
                          <a:noFill/>
                        </a:lnL>
                        <a:lnR>
                          <a:noFill/>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Description</a:t>
                          </a:r>
                          <a:endParaRPr lang="it-IT" sz="1000" b="1" i="0" u="none" strike="noStrike" dirty="0">
                            <a:solidFill>
                              <a:srgbClr val="FFFFFF"/>
                            </a:solidFill>
                            <a:effectLst/>
                            <a:latin typeface="Calibri" panose="020F0502020204030204" pitchFamily="34" charset="0"/>
                          </a:endParaRPr>
                        </a:p>
                      </a:txBody>
                      <a:tcPr marL="9073" marR="9073" marT="9073" marB="0" anchor="ctr">
                        <a:lnL>
                          <a:noFill/>
                        </a:lnL>
                        <a:lnR>
                          <a:noFill/>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Pension</a:t>
                          </a:r>
                          <a:r>
                            <a:rPr lang="it-IT" sz="1000" b="1" i="0" u="none" strike="noStrike" dirty="0">
                              <a:solidFill>
                                <a:srgbClr val="FFFFFF"/>
                              </a:solidFill>
                              <a:effectLst/>
                              <a:latin typeface="Calibri" panose="020F0502020204030204" pitchFamily="34" charset="0"/>
                            </a:rPr>
                            <a:t> Fund</a:t>
                          </a:r>
                        </a:p>
                      </a:txBody>
                      <a:tcPr marL="9073" marR="9073" marT="9073" marB="0" anchor="ctr">
                        <a:lnL>
                          <a:noFill/>
                        </a:lnL>
                        <a:lnR w="28575" cap="flat" cmpd="sng" algn="ctr">
                          <a:no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Endowment</a:t>
                          </a:r>
                          <a:endParaRPr lang="it-IT" sz="1000" b="1" i="0" u="none" strike="noStrike" dirty="0">
                            <a:solidFill>
                              <a:srgbClr val="FFFFFF"/>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a:solidFill>
                                <a:srgbClr val="FFFFFF"/>
                              </a:solidFill>
                              <a:effectLst/>
                              <a:latin typeface="Calibri" panose="020F0502020204030204" pitchFamily="34" charset="0"/>
                            </a:rPr>
                            <a:t>Family Office</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extLst>
                      <a:ext uri="{0D108BD9-81ED-4DB2-BD59-A6C34878D82A}">
                        <a16:rowId xmlns:a16="http://schemas.microsoft.com/office/drawing/2014/main" val="347976135"/>
                      </a:ext>
                    </a:extLst>
                  </a:tr>
                  <a:tr h="0">
                    <a:tc>
                      <a:txBody>
                        <a:bodyPr/>
                        <a:lstStyle/>
                        <a:p>
                          <a:pPr algn="ctr" fontAlgn="ctr">
                            <a:buNone/>
                          </a:pPr>
                          <a14:m>
                            <m:oMathPara xmlns:m="http://schemas.openxmlformats.org/officeDocument/2006/math">
                              <m:oMathParaPr>
                                <m:jc m:val="centerGroup"/>
                              </m:oMathParaPr>
                              <m:oMath xmlns:m="http://schemas.openxmlformats.org/officeDocument/2006/math">
                                <m:acc>
                                  <m:accPr>
                                    <m:chr m:val="̅"/>
                                    <m:ctrlPr>
                                      <a:rPr lang="en-GB" sz="1200" b="1" i="1" smtClean="0">
                                        <a:latin typeface="Cambria Math" panose="02040503050406030204" pitchFamily="18" charset="0"/>
                                      </a:rPr>
                                    </m:ctrlPr>
                                  </m:accPr>
                                  <m:e>
                                    <m:r>
                                      <a:rPr lang="en-GB" sz="1200" b="1" i="1">
                                        <a:latin typeface="Cambria Math" panose="02040503050406030204" pitchFamily="18" charset="0"/>
                                      </a:rPr>
                                      <m:t>𝜹</m:t>
                                    </m:r>
                                  </m:e>
                                </m:acc>
                              </m:oMath>
                            </m:oMathPara>
                          </a14:m>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Long-run </a:t>
                          </a:r>
                          <a:r>
                            <a:rPr lang="it-IT" sz="1000" b="0" i="0" dirty="0" err="1">
                              <a:effectLst/>
                              <a:latin typeface="ui-sans-serif"/>
                            </a:rPr>
                            <a:t>mean</a:t>
                          </a:r>
                          <a:r>
                            <a:rPr lang="it-IT" sz="1000" b="0" i="0" dirty="0">
                              <a:effectLst/>
                              <a:latin typeface="ui-sans-serif"/>
                            </a:rPr>
                            <a:t> </a:t>
                          </a:r>
                          <a:r>
                            <a:rPr lang="it-IT" sz="1000" b="0" i="0" dirty="0" err="1">
                              <a:effectLst/>
                              <a:latin typeface="ui-sans-serif"/>
                            </a:rPr>
                            <a:t>payout</a:t>
                          </a:r>
                          <a:r>
                            <a:rPr lang="it-IT" sz="1000" b="0" i="0" dirty="0">
                              <a:effectLst/>
                              <a:latin typeface="ui-sans-serif"/>
                            </a:rPr>
                            <a:t> rate</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10%</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5%</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4%</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957252497"/>
                      </a:ext>
                    </a:extLst>
                  </a:tr>
                  <a:tr h="165842">
                    <a:tc>
                      <a:txBody>
                        <a:bodyPr/>
                        <a:lstStyle/>
                        <a:p>
                          <a:pPr marL="0" marR="0" lvl="0" indent="0" algn="ctr" defTabSz="914355"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000" b="1" i="1" smtClean="0">
                                        <a:latin typeface="Cambria Math" panose="02040503050406030204" pitchFamily="18" charset="0"/>
                                      </a:rPr>
                                    </m:ctrlPr>
                                  </m:sSubPr>
                                  <m:e>
                                    <m:r>
                                      <a:rPr lang="en-GB" sz="1000" b="1" i="1">
                                        <a:latin typeface="Cambria Math" panose="02040503050406030204" pitchFamily="18" charset="0"/>
                                        <a:ea typeface="Cambria Math" panose="02040503050406030204" pitchFamily="18" charset="0"/>
                                      </a:rPr>
                                      <m:t>𝝈</m:t>
                                    </m:r>
                                  </m:e>
                                  <m:sub>
                                    <m:r>
                                      <a:rPr lang="en-GB" sz="1000" b="1" i="1">
                                        <a:latin typeface="Cambria Math" panose="02040503050406030204" pitchFamily="18" charset="0"/>
                                        <a:ea typeface="Cambria Math" panose="02040503050406030204" pitchFamily="18" charset="0"/>
                                      </a:rPr>
                                      <m:t>𝜹</m:t>
                                    </m:r>
                                  </m:sub>
                                </m:sSub>
                              </m:oMath>
                            </m:oMathPara>
                          </a14:m>
                          <a:endParaRPr kumimoji="0" lang="it-IT" sz="1000" b="1" i="0" u="none" strike="noStrike" kern="1200" cap="none" spc="0" normalizeH="0" baseline="0" noProof="0" dirty="0">
                            <a:ln>
                              <a:noFill/>
                            </a:ln>
                            <a:solidFill>
                              <a:srgbClr val="002060"/>
                            </a:solidFill>
                            <a:effectLst/>
                            <a:uLnTx/>
                            <a:uFillTx/>
                            <a:latin typeface="Calibri" panose="020F0502020204030204" pitchFamily="34" charset="0"/>
                            <a:ea typeface="+mn-ea"/>
                            <a:cs typeface="+mn-cs"/>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err="1">
                              <a:effectLst/>
                              <a:latin typeface="ui-sans-serif"/>
                            </a:rPr>
                            <a:t>Payout</a:t>
                          </a:r>
                          <a:r>
                            <a:rPr lang="it-IT" sz="1000" b="0" i="0" dirty="0">
                              <a:effectLst/>
                              <a:latin typeface="ui-sans-serif"/>
                            </a:rPr>
                            <a:t> </a:t>
                          </a:r>
                          <a:r>
                            <a:rPr lang="it-IT" sz="1000" b="0" i="0" dirty="0" err="1">
                              <a:effectLst/>
                              <a:latin typeface="ui-sans-serif"/>
                            </a:rPr>
                            <a:t>volatility</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2.5%</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1.5%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903730844"/>
                      </a:ext>
                    </a:extLst>
                  </a:tr>
                  <a:tr h="165842">
                    <a:tc>
                      <a:txBody>
                        <a:bodyPr/>
                        <a:lstStyle/>
                        <a:p>
                          <a:pPr marL="0" marR="0" lvl="0" indent="0" algn="ctr" defTabSz="914355"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000" b="1" i="1" smtClean="0">
                                        <a:latin typeface="Cambria Math" panose="02040503050406030204" pitchFamily="18" charset="0"/>
                                      </a:rPr>
                                    </m:ctrlPr>
                                  </m:sSubPr>
                                  <m:e>
                                    <m:r>
                                      <a:rPr lang="en-GB" sz="1000" b="1" i="1">
                                        <a:latin typeface="Cambria Math" panose="02040503050406030204" pitchFamily="18" charset="0"/>
                                        <a:ea typeface="Cambria Math" panose="02040503050406030204" pitchFamily="18" charset="0"/>
                                      </a:rPr>
                                      <m:t>𝝆</m:t>
                                    </m:r>
                                  </m:e>
                                  <m:sub>
                                    <m:r>
                                      <a:rPr lang="it-IT" sz="1000" b="1" i="1">
                                        <a:latin typeface="Cambria Math" panose="02040503050406030204" pitchFamily="18" charset="0"/>
                                      </a:rPr>
                                      <m:t>𝑨𝑹</m:t>
                                    </m:r>
                                  </m:sub>
                                </m:sSub>
                              </m:oMath>
                            </m:oMathPara>
                          </a14:m>
                          <a:endParaRPr kumimoji="0" lang="it-IT" sz="1000" b="1" i="0" u="none" strike="noStrike" kern="1200" cap="none" spc="0" normalizeH="0" baseline="0" noProof="0" dirty="0">
                            <a:ln>
                              <a:noFill/>
                            </a:ln>
                            <a:solidFill>
                              <a:srgbClr val="002060"/>
                            </a:solidFill>
                            <a:effectLst/>
                            <a:uLnTx/>
                            <a:uFillTx/>
                            <a:latin typeface="Calibri" panose="020F0502020204030204" pitchFamily="34" charset="0"/>
                            <a:ea typeface="+mn-ea"/>
                            <a:cs typeface="+mn-cs"/>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err="1">
                              <a:solidFill>
                                <a:srgbClr val="002060"/>
                              </a:solidFill>
                              <a:effectLst/>
                              <a:latin typeface="Calibri" panose="020F0502020204030204" pitchFamily="34" charset="0"/>
                            </a:rPr>
                            <a:t>Persistence</a:t>
                          </a:r>
                          <a:endParaRPr lang="it-IT" sz="1000" b="0"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0.65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0.55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0.35</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1401872825"/>
                      </a:ext>
                    </a:extLst>
                  </a:tr>
                  <a:tr h="165842">
                    <a:tc>
                      <a:txBody>
                        <a:bodyPr/>
                        <a:lstStyle/>
                        <a:p>
                          <a:pPr marL="0" marR="0" lvl="0" indent="0" algn="ctr" defTabSz="914355"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000" b="1" i="1" smtClean="0">
                                    <a:latin typeface="Cambria Math" panose="02040503050406030204" pitchFamily="18" charset="0"/>
                                    <a:ea typeface="Cambria Math" panose="02040503050406030204" pitchFamily="18" charset="0"/>
                                  </a:rPr>
                                  <m:t>𝝆</m:t>
                                </m:r>
                              </m:oMath>
                            </m:oMathPara>
                          </a14:m>
                          <a:endParaRPr kumimoji="0" lang="it-IT" sz="1000" b="1" i="0" u="none" strike="noStrike" kern="1200" cap="none" spc="0" normalizeH="0" baseline="0" noProof="0" dirty="0">
                            <a:ln>
                              <a:noFill/>
                            </a:ln>
                            <a:solidFill>
                              <a:srgbClr val="002060"/>
                            </a:solidFill>
                            <a:effectLst/>
                            <a:uLnTx/>
                            <a:uFillTx/>
                            <a:latin typeface="Calibri" panose="020F0502020204030204" pitchFamily="34" charset="0"/>
                            <a:ea typeface="+mn-ea"/>
                            <a:cs typeface="+mn-cs"/>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dirty="0" err="1">
                              <a:effectLst/>
                              <a:latin typeface="ui-sans-serif"/>
                            </a:rPr>
                            <a:t>Correlation</a:t>
                          </a:r>
                          <a:r>
                            <a:rPr lang="it-IT" sz="1000" b="0" i="0" dirty="0">
                              <a:effectLst/>
                              <a:latin typeface="ui-sans-serif"/>
                            </a:rPr>
                            <a:t> with equity</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dirty="0">
                              <a:effectLst/>
                              <a:latin typeface="ui-sans-serif"/>
                            </a:rPr>
                            <a:t>-0.60</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-0.35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extLst>
                      <a:ext uri="{0D108BD9-81ED-4DB2-BD59-A6C34878D82A}">
                        <a16:rowId xmlns:a16="http://schemas.microsoft.com/office/drawing/2014/main" val="334320686"/>
                      </a:ext>
                    </a:extLst>
                  </a:tr>
                  <a:tr h="205821">
                    <a:tc>
                      <a:txBody>
                        <a:bodyPr/>
                        <a:lstStyle/>
                        <a:p>
                          <a:pPr marL="0" marR="0" lvl="0" indent="0" algn="ctr" defTabSz="914355"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it-IT" sz="1000" b="1" i="1" u="none" strike="noStrike" kern="1200" cap="none" spc="0" normalizeH="0" baseline="0" noProof="0" smtClean="0">
                                        <a:ln>
                                          <a:noFill/>
                                        </a:ln>
                                        <a:solidFill>
                                          <a:srgbClr val="002060"/>
                                        </a:solidFill>
                                        <a:effectLst/>
                                        <a:uLnTx/>
                                        <a:uFillTx/>
                                        <a:latin typeface="Cambria Math" panose="02040503050406030204" pitchFamily="18" charset="0"/>
                                        <a:ea typeface="Cambria Math" panose="02040503050406030204" pitchFamily="18" charset="0"/>
                                        <a:cs typeface="+mn-cs"/>
                                      </a:rPr>
                                    </m:ctrlPr>
                                  </m:sSubSupPr>
                                  <m:e>
                                    <m:r>
                                      <a:rPr kumimoji="0" lang="it-IT" sz="1000" b="1" i="1" u="none" strike="noStrike" kern="1200" cap="none" spc="0" normalizeH="0" baseline="0" noProof="0" smtClean="0">
                                        <a:ln>
                                          <a:noFill/>
                                        </a:ln>
                                        <a:solidFill>
                                          <a:srgbClr val="002060"/>
                                        </a:solidFill>
                                        <a:effectLst/>
                                        <a:uLnTx/>
                                        <a:uFillTx/>
                                        <a:latin typeface="Cambria Math" panose="02040503050406030204" pitchFamily="18" charset="0"/>
                                        <a:ea typeface="Cambria Math" panose="02040503050406030204" pitchFamily="18" charset="0"/>
                                        <a:cs typeface="+mn-cs"/>
                                      </a:rPr>
                                      <m:t>𝒘</m:t>
                                    </m:r>
                                  </m:e>
                                  <m:sub>
                                    <m:r>
                                      <a:rPr kumimoji="0" lang="it-IT" sz="1000" b="1" i="1" u="none" strike="noStrike" kern="1200" cap="none" spc="0" normalizeH="0" baseline="0" noProof="0" smtClean="0">
                                        <a:ln>
                                          <a:noFill/>
                                        </a:ln>
                                        <a:solidFill>
                                          <a:srgbClr val="002060"/>
                                        </a:solidFill>
                                        <a:effectLst/>
                                        <a:uLnTx/>
                                        <a:uFillTx/>
                                        <a:latin typeface="Cambria Math" panose="02040503050406030204" pitchFamily="18" charset="0"/>
                                        <a:ea typeface="Cambria Math" panose="02040503050406030204" pitchFamily="18" charset="0"/>
                                        <a:cs typeface="+mn-cs"/>
                                      </a:rPr>
                                      <m:t>𝒎𝒊𝒏</m:t>
                                    </m:r>
                                  </m:sub>
                                  <m:sup>
                                    <m:r>
                                      <a:rPr kumimoji="0" lang="it-IT" sz="1000" b="1" i="1" u="none" strike="noStrike" kern="1200" cap="none" spc="0" normalizeH="0" baseline="0" noProof="0" smtClean="0">
                                        <a:ln>
                                          <a:noFill/>
                                        </a:ln>
                                        <a:solidFill>
                                          <a:srgbClr val="002060"/>
                                        </a:solidFill>
                                        <a:effectLst/>
                                        <a:uLnTx/>
                                        <a:uFillTx/>
                                        <a:latin typeface="Cambria Math" panose="02040503050406030204" pitchFamily="18" charset="0"/>
                                        <a:ea typeface="Cambria Math" panose="02040503050406030204" pitchFamily="18" charset="0"/>
                                        <a:cs typeface="+mn-cs"/>
                                      </a:rPr>
                                      <m:t>𝒍𝒊𝒒</m:t>
                                    </m:r>
                                  </m:sup>
                                </m:sSubSup>
                              </m:oMath>
                            </m:oMathPara>
                          </a14:m>
                          <a:endParaRPr kumimoji="0" lang="it-IT" sz="1000" b="1" i="0" u="none" strike="noStrike" kern="1200" cap="none" spc="0" normalizeH="0" baseline="0" noProof="0" dirty="0">
                            <a:ln>
                              <a:noFill/>
                            </a:ln>
                            <a:solidFill>
                              <a:srgbClr val="002060"/>
                            </a:solidFill>
                            <a:effectLst/>
                            <a:uLnTx/>
                            <a:uFillTx/>
                            <a:latin typeface="Calibri" panose="020F0502020204030204" pitchFamily="34" charset="0"/>
                            <a:ea typeface="+mn-ea"/>
                            <a:cs typeface="+mn-cs"/>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Minimum </a:t>
                          </a:r>
                          <a:r>
                            <a:rPr lang="it-IT" sz="1000" b="0" i="0" dirty="0" err="1">
                              <a:effectLst/>
                              <a:latin typeface="ui-sans-serif"/>
                            </a:rPr>
                            <a:t>liquid</a:t>
                          </a:r>
                          <a:r>
                            <a:rPr lang="it-IT" sz="1000" b="0" i="0" dirty="0">
                              <a:effectLst/>
                              <a:latin typeface="ui-sans-serif"/>
                            </a:rPr>
                            <a:t> buffer</a:t>
                          </a:r>
                          <a:endParaRPr lang="it-IT" sz="1000" b="1" i="0" u="none" strike="noStrike" dirty="0">
                            <a:solidFill>
                              <a:srgbClr val="A6A6A6"/>
                            </a:solidFill>
                            <a:effectLst/>
                            <a:latin typeface="Calibri" panose="020F0502020204030204" pitchFamily="34" charset="0"/>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40%</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30%</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3900797125"/>
                      </a:ext>
                    </a:extLst>
                  </a:tr>
                  <a:tr h="108728">
                    <a:tc>
                      <a:txBody>
                        <a:bodyPr/>
                        <a:lstStyle/>
                        <a:p>
                          <a:pPr algn="ctr" fontAlgn="ctr">
                            <a:buNone/>
                          </a:pPr>
                          <a14:m>
                            <m:oMathPara xmlns:m="http://schemas.openxmlformats.org/officeDocument/2006/math">
                              <m:oMathParaPr>
                                <m:jc m:val="centerGroup"/>
                              </m:oMathParaPr>
                              <m:oMath xmlns:m="http://schemas.openxmlformats.org/officeDocument/2006/math">
                                <m:r>
                                  <a:rPr kumimoji="0" lang="it-IT" sz="1000" b="1" i="1" u="none" strike="noStrike" kern="1200" cap="none" spc="0" normalizeH="0" baseline="0" noProof="0" smtClean="0">
                                    <a:ln>
                                      <a:noFill/>
                                    </a:ln>
                                    <a:solidFill>
                                      <a:srgbClr val="002060"/>
                                    </a:solidFill>
                                    <a:effectLst/>
                                    <a:uLnTx/>
                                    <a:uFillTx/>
                                    <a:latin typeface="Cambria Math" panose="02040503050406030204" pitchFamily="18" charset="0"/>
                                    <a:ea typeface="Cambria Math" panose="02040503050406030204" pitchFamily="18" charset="0"/>
                                    <a:cs typeface="+mn-cs"/>
                                  </a:rPr>
                                  <m:t>𝜸</m:t>
                                </m:r>
                              </m:oMath>
                            </m:oMathPara>
                          </a14:m>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Risk </a:t>
                          </a:r>
                          <a:r>
                            <a:rPr lang="it-IT" sz="1000" b="0" i="0" dirty="0" err="1">
                              <a:effectLst/>
                              <a:latin typeface="ui-sans-serif"/>
                            </a:rPr>
                            <a:t>Aversion</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5</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3</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2</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3269639159"/>
                      </a:ext>
                    </a:extLst>
                  </a:tr>
                </a:tbl>
              </a:graphicData>
            </a:graphic>
          </p:graphicFrame>
        </mc:Choice>
        <mc:Fallback xmlns="">
          <p:graphicFrame>
            <p:nvGraphicFramePr>
              <p:cNvPr id="11" name="Table 10">
                <a:extLst>
                  <a:ext uri="{FF2B5EF4-FFF2-40B4-BE49-F238E27FC236}">
                    <a16:creationId xmlns:a16="http://schemas.microsoft.com/office/drawing/2014/main" id="{52E97FF6-EC13-4D6A-1FF0-A44037308410}"/>
                  </a:ext>
                </a:extLst>
              </p:cNvPr>
              <p:cNvGraphicFramePr>
                <a:graphicFrameLocks noGrp="1"/>
              </p:cNvGraphicFramePr>
              <p:nvPr>
                <p:extLst>
                  <p:ext uri="{D42A27DB-BD31-4B8C-83A1-F6EECF244321}">
                    <p14:modId xmlns:p14="http://schemas.microsoft.com/office/powerpoint/2010/main" val="3405880389"/>
                  </p:ext>
                </p:extLst>
              </p:nvPr>
            </p:nvGraphicFramePr>
            <p:xfrm>
              <a:off x="428148" y="3143262"/>
              <a:ext cx="8287195" cy="1225659"/>
            </p:xfrm>
            <a:graphic>
              <a:graphicData uri="http://schemas.openxmlformats.org/drawingml/2006/table">
                <a:tbl>
                  <a:tblPr/>
                  <a:tblGrid>
                    <a:gridCol w="1657439">
                      <a:extLst>
                        <a:ext uri="{9D8B030D-6E8A-4147-A177-3AD203B41FA5}">
                          <a16:colId xmlns:a16="http://schemas.microsoft.com/office/drawing/2014/main" val="4065429468"/>
                        </a:ext>
                      </a:extLst>
                    </a:gridCol>
                    <a:gridCol w="1657439">
                      <a:extLst>
                        <a:ext uri="{9D8B030D-6E8A-4147-A177-3AD203B41FA5}">
                          <a16:colId xmlns:a16="http://schemas.microsoft.com/office/drawing/2014/main" val="1278939361"/>
                        </a:ext>
                      </a:extLst>
                    </a:gridCol>
                    <a:gridCol w="1657439">
                      <a:extLst>
                        <a:ext uri="{9D8B030D-6E8A-4147-A177-3AD203B41FA5}">
                          <a16:colId xmlns:a16="http://schemas.microsoft.com/office/drawing/2014/main" val="2083172823"/>
                        </a:ext>
                      </a:extLst>
                    </a:gridCol>
                    <a:gridCol w="1657439">
                      <a:extLst>
                        <a:ext uri="{9D8B030D-6E8A-4147-A177-3AD203B41FA5}">
                          <a16:colId xmlns:a16="http://schemas.microsoft.com/office/drawing/2014/main" val="2937183584"/>
                        </a:ext>
                      </a:extLst>
                    </a:gridCol>
                    <a:gridCol w="1657439">
                      <a:extLst>
                        <a:ext uri="{9D8B030D-6E8A-4147-A177-3AD203B41FA5}">
                          <a16:colId xmlns:a16="http://schemas.microsoft.com/office/drawing/2014/main" val="1574663979"/>
                        </a:ext>
                      </a:extLst>
                    </a:gridCol>
                  </a:tblGrid>
                  <a:tr h="164377">
                    <a:tc>
                      <a:txBody>
                        <a:bodyPr/>
                        <a:lstStyle/>
                        <a:p>
                          <a:pPr algn="ctr" fontAlgn="ctr">
                            <a:buNone/>
                          </a:pPr>
                          <a:r>
                            <a:rPr lang="en-US" sz="1000" b="1" i="0" u="none" strike="noStrike" dirty="0">
                              <a:solidFill>
                                <a:srgbClr val="FFFFFF"/>
                              </a:solidFill>
                              <a:effectLst/>
                              <a:latin typeface="Calibri" panose="020F0502020204030204" pitchFamily="34" charset="0"/>
                            </a:rPr>
                            <a:t>Parameter</a:t>
                          </a:r>
                        </a:p>
                      </a:txBody>
                      <a:tcPr marL="9073" marR="9073" marT="9073" marB="0" anchor="ctr">
                        <a:lnL>
                          <a:noFill/>
                        </a:lnL>
                        <a:lnR>
                          <a:noFill/>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Description</a:t>
                          </a:r>
                          <a:endParaRPr lang="it-IT" sz="1000" b="1" i="0" u="none" strike="noStrike" dirty="0">
                            <a:solidFill>
                              <a:srgbClr val="FFFFFF"/>
                            </a:solidFill>
                            <a:effectLst/>
                            <a:latin typeface="Calibri" panose="020F0502020204030204" pitchFamily="34" charset="0"/>
                          </a:endParaRPr>
                        </a:p>
                      </a:txBody>
                      <a:tcPr marL="9073" marR="9073" marT="9073" marB="0" anchor="ctr">
                        <a:lnL>
                          <a:noFill/>
                        </a:lnL>
                        <a:lnR>
                          <a:noFill/>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Pension</a:t>
                          </a:r>
                          <a:r>
                            <a:rPr lang="it-IT" sz="1000" b="1" i="0" u="none" strike="noStrike" dirty="0">
                              <a:solidFill>
                                <a:srgbClr val="FFFFFF"/>
                              </a:solidFill>
                              <a:effectLst/>
                              <a:latin typeface="Calibri" panose="020F0502020204030204" pitchFamily="34" charset="0"/>
                            </a:rPr>
                            <a:t> Fund</a:t>
                          </a:r>
                        </a:p>
                      </a:txBody>
                      <a:tcPr marL="9073" marR="9073" marT="9073" marB="0" anchor="ctr">
                        <a:lnL>
                          <a:noFill/>
                        </a:lnL>
                        <a:lnR w="28575" cap="flat" cmpd="sng" algn="ctr">
                          <a:no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err="1">
                              <a:solidFill>
                                <a:srgbClr val="FFFFFF"/>
                              </a:solidFill>
                              <a:effectLst/>
                              <a:latin typeface="Calibri" panose="020F0502020204030204" pitchFamily="34" charset="0"/>
                            </a:rPr>
                            <a:t>Endowment</a:t>
                          </a:r>
                          <a:endParaRPr lang="it-IT" sz="1000" b="1" i="0" u="none" strike="noStrike" dirty="0">
                            <a:solidFill>
                              <a:srgbClr val="FFFFFF"/>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tc>
                      <a:txBody>
                        <a:bodyPr/>
                        <a:lstStyle/>
                        <a:p>
                          <a:pPr algn="ctr" fontAlgn="ctr">
                            <a:buNone/>
                          </a:pPr>
                          <a:r>
                            <a:rPr lang="it-IT" sz="1000" b="1" i="0" u="none" strike="noStrike" dirty="0">
                              <a:solidFill>
                                <a:srgbClr val="FFFFFF"/>
                              </a:solidFill>
                              <a:effectLst/>
                              <a:latin typeface="Calibri" panose="020F0502020204030204" pitchFamily="34" charset="0"/>
                            </a:rPr>
                            <a:t>Family Office</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00A0E3"/>
                        </a:solidFill>
                      </a:tcPr>
                    </a:tc>
                    <a:extLst>
                      <a:ext uri="{0D108BD9-81ED-4DB2-BD59-A6C34878D82A}">
                        <a16:rowId xmlns:a16="http://schemas.microsoft.com/office/drawing/2014/main" val="347976135"/>
                      </a:ext>
                    </a:extLst>
                  </a:tr>
                  <a:tr h="196462">
                    <a:tc>
                      <a:txBody>
                        <a:bodyPr/>
                        <a:lstStyle/>
                        <a:p>
                          <a:endParaRPr lang="en-US"/>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blipFill>
                          <a:blip r:embed="rId4"/>
                          <a:stretch>
                            <a:fillRect t="-96875" r="-401838" b="-487500"/>
                          </a:stretch>
                        </a:blipFill>
                      </a:tcPr>
                    </a:tc>
                    <a:tc>
                      <a:txBody>
                        <a:bodyPr/>
                        <a:lstStyle/>
                        <a:p>
                          <a:pPr algn="ctr" fontAlgn="ctr">
                            <a:buNone/>
                          </a:pPr>
                          <a:r>
                            <a:rPr lang="it-IT" sz="1000" b="0" i="0" dirty="0">
                              <a:effectLst/>
                              <a:latin typeface="ui-sans-serif"/>
                            </a:rPr>
                            <a:t>Long-run </a:t>
                          </a:r>
                          <a:r>
                            <a:rPr lang="it-IT" sz="1000" b="0" i="0" dirty="0" err="1">
                              <a:effectLst/>
                              <a:latin typeface="ui-sans-serif"/>
                            </a:rPr>
                            <a:t>mean</a:t>
                          </a:r>
                          <a:r>
                            <a:rPr lang="it-IT" sz="1000" b="0" i="0" dirty="0">
                              <a:effectLst/>
                              <a:latin typeface="ui-sans-serif"/>
                            </a:rPr>
                            <a:t> </a:t>
                          </a:r>
                          <a:r>
                            <a:rPr lang="it-IT" sz="1000" b="0" i="0" dirty="0" err="1">
                              <a:effectLst/>
                              <a:latin typeface="ui-sans-serif"/>
                            </a:rPr>
                            <a:t>payout</a:t>
                          </a:r>
                          <a:r>
                            <a:rPr lang="it-IT" sz="1000" b="0" i="0" dirty="0">
                              <a:effectLst/>
                              <a:latin typeface="ui-sans-serif"/>
                            </a:rPr>
                            <a:t> rate</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10%</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5%</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4%</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957252497"/>
                      </a:ext>
                    </a:extLst>
                  </a:tr>
                  <a:tr h="165842">
                    <a:tc>
                      <a:txBody>
                        <a:bodyPr/>
                        <a:lstStyle/>
                        <a:p>
                          <a:endParaRPr lang="en-US"/>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blipFill>
                          <a:blip r:embed="rId4"/>
                          <a:stretch>
                            <a:fillRect t="-225000" r="-401838" b="-457143"/>
                          </a:stretch>
                        </a:blipFill>
                      </a:tcPr>
                    </a:tc>
                    <a:tc>
                      <a:txBody>
                        <a:bodyPr/>
                        <a:lstStyle/>
                        <a:p>
                          <a:pPr algn="ctr" fontAlgn="ctr">
                            <a:buNone/>
                          </a:pPr>
                          <a:r>
                            <a:rPr lang="it-IT" sz="1000" b="0" i="0" dirty="0" err="1">
                              <a:effectLst/>
                              <a:latin typeface="ui-sans-serif"/>
                            </a:rPr>
                            <a:t>Payout</a:t>
                          </a:r>
                          <a:r>
                            <a:rPr lang="it-IT" sz="1000" b="0" i="0" dirty="0">
                              <a:effectLst/>
                              <a:latin typeface="ui-sans-serif"/>
                            </a:rPr>
                            <a:t> </a:t>
                          </a:r>
                          <a:r>
                            <a:rPr lang="it-IT" sz="1000" b="0" i="0" dirty="0" err="1">
                              <a:effectLst/>
                              <a:latin typeface="ui-sans-serif"/>
                            </a:rPr>
                            <a:t>volatility</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2.5%</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1.5%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903730844"/>
                      </a:ext>
                    </a:extLst>
                  </a:tr>
                  <a:tr h="165842">
                    <a:tc>
                      <a:txBody>
                        <a:bodyPr/>
                        <a:lstStyle/>
                        <a:p>
                          <a:endParaRPr lang="en-US"/>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blipFill>
                          <a:blip r:embed="rId4"/>
                          <a:stretch>
                            <a:fillRect t="-337037" r="-401838" b="-374074"/>
                          </a:stretch>
                        </a:blipFill>
                      </a:tcPr>
                    </a:tc>
                    <a:tc>
                      <a:txBody>
                        <a:bodyPr/>
                        <a:lstStyle/>
                        <a:p>
                          <a:pPr algn="ctr" fontAlgn="ctr">
                            <a:buNone/>
                          </a:pPr>
                          <a:r>
                            <a:rPr lang="it-IT" sz="1000" b="0" i="0" u="none" strike="noStrike" dirty="0" err="1">
                              <a:solidFill>
                                <a:srgbClr val="002060"/>
                              </a:solidFill>
                              <a:effectLst/>
                              <a:latin typeface="Calibri" panose="020F0502020204030204" pitchFamily="34" charset="0"/>
                            </a:rPr>
                            <a:t>Persistence</a:t>
                          </a:r>
                          <a:endParaRPr lang="it-IT" sz="1000" b="0"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0.65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0.55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0.35</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1401872825"/>
                      </a:ext>
                    </a:extLst>
                  </a:tr>
                  <a:tr h="165842">
                    <a:tc>
                      <a:txBody>
                        <a:bodyPr/>
                        <a:lstStyle/>
                        <a:p>
                          <a:endParaRPr lang="en-US"/>
                        </a:p>
                      </a:txBody>
                      <a:tcPr marL="9073" marR="9073" marT="9073" marB="0" anchor="ctr">
                        <a:lnL>
                          <a:noFill/>
                        </a:lnL>
                        <a:lnR>
                          <a:noFill/>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blipFill>
                          <a:blip r:embed="rId4"/>
                          <a:stretch>
                            <a:fillRect t="-437037" r="-401838" b="-274074"/>
                          </a:stretch>
                        </a:blipFill>
                      </a:tcPr>
                    </a:tc>
                    <a:tc>
                      <a:txBody>
                        <a:bodyPr/>
                        <a:lstStyle/>
                        <a:p>
                          <a:pPr algn="ctr" fontAlgn="ctr">
                            <a:buNone/>
                          </a:pPr>
                          <a:r>
                            <a:rPr lang="it-IT" sz="1000" b="0" i="0" dirty="0" err="1">
                              <a:effectLst/>
                              <a:latin typeface="ui-sans-serif"/>
                            </a:rPr>
                            <a:t>Correlation</a:t>
                          </a:r>
                          <a:r>
                            <a:rPr lang="it-IT" sz="1000" b="0" i="0" dirty="0">
                              <a:effectLst/>
                              <a:latin typeface="ui-sans-serif"/>
                            </a:rPr>
                            <a:t> with equity</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dirty="0">
                              <a:effectLst/>
                              <a:latin typeface="ui-sans-serif"/>
                            </a:rPr>
                            <a:t>-0.60</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-0.35</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-0.20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12700" cap="flat" cmpd="sng" algn="ctr">
                          <a:solidFill>
                            <a:srgbClr val="00B0F0"/>
                          </a:solidFill>
                          <a:prstDash val="solid"/>
                          <a:round/>
                          <a:headEnd type="none" w="med" len="med"/>
                          <a:tailEnd type="none" w="med" len="med"/>
                        </a:lnB>
                        <a:solidFill>
                          <a:srgbClr val="FFFFFF"/>
                        </a:solidFill>
                      </a:tcPr>
                    </a:tc>
                    <a:extLst>
                      <a:ext uri="{0D108BD9-81ED-4DB2-BD59-A6C34878D82A}">
                        <a16:rowId xmlns:a16="http://schemas.microsoft.com/office/drawing/2014/main" val="334320686"/>
                      </a:ext>
                    </a:extLst>
                  </a:tr>
                  <a:tr h="205821">
                    <a:tc>
                      <a:txBody>
                        <a:bodyPr/>
                        <a:lstStyle/>
                        <a:p>
                          <a:endParaRPr lang="en-US"/>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blipFill>
                          <a:blip r:embed="rId4"/>
                          <a:stretch>
                            <a:fillRect t="-426471" r="-401838" b="-117647"/>
                          </a:stretch>
                        </a:blipFill>
                      </a:tcPr>
                    </a:tc>
                    <a:tc>
                      <a:txBody>
                        <a:bodyPr/>
                        <a:lstStyle/>
                        <a:p>
                          <a:pPr algn="ctr" fontAlgn="ctr">
                            <a:buNone/>
                          </a:pPr>
                          <a:r>
                            <a:rPr lang="it-IT" sz="1000" b="0" i="0" dirty="0">
                              <a:effectLst/>
                              <a:latin typeface="ui-sans-serif"/>
                            </a:rPr>
                            <a:t>Minimum </a:t>
                          </a:r>
                          <a:r>
                            <a:rPr lang="it-IT" sz="1000" b="0" i="0" dirty="0" err="1">
                              <a:effectLst/>
                              <a:latin typeface="ui-sans-serif"/>
                            </a:rPr>
                            <a:t>liquid</a:t>
                          </a:r>
                          <a:r>
                            <a:rPr lang="it-IT" sz="1000" b="0" i="0" dirty="0">
                              <a:effectLst/>
                              <a:latin typeface="ui-sans-serif"/>
                            </a:rPr>
                            <a:t> buffer</a:t>
                          </a:r>
                          <a:endParaRPr lang="it-IT" sz="1000" b="1" i="0" u="none" strike="noStrike" dirty="0">
                            <a:solidFill>
                              <a:srgbClr val="A6A6A6"/>
                            </a:solidFill>
                            <a:effectLst/>
                            <a:latin typeface="Calibri" panose="020F0502020204030204" pitchFamily="34" charset="0"/>
                          </a:endParaRPr>
                        </a:p>
                      </a:txBody>
                      <a:tcPr marL="9073" marR="9073" marT="9073" marB="0" anchor="ctr">
                        <a:lnL>
                          <a:noFill/>
                        </a:lnL>
                        <a:lnR>
                          <a:noFill/>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40%</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30%</a:t>
                          </a:r>
                        </a:p>
                      </a:txBody>
                      <a:tcPr marL="9073" marR="9073" marT="9073" marB="0" anchor="ctr">
                        <a:lnL>
                          <a:noFill/>
                        </a:lnL>
                        <a:lnR w="28575" cap="flat" cmpd="sng" algn="ctr">
                          <a:no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marL="0" algn="ctr" defTabSz="914355" rtl="0" eaLnBrk="1" fontAlgn="ctr" latinLnBrk="0" hangingPunct="1">
                            <a:buNone/>
                          </a:pPr>
                          <a:r>
                            <a:rPr lang="it-IT" sz="1000" b="0" i="0" kern="1200" dirty="0">
                              <a:solidFill>
                                <a:schemeClr val="tx1"/>
                              </a:solidFill>
                              <a:effectLst/>
                              <a:latin typeface="ui-sans-serif"/>
                              <a:ea typeface="+mn-ea"/>
                              <a:cs typeface="+mn-cs"/>
                            </a:rPr>
                            <a:t>20%</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3900797125"/>
                      </a:ext>
                    </a:extLst>
                  </a:tr>
                  <a:tr h="161473">
                    <a:tc>
                      <a:txBody>
                        <a:bodyPr/>
                        <a:lstStyle/>
                        <a:p>
                          <a:endParaRPr lang="en-US"/>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blipFill>
                          <a:blip r:embed="rId4"/>
                          <a:stretch>
                            <a:fillRect t="-662963" r="-401838" b="-48148"/>
                          </a:stretch>
                        </a:blipFill>
                      </a:tcPr>
                    </a:tc>
                    <a:tc>
                      <a:txBody>
                        <a:bodyPr/>
                        <a:lstStyle/>
                        <a:p>
                          <a:pPr algn="ctr" fontAlgn="ctr">
                            <a:buNone/>
                          </a:pPr>
                          <a:r>
                            <a:rPr lang="it-IT" sz="1000" b="0" i="0" dirty="0">
                              <a:effectLst/>
                              <a:latin typeface="ui-sans-serif"/>
                            </a:rPr>
                            <a:t>Risk </a:t>
                          </a:r>
                          <a:r>
                            <a:rPr lang="it-IT" sz="1000" b="0" i="0" dirty="0" err="1">
                              <a:effectLst/>
                              <a:latin typeface="ui-sans-serif"/>
                            </a:rPr>
                            <a:t>Aversion</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a:noFill/>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dirty="0">
                              <a:effectLst/>
                              <a:latin typeface="ui-sans-serif"/>
                            </a:rPr>
                            <a:t>5</a:t>
                          </a:r>
                          <a:endParaRPr lang="it-IT" sz="1000" b="1" i="0" u="none" strike="noStrike" dirty="0">
                            <a:solidFill>
                              <a:srgbClr val="002060"/>
                            </a:solidFill>
                            <a:effectLst/>
                            <a:latin typeface="Calibri" panose="020F0502020204030204" pitchFamily="34" charset="0"/>
                          </a:endParaRP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3</a:t>
                          </a:r>
                        </a:p>
                      </a:txBody>
                      <a:tcPr marL="9073" marR="9073" marT="9073" marB="0" anchor="ctr">
                        <a:lnL>
                          <a:noFill/>
                        </a:lnL>
                        <a:lnR w="28575" cap="flat" cmpd="sng" algn="ctr">
                          <a:no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tc>
                      <a:txBody>
                        <a:bodyPr/>
                        <a:lstStyle/>
                        <a:p>
                          <a:pPr algn="ctr" fontAlgn="ctr">
                            <a:buNone/>
                          </a:pPr>
                          <a:r>
                            <a:rPr lang="it-IT" sz="1000" b="0" i="0" u="none" strike="noStrike" dirty="0">
                              <a:solidFill>
                                <a:srgbClr val="002060"/>
                              </a:solidFill>
                              <a:effectLst/>
                              <a:latin typeface="Calibri" panose="020F0502020204030204" pitchFamily="34" charset="0"/>
                            </a:rPr>
                            <a:t>2</a:t>
                          </a:r>
                        </a:p>
                      </a:txBody>
                      <a:tcPr marL="9073" marR="9073" marT="9073" marB="0" anchor="ctr">
                        <a:lnL>
                          <a:noFill/>
                        </a:lnL>
                        <a:lnR w="28575" cap="flat" cmpd="sng" algn="ctr">
                          <a:solidFill>
                            <a:schemeClr val="tx1">
                              <a:lumMod val="50000"/>
                              <a:lumOff val="50000"/>
                            </a:schemeClr>
                          </a:solidFill>
                          <a:prstDash val="solid"/>
                          <a:round/>
                          <a:headEnd type="none" w="med" len="med"/>
                          <a:tailEnd type="none" w="med" len="med"/>
                        </a:lnR>
                        <a:lnT w="6350" cap="flat" cmpd="sng" algn="ctr">
                          <a:solidFill>
                            <a:srgbClr val="00B0F0"/>
                          </a:solidFill>
                          <a:prstDash val="dash"/>
                          <a:round/>
                          <a:headEnd type="none" w="med" len="med"/>
                          <a:tailEnd type="none" w="med" len="med"/>
                        </a:lnT>
                        <a:lnB w="6350" cap="flat" cmpd="sng" algn="ctr">
                          <a:solidFill>
                            <a:srgbClr val="00B0F0"/>
                          </a:solidFill>
                          <a:prstDash val="dash"/>
                          <a:round/>
                          <a:headEnd type="none" w="med" len="med"/>
                          <a:tailEnd type="none" w="med" len="med"/>
                        </a:lnB>
                        <a:solidFill>
                          <a:srgbClr val="FFFFFF"/>
                        </a:solidFill>
                      </a:tcPr>
                    </a:tc>
                    <a:extLst>
                      <a:ext uri="{0D108BD9-81ED-4DB2-BD59-A6C34878D82A}">
                        <a16:rowId xmlns:a16="http://schemas.microsoft.com/office/drawing/2014/main" val="3269639159"/>
                      </a:ext>
                    </a:extLst>
                  </a:tr>
                </a:tbl>
              </a:graphicData>
            </a:graphic>
          </p:graphicFrame>
        </mc:Fallback>
      </mc:AlternateContent>
    </p:spTree>
    <p:extLst>
      <p:ext uri="{BB962C8B-B14F-4D97-AF65-F5344CB8AC3E}">
        <p14:creationId xmlns:p14="http://schemas.microsoft.com/office/powerpoint/2010/main" val="2226656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54C4-8D2E-2DC1-25CB-150BAB50F40E}"/>
            </a:ext>
          </a:extLst>
        </p:cNvPr>
        <p:cNvGrpSpPr/>
        <p:nvPr/>
      </p:nvGrpSpPr>
      <p:grpSpPr>
        <a:xfrm>
          <a:off x="0" y="0"/>
          <a:ext cx="0" cy="0"/>
          <a:chOff x="0" y="0"/>
          <a:chExt cx="0" cy="0"/>
        </a:xfrm>
      </p:grpSpPr>
      <p:sp>
        <p:nvSpPr>
          <p:cNvPr id="9" name="Curved Right Arrow 91">
            <a:extLst>
              <a:ext uri="{FF2B5EF4-FFF2-40B4-BE49-F238E27FC236}">
                <a16:creationId xmlns:a16="http://schemas.microsoft.com/office/drawing/2014/main" id="{DE9C3BFE-52D3-F85A-C60D-7B07FFD535C4}"/>
              </a:ext>
            </a:extLst>
          </p:cNvPr>
          <p:cNvSpPr>
            <a:spLocks/>
          </p:cNvSpPr>
          <p:nvPr/>
        </p:nvSpPr>
        <p:spPr>
          <a:xfrm rot="5400000">
            <a:off x="3405120" y="-398608"/>
            <a:ext cx="447215" cy="7077121"/>
          </a:xfrm>
          <a:prstGeom prst="curvedRightArrow">
            <a:avLst>
              <a:gd name="adj1" fmla="val 41956"/>
              <a:gd name="adj2" fmla="val 87186"/>
              <a:gd name="adj3" fmla="val 23553"/>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000">
              <a:ln w="0"/>
              <a:solidFill>
                <a:schemeClr val="accent1"/>
              </a:solidFill>
              <a:effectLst>
                <a:outerShdw blurRad="38100" dist="25400" dir="5400000" algn="ctr" rotWithShape="0">
                  <a:srgbClr val="6E747A">
                    <a:alpha val="43000"/>
                  </a:srgbClr>
                </a:outerShdw>
              </a:effectLst>
            </a:endParaRPr>
          </a:p>
        </p:txBody>
      </p:sp>
      <p:sp>
        <p:nvSpPr>
          <p:cNvPr id="2" name="Titre 1">
            <a:extLst>
              <a:ext uri="{FF2B5EF4-FFF2-40B4-BE49-F238E27FC236}">
                <a16:creationId xmlns:a16="http://schemas.microsoft.com/office/drawing/2014/main" id="{BF99C507-C04A-AF79-2DD7-79FA52D62FAD}"/>
              </a:ext>
            </a:extLst>
          </p:cNvPr>
          <p:cNvSpPr>
            <a:spLocks noGrp="1"/>
          </p:cNvSpPr>
          <p:nvPr>
            <p:ph type="title"/>
          </p:nvPr>
        </p:nvSpPr>
        <p:spPr/>
        <p:txBody>
          <a:bodyPr/>
          <a:lstStyle/>
          <a:p>
            <a:r>
              <a:rPr lang="it-IT" dirty="0" err="1"/>
              <a:t>Simulation</a:t>
            </a:r>
            <a:r>
              <a:rPr lang="it-IT" dirty="0"/>
              <a:t>, </a:t>
            </a:r>
            <a:r>
              <a:rPr lang="it-IT" dirty="0" err="1"/>
              <a:t>Aggregation</a:t>
            </a:r>
            <a:r>
              <a:rPr lang="it-IT" dirty="0"/>
              <a:t> &amp; Fitting</a:t>
            </a:r>
          </a:p>
        </p:txBody>
      </p:sp>
      <p:sp>
        <p:nvSpPr>
          <p:cNvPr id="4" name="Espace réservé du pied de page 3">
            <a:extLst>
              <a:ext uri="{FF2B5EF4-FFF2-40B4-BE49-F238E27FC236}">
                <a16:creationId xmlns:a16="http://schemas.microsoft.com/office/drawing/2014/main" id="{E778F393-3C54-07A7-0C84-59B3503BAE8A}"/>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4913B00C-E561-312B-CF56-F8DADEDD33F5}"/>
              </a:ext>
            </a:extLst>
          </p:cNvPr>
          <p:cNvSpPr>
            <a:spLocks noGrp="1"/>
          </p:cNvSpPr>
          <p:nvPr>
            <p:ph type="sldNum" sz="quarter" idx="12"/>
          </p:nvPr>
        </p:nvSpPr>
        <p:spPr/>
        <p:txBody>
          <a:bodyPr/>
          <a:lstStyle/>
          <a:p>
            <a:fld id="{2B1C6FFC-D040-034F-8B69-20295064E64D}" type="slidenum">
              <a:rPr lang="fr-FR" smtClean="0"/>
              <a:t>10</a:t>
            </a:fld>
            <a:endParaRPr lang="fr-FR" dirty="0"/>
          </a:p>
        </p:txBody>
      </p:sp>
      <p:sp>
        <p:nvSpPr>
          <p:cNvPr id="6" name="Espace réservé du texte 5">
            <a:extLst>
              <a:ext uri="{FF2B5EF4-FFF2-40B4-BE49-F238E27FC236}">
                <a16:creationId xmlns:a16="http://schemas.microsoft.com/office/drawing/2014/main" id="{6F205DB0-8A1E-1453-A7C2-C1BC6F176926}"/>
              </a:ext>
            </a:extLst>
          </p:cNvPr>
          <p:cNvSpPr>
            <a:spLocks noGrp="1"/>
          </p:cNvSpPr>
          <p:nvPr>
            <p:ph type="body" sz="quarter" idx="13"/>
          </p:nvPr>
        </p:nvSpPr>
        <p:spPr/>
        <p:txBody>
          <a:bodyPr/>
          <a:lstStyle/>
          <a:p>
            <a:r>
              <a:rPr lang="it-IT" dirty="0"/>
              <a:t>The </a:t>
            </a:r>
            <a:r>
              <a:rPr lang="it-IT" dirty="0" err="1"/>
              <a:t>Annual</a:t>
            </a:r>
            <a:r>
              <a:rPr lang="it-IT" dirty="0"/>
              <a:t> </a:t>
            </a:r>
            <a:r>
              <a:rPr lang="it-IT" dirty="0" err="1"/>
              <a:t>Simulation</a:t>
            </a:r>
            <a:r>
              <a:rPr lang="it-IT" dirty="0"/>
              <a:t> </a:t>
            </a:r>
            <a:r>
              <a:rPr lang="it-IT" dirty="0" err="1"/>
              <a:t>Cycle</a:t>
            </a:r>
            <a:endParaRPr lang="it-IT" dirty="0"/>
          </a:p>
        </p:txBody>
      </p:sp>
      <p:grpSp>
        <p:nvGrpSpPr>
          <p:cNvPr id="85" name="Group 84">
            <a:extLst>
              <a:ext uri="{FF2B5EF4-FFF2-40B4-BE49-F238E27FC236}">
                <a16:creationId xmlns:a16="http://schemas.microsoft.com/office/drawing/2014/main" id="{DA6EFD00-B3D0-D72C-9066-1B16B7FE89AE}"/>
              </a:ext>
            </a:extLst>
          </p:cNvPr>
          <p:cNvGrpSpPr/>
          <p:nvPr/>
        </p:nvGrpSpPr>
        <p:grpSpPr>
          <a:xfrm>
            <a:off x="136502" y="1191037"/>
            <a:ext cx="8870995" cy="2930003"/>
            <a:chOff x="337757" y="1325780"/>
            <a:chExt cx="8972390" cy="3182546"/>
          </a:xfrm>
        </p:grpSpPr>
        <p:grpSp>
          <p:nvGrpSpPr>
            <p:cNvPr id="59" name="Group 58">
              <a:extLst>
                <a:ext uri="{FF2B5EF4-FFF2-40B4-BE49-F238E27FC236}">
                  <a16:creationId xmlns:a16="http://schemas.microsoft.com/office/drawing/2014/main" id="{173EFB28-E7D9-836B-EA7D-24D8096BA110}"/>
                </a:ext>
              </a:extLst>
            </p:cNvPr>
            <p:cNvGrpSpPr/>
            <p:nvPr/>
          </p:nvGrpSpPr>
          <p:grpSpPr>
            <a:xfrm>
              <a:off x="337757" y="1326906"/>
              <a:ext cx="1952228" cy="3180294"/>
              <a:chOff x="273005" y="1913562"/>
              <a:chExt cx="1952228" cy="2801538"/>
            </a:xfrm>
          </p:grpSpPr>
          <p:grpSp>
            <p:nvGrpSpPr>
              <p:cNvPr id="58" name="Group 57">
                <a:extLst>
                  <a:ext uri="{FF2B5EF4-FFF2-40B4-BE49-F238E27FC236}">
                    <a16:creationId xmlns:a16="http://schemas.microsoft.com/office/drawing/2014/main" id="{6A207CE4-766D-1D0E-F7C9-2F5920FFFB21}"/>
                  </a:ext>
                </a:extLst>
              </p:cNvPr>
              <p:cNvGrpSpPr/>
              <p:nvPr/>
            </p:nvGrpSpPr>
            <p:grpSpPr>
              <a:xfrm>
                <a:off x="428652" y="1913562"/>
                <a:ext cx="1610424" cy="2801538"/>
                <a:chOff x="428652" y="1913562"/>
                <a:chExt cx="1610424" cy="2801538"/>
              </a:xfrm>
            </p:grpSpPr>
            <p:sp>
              <p:nvSpPr>
                <p:cNvPr id="14" name="Rectangle 13">
                  <a:extLst>
                    <a:ext uri="{FF2B5EF4-FFF2-40B4-BE49-F238E27FC236}">
                      <a16:creationId xmlns:a16="http://schemas.microsoft.com/office/drawing/2014/main" id="{6FDC196C-CFD7-63F1-1390-3BB4EEAFE92D}"/>
                    </a:ext>
                  </a:extLst>
                </p:cNvPr>
                <p:cNvSpPr/>
                <p:nvPr/>
              </p:nvSpPr>
              <p:spPr>
                <a:xfrm>
                  <a:off x="428652" y="1996888"/>
                  <a:ext cx="1610424" cy="2718212"/>
                </a:xfrm>
                <a:prstGeom prst="rect">
                  <a:avLst/>
                </a:prstGeom>
                <a:solidFill>
                  <a:srgbClr val="FCEA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endParaRPr lang="it-IT" sz="1400" b="1" dirty="0">
                    <a:solidFill>
                      <a:schemeClr val="tx1"/>
                    </a:solidFill>
                    <a:latin typeface="Arial" panose="020B0604020202020204" pitchFamily="34" charset="0"/>
                    <a:cs typeface="Arial" panose="020B0604020202020204" pitchFamily="34" charset="0"/>
                  </a:endParaRPr>
                </a:p>
              </p:txBody>
            </p:sp>
            <p:sp>
              <p:nvSpPr>
                <p:cNvPr id="17" name="Rectangle: Rounded Corners 16">
                  <a:extLst>
                    <a:ext uri="{FF2B5EF4-FFF2-40B4-BE49-F238E27FC236}">
                      <a16:creationId xmlns:a16="http://schemas.microsoft.com/office/drawing/2014/main" id="{D9271600-7FA6-C3F6-46AA-67EBD384ACE3}"/>
                    </a:ext>
                  </a:extLst>
                </p:cNvPr>
                <p:cNvSpPr/>
                <p:nvPr/>
              </p:nvSpPr>
              <p:spPr>
                <a:xfrm>
                  <a:off x="560951" y="1913562"/>
                  <a:ext cx="1376336" cy="329790"/>
                </a:xfrm>
                <a:prstGeom prst="roundRect">
                  <a:avLst/>
                </a:prstGeom>
                <a:solidFill>
                  <a:srgbClr val="004F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it-IT" sz="1400" b="1"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871197-F84C-47A5-BD88-AC71F7A29717}"/>
                        </a:ext>
                      </a:extLst>
                    </p:cNvPr>
                    <p:cNvSpPr txBox="1"/>
                    <p:nvPr/>
                  </p:nvSpPr>
                  <p:spPr>
                    <a:xfrm>
                      <a:off x="485993" y="2350376"/>
                      <a:ext cx="1508961" cy="1450465"/>
                    </a:xfrm>
                    <a:prstGeom prst="rect">
                      <a:avLst/>
                    </a:prstGeom>
                    <a:noFill/>
                  </p:spPr>
                  <p:txBody>
                    <a:bodyPr wrap="square">
                      <a:spAutoFit/>
                    </a:bodyPr>
                    <a:lstStyle/>
                    <a:p>
                      <a:pPr algn="ctr"/>
                      <a14:m>
                        <m:oMath xmlns:m="http://schemas.openxmlformats.org/officeDocument/2006/math">
                          <m:sSub>
                            <m:sSubPr>
                              <m:ctrlPr>
                                <a:rPr lang="en-US" sz="800" b="1" i="1" dirty="0" smtClean="0">
                                  <a:latin typeface="Cambria Math" panose="02040503050406030204" pitchFamily="18" charset="0"/>
                                </a:rPr>
                              </m:ctrlPr>
                            </m:sSubPr>
                            <m:e>
                              <m:r>
                                <a:rPr lang="it-IT" sz="800" b="1" i="1" dirty="0" smtClean="0">
                                  <a:latin typeface="Cambria Math" panose="02040503050406030204" pitchFamily="18" charset="0"/>
                                </a:rPr>
                                <m:t>𝒓</m:t>
                              </m:r>
                            </m:e>
                            <m:sub>
                              <m:r>
                                <a:rPr lang="it-IT" sz="800" b="1" i="1" dirty="0" smtClean="0">
                                  <a:latin typeface="Cambria Math" panose="02040503050406030204" pitchFamily="18" charset="0"/>
                                </a:rPr>
                                <m:t>𝒕</m:t>
                              </m:r>
                            </m:sub>
                          </m:sSub>
                          <m:r>
                            <a:rPr lang="en-US" sz="800" b="1" i="1" dirty="0">
                              <a:latin typeface="Cambria Math" panose="02040503050406030204" pitchFamily="18" charset="0"/>
                            </a:rPr>
                            <m:t> ~ </m:t>
                          </m:r>
                          <m:r>
                            <a:rPr lang="en-US" sz="800" b="1" i="1" dirty="0">
                              <a:latin typeface="Cambria Math" panose="02040503050406030204" pitchFamily="18" charset="0"/>
                            </a:rPr>
                            <m:t>𝑵</m:t>
                          </m:r>
                          <m:r>
                            <a:rPr lang="en-US" sz="800" b="1" i="1" dirty="0">
                              <a:latin typeface="Cambria Math" panose="02040503050406030204" pitchFamily="18" charset="0"/>
                            </a:rPr>
                            <m:t>(</m:t>
                          </m:r>
                          <m:r>
                            <a:rPr lang="en-US" sz="800" b="1" i="1" dirty="0" err="1">
                              <a:latin typeface="Cambria Math" panose="02040503050406030204" pitchFamily="18" charset="0"/>
                            </a:rPr>
                            <m:t>𝝁</m:t>
                          </m:r>
                          <m:r>
                            <a:rPr lang="it-IT" sz="800" b="1" i="1" dirty="0" smtClean="0">
                              <a:latin typeface="Cambria Math" panose="02040503050406030204" pitchFamily="18" charset="0"/>
                            </a:rPr>
                            <m:t>,</m:t>
                          </m:r>
                          <m:r>
                            <a:rPr lang="en-US" sz="800" b="1" i="1" dirty="0">
                              <a:latin typeface="Cambria Math" panose="02040503050406030204" pitchFamily="18" charset="0"/>
                            </a:rPr>
                            <m:t> </m:t>
                          </m:r>
                          <m:r>
                            <a:rPr lang="en-US" sz="800" b="1" i="0" dirty="0">
                              <a:latin typeface="Cambria Math" panose="02040503050406030204" pitchFamily="18" charset="0"/>
                            </a:rPr>
                            <m:t>𝚺</m:t>
                          </m:r>
                          <m:r>
                            <a:rPr lang="en-US" sz="800" b="1" i="1" dirty="0">
                              <a:latin typeface="Cambria Math" panose="02040503050406030204" pitchFamily="18" charset="0"/>
                            </a:rPr>
                            <m:t>) </m:t>
                          </m:r>
                        </m:oMath>
                      </a14:m>
                      <a:r>
                        <a:rPr lang="en-US" sz="800" b="1" dirty="0"/>
                        <a:t> </a:t>
                      </a:r>
                    </a:p>
                    <a:p>
                      <a:pPr algn="ctr"/>
                      <a:endParaRPr lang="en-US" sz="800" dirty="0"/>
                    </a:p>
                    <a:p>
                      <a:pPr algn="ctr"/>
                      <a:r>
                        <a:rPr lang="en-US" sz="800" b="1" dirty="0"/>
                        <a:t>Same realization </a:t>
                      </a:r>
                      <a:r>
                        <a:rPr lang="en-US" sz="800" dirty="0"/>
                        <a:t>shared by both </a:t>
                      </a:r>
                      <a:r>
                        <a:rPr lang="en-US" sz="800" b="1" dirty="0"/>
                        <a:t>benchmark and actual </a:t>
                      </a:r>
                      <a:r>
                        <a:rPr lang="en-US" sz="800" dirty="0"/>
                        <a:t>portfolio</a:t>
                      </a:r>
                    </a:p>
                    <a:p>
                      <a:pPr algn="ctr"/>
                      <a:endParaRPr lang="en-US" sz="800" dirty="0"/>
                    </a:p>
                    <a:p>
                      <a:pPr algn="ctr"/>
                      <a:r>
                        <a:rPr lang="en-US" sz="800" dirty="0"/>
                        <a:t>Ensures: any </a:t>
                      </a:r>
                      <a:r>
                        <a:rPr lang="en-US" sz="800" b="1" dirty="0"/>
                        <a:t>return difference captures </a:t>
                      </a:r>
                      <a:r>
                        <a:rPr lang="en-US" sz="800" dirty="0"/>
                        <a:t>only the effect of </a:t>
                      </a:r>
                      <a:r>
                        <a:rPr lang="en-US" sz="800" b="1" dirty="0"/>
                        <a:t>illiquidity constraints</a:t>
                      </a:r>
                      <a:r>
                        <a:rPr lang="en-US" sz="800" dirty="0"/>
                        <a:t>, not different market outcomes</a:t>
                      </a:r>
                    </a:p>
                    <a:p>
                      <a:pPr algn="ctr"/>
                      <a:endParaRPr lang="en-US" sz="800" dirty="0"/>
                    </a:p>
                    <a:p>
                      <a:pPr algn="ctr"/>
                      <a:endParaRPr lang="it-IT" sz="200" dirty="0"/>
                    </a:p>
                  </p:txBody>
                </p:sp>
              </mc:Choice>
              <mc:Fallback xmlns="">
                <p:sp>
                  <p:nvSpPr>
                    <p:cNvPr id="21" name="TextBox 20">
                      <a:extLst>
                        <a:ext uri="{FF2B5EF4-FFF2-40B4-BE49-F238E27FC236}">
                          <a16:creationId xmlns:a16="http://schemas.microsoft.com/office/drawing/2014/main" id="{8C871197-F84C-47A5-BD88-AC71F7A29717}"/>
                        </a:ext>
                      </a:extLst>
                    </p:cNvPr>
                    <p:cNvSpPr txBox="1">
                      <a:spLocks noRot="1" noChangeAspect="1" noMove="1" noResize="1" noEditPoints="1" noAdjustHandles="1" noChangeArrowheads="1" noChangeShapeType="1" noTextEdit="1"/>
                    </p:cNvSpPr>
                    <p:nvPr/>
                  </p:nvSpPr>
                  <p:spPr>
                    <a:xfrm>
                      <a:off x="485993" y="2350376"/>
                      <a:ext cx="1508961" cy="1450465"/>
                    </a:xfrm>
                    <a:prstGeom prst="rect">
                      <a:avLst/>
                    </a:prstGeom>
                    <a:blipFill>
                      <a:blip r:embed="rId3"/>
                      <a:stretch>
                        <a:fillRect r="-408"/>
                      </a:stretch>
                    </a:blipFill>
                  </p:spPr>
                  <p:txBody>
                    <a:bodyPr/>
                    <a:lstStyle/>
                    <a:p>
                      <a:r>
                        <a:rPr lang="it-IT">
                          <a:noFill/>
                        </a:rPr>
                        <a:t> </a:t>
                      </a:r>
                    </a:p>
                  </p:txBody>
                </p:sp>
              </mc:Fallback>
            </mc:AlternateContent>
          </p:grpSp>
          <p:sp>
            <p:nvSpPr>
              <p:cNvPr id="18" name="TextBox 17">
                <a:extLst>
                  <a:ext uri="{FF2B5EF4-FFF2-40B4-BE49-F238E27FC236}">
                    <a16:creationId xmlns:a16="http://schemas.microsoft.com/office/drawing/2014/main" id="{DD56A9C6-8E59-515B-CC41-5A2B5187DF0E}"/>
                  </a:ext>
                </a:extLst>
              </p:cNvPr>
              <p:cNvSpPr txBox="1"/>
              <p:nvPr/>
            </p:nvSpPr>
            <p:spPr>
              <a:xfrm>
                <a:off x="273005" y="1970735"/>
                <a:ext cx="1952228" cy="215444"/>
              </a:xfrm>
              <a:prstGeom prst="rect">
                <a:avLst/>
              </a:prstGeom>
              <a:noFill/>
              <a:effectLst>
                <a:outerShdw blurRad="50800" dist="50800" dir="5400000" algn="ctr" rotWithShape="0">
                  <a:srgbClr val="000000">
                    <a:alpha val="20000"/>
                  </a:srgbClr>
                </a:outerShdw>
              </a:effectLst>
            </p:spPr>
            <p:txBody>
              <a:bodyPr wrap="square">
                <a:spAutoFit/>
              </a:bodyPr>
              <a:lstStyle/>
              <a:p>
                <a:pPr algn="ctr"/>
                <a:r>
                  <a:rPr lang="en-US" sz="800" i="1" u="sng" dirty="0">
                    <a:solidFill>
                      <a:schemeClr val="bg1"/>
                    </a:solidFill>
                    <a:effectLst>
                      <a:outerShdw blurRad="38100" dist="38100" dir="2700000" algn="tl">
                        <a:srgbClr val="000000">
                          <a:alpha val="43137"/>
                        </a:srgbClr>
                      </a:outerShdw>
                    </a:effectLst>
                  </a:rPr>
                  <a:t>Step A – Market Returns</a:t>
                </a:r>
                <a:endParaRPr lang="it-IT" sz="800" i="1" u="sng" dirty="0">
                  <a:solidFill>
                    <a:schemeClr val="bg1"/>
                  </a:solidFill>
                  <a:effectLst>
                    <a:outerShdw blurRad="38100" dist="38100" dir="2700000" algn="tl">
                      <a:srgbClr val="000000">
                        <a:alpha val="43137"/>
                      </a:srgbClr>
                    </a:outerShdw>
                  </a:effectLst>
                </a:endParaRPr>
              </a:p>
            </p:txBody>
          </p:sp>
        </p:grpSp>
        <p:grpSp>
          <p:nvGrpSpPr>
            <p:cNvPr id="84" name="Group 83">
              <a:extLst>
                <a:ext uri="{FF2B5EF4-FFF2-40B4-BE49-F238E27FC236}">
                  <a16:creationId xmlns:a16="http://schemas.microsoft.com/office/drawing/2014/main" id="{9E5E77C6-4329-786E-73F1-DEC06196792C}"/>
                </a:ext>
              </a:extLst>
            </p:cNvPr>
            <p:cNvGrpSpPr/>
            <p:nvPr/>
          </p:nvGrpSpPr>
          <p:grpSpPr>
            <a:xfrm>
              <a:off x="2103828" y="1325780"/>
              <a:ext cx="7206319" cy="3182546"/>
              <a:chOff x="2103828" y="1325780"/>
              <a:chExt cx="7206319" cy="3182546"/>
            </a:xfrm>
          </p:grpSpPr>
          <p:grpSp>
            <p:nvGrpSpPr>
              <p:cNvPr id="60" name="Group 59">
                <a:extLst>
                  <a:ext uri="{FF2B5EF4-FFF2-40B4-BE49-F238E27FC236}">
                    <a16:creationId xmlns:a16="http://schemas.microsoft.com/office/drawing/2014/main" id="{52475845-A1D8-0772-A1ED-88A49AAD94EF}"/>
                  </a:ext>
                </a:extLst>
              </p:cNvPr>
              <p:cNvGrpSpPr/>
              <p:nvPr/>
            </p:nvGrpSpPr>
            <p:grpSpPr>
              <a:xfrm>
                <a:off x="2103828" y="1325780"/>
                <a:ext cx="1952228" cy="3180294"/>
                <a:chOff x="273005" y="1913562"/>
                <a:chExt cx="1952228" cy="2801538"/>
              </a:xfrm>
            </p:grpSpPr>
            <p:grpSp>
              <p:nvGrpSpPr>
                <p:cNvPr id="61" name="Group 60">
                  <a:extLst>
                    <a:ext uri="{FF2B5EF4-FFF2-40B4-BE49-F238E27FC236}">
                      <a16:creationId xmlns:a16="http://schemas.microsoft.com/office/drawing/2014/main" id="{4B5FDE46-5309-3530-9301-C863B9C20983}"/>
                    </a:ext>
                  </a:extLst>
                </p:cNvPr>
                <p:cNvGrpSpPr/>
                <p:nvPr/>
              </p:nvGrpSpPr>
              <p:grpSpPr>
                <a:xfrm>
                  <a:off x="428652" y="1913562"/>
                  <a:ext cx="1610424" cy="2801538"/>
                  <a:chOff x="428652" y="1913562"/>
                  <a:chExt cx="1610424" cy="2801538"/>
                </a:xfrm>
              </p:grpSpPr>
              <p:sp>
                <p:nvSpPr>
                  <p:cNvPr id="63" name="Rectangle 62">
                    <a:extLst>
                      <a:ext uri="{FF2B5EF4-FFF2-40B4-BE49-F238E27FC236}">
                        <a16:creationId xmlns:a16="http://schemas.microsoft.com/office/drawing/2014/main" id="{44ECFCFA-84D3-5384-87E8-4A008BDCFCA1}"/>
                      </a:ext>
                    </a:extLst>
                  </p:cNvPr>
                  <p:cNvSpPr/>
                  <p:nvPr/>
                </p:nvSpPr>
                <p:spPr>
                  <a:xfrm>
                    <a:off x="428652" y="1996888"/>
                    <a:ext cx="1610424" cy="2718212"/>
                  </a:xfrm>
                  <a:prstGeom prst="rect">
                    <a:avLst/>
                  </a:prstGeom>
                  <a:solidFill>
                    <a:srgbClr val="F3F8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endParaRPr lang="it-IT" sz="1400" b="1" dirty="0">
                      <a:solidFill>
                        <a:srgbClr val="FFFFFF"/>
                      </a:solidFill>
                      <a:latin typeface="Arial" panose="020B0604020202020204" pitchFamily="34" charset="0"/>
                      <a:cs typeface="Arial" panose="020B0604020202020204" pitchFamily="34" charset="0"/>
                    </a:endParaRPr>
                  </a:p>
                </p:txBody>
              </p:sp>
              <p:sp>
                <p:nvSpPr>
                  <p:cNvPr id="64" name="Rectangle: Rounded Corners 63">
                    <a:extLst>
                      <a:ext uri="{FF2B5EF4-FFF2-40B4-BE49-F238E27FC236}">
                        <a16:creationId xmlns:a16="http://schemas.microsoft.com/office/drawing/2014/main" id="{C70D6652-7A0F-42FF-6CA0-B222F8CD75C5}"/>
                      </a:ext>
                    </a:extLst>
                  </p:cNvPr>
                  <p:cNvSpPr/>
                  <p:nvPr/>
                </p:nvSpPr>
                <p:spPr>
                  <a:xfrm>
                    <a:off x="560951" y="1913562"/>
                    <a:ext cx="1376336" cy="329790"/>
                  </a:xfrm>
                  <a:prstGeom prst="roundRect">
                    <a:avLst/>
                  </a:prstGeom>
                  <a:solidFill>
                    <a:srgbClr val="004F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it-IT" sz="1400" b="1"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412BB32-E7B6-83A9-1D4E-F6BD99F958FE}"/>
                          </a:ext>
                        </a:extLst>
                      </p:cNvPr>
                      <p:cNvSpPr txBox="1"/>
                      <p:nvPr/>
                    </p:nvSpPr>
                    <p:spPr>
                      <a:xfrm>
                        <a:off x="485993" y="2350376"/>
                        <a:ext cx="1508961" cy="1666351"/>
                      </a:xfrm>
                      <a:prstGeom prst="rect">
                        <a:avLst/>
                      </a:prstGeom>
                      <a:noFill/>
                    </p:spPr>
                    <p:txBody>
                      <a:bodyPr wrap="square">
                        <a:spAutoFit/>
                      </a:bodyPr>
                      <a:lstStyle/>
                      <a:p>
                        <a:pPr algn="ctr"/>
                        <a:r>
                          <a:rPr lang="en-US" sz="800" dirty="0"/>
                          <a:t>Portfolio with </a:t>
                        </a:r>
                        <a:r>
                          <a:rPr lang="en-US" sz="800" b="1" dirty="0"/>
                          <a:t>no</a:t>
                        </a:r>
                        <a:r>
                          <a:rPr lang="en-US" sz="800" dirty="0"/>
                          <a:t> illiquidity </a:t>
                        </a:r>
                        <a:r>
                          <a:rPr lang="en-US" sz="800" b="1" dirty="0"/>
                          <a:t>constraints,</a:t>
                        </a:r>
                        <a:r>
                          <a:rPr lang="en-US" sz="800" dirty="0"/>
                          <a:t> </a:t>
                        </a:r>
                        <a:r>
                          <a:rPr lang="en-US" sz="800" b="1" dirty="0"/>
                          <a:t>resets to </a:t>
                        </a:r>
                        <a14:m>
                          <m:oMath xmlns:m="http://schemas.openxmlformats.org/officeDocument/2006/math">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𝒘</m:t>
                                </m:r>
                              </m:e>
                              <m:sub>
                                <m:r>
                                  <a:rPr lang="it-IT" sz="800" b="1" i="1" dirty="0" smtClean="0">
                                    <a:latin typeface="Cambria Math" panose="02040503050406030204" pitchFamily="18" charset="0"/>
                                  </a:rPr>
                                  <m:t>𝒕𝒂𝒓𝒈𝒆𝒕</m:t>
                                </m:r>
                              </m:sub>
                            </m:sSub>
                            <m:r>
                              <a:rPr lang="it-IT" sz="800" b="1" i="1" dirty="0">
                                <a:latin typeface="Cambria Math" panose="02040503050406030204" pitchFamily="18" charset="0"/>
                              </a:rPr>
                              <m:t> </m:t>
                            </m:r>
                          </m:oMath>
                        </a14:m>
                        <a:r>
                          <a:rPr lang="en-US" sz="800" dirty="0"/>
                          <a:t>every year</a:t>
                        </a:r>
                      </a:p>
                      <a:p>
                        <a:endParaRPr lang="en-US" sz="800" dirty="0"/>
                      </a:p>
                      <a:p>
                        <a:pPr algn="ctr"/>
                        <a:r>
                          <a:rPr lang="en-US" sz="800" dirty="0"/>
                          <a:t>Weights drift with the market:</a:t>
                        </a:r>
                      </a:p>
                      <a:p>
                        <a:pPr/>
                        <a14:m>
                          <m:oMathPara xmlns:m="http://schemas.openxmlformats.org/officeDocument/2006/math">
                            <m:oMathParaPr>
                              <m:jc m:val="centerGroup"/>
                            </m:oMathParaPr>
                            <m:oMath xmlns:m="http://schemas.openxmlformats.org/officeDocument/2006/math">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a:latin typeface="Cambria Math" panose="02040503050406030204" pitchFamily="18" charset="0"/>
                                    </a:rPr>
                                    <m:t>𝒃𝒅</m:t>
                                  </m:r>
                                </m:sub>
                                <m:sup>
                                  <m:r>
                                    <a:rPr lang="it-IT" sz="800" b="1" i="1" dirty="0">
                                      <a:latin typeface="Cambria Math" panose="02040503050406030204" pitchFamily="18" charset="0"/>
                                    </a:rPr>
                                    <m:t>𝒊</m:t>
                                  </m:r>
                                </m:sup>
                              </m:sSubSup>
                              <m:r>
                                <a:rPr lang="pl-PL" sz="800" b="1" i="1" dirty="0">
                                  <a:latin typeface="Cambria Math" panose="02040503050406030204" pitchFamily="18" charset="0"/>
                                </a:rPr>
                                <m:t>= </m:t>
                              </m:r>
                              <m:f>
                                <m:fPr>
                                  <m:ctrlPr>
                                    <a:rPr lang="pl-PL" sz="800" b="1" i="1" dirty="0" smtClean="0">
                                      <a:latin typeface="Cambria Math" panose="02040503050406030204" pitchFamily="18" charset="0"/>
                                    </a:rPr>
                                  </m:ctrlPr>
                                </m:fPr>
                                <m:num>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𝒊</m:t>
                                      </m:r>
                                    </m:sub>
                                    <m:sup>
                                      <m:r>
                                        <a:rPr lang="it-IT" sz="800" b="1" i="1" dirty="0" smtClean="0">
                                          <a:latin typeface="Cambria Math" panose="02040503050406030204" pitchFamily="18" charset="0"/>
                                        </a:rPr>
                                        <m:t>𝒕𝒂𝒓𝒈𝒆𝒕</m:t>
                                      </m:r>
                                    </m:sup>
                                  </m:sSubSup>
                                  <m:r>
                                    <a:rPr lang="pt-BR" sz="800" b="1" i="1" dirty="0">
                                      <a:latin typeface="Cambria Math" panose="02040503050406030204" pitchFamily="18" charset="0"/>
                                    </a:rPr>
                                    <m:t>·</m:t>
                                  </m:r>
                                  <m:r>
                                    <a:rPr lang="pl-PL" sz="800" b="1" i="1" dirty="0">
                                      <a:latin typeface="Cambria Math" panose="02040503050406030204" pitchFamily="18" charset="0"/>
                                    </a:rPr>
                                    <m:t>(</m:t>
                                  </m:r>
                                  <m:r>
                                    <a:rPr lang="pl-PL" sz="800" b="1" i="1" dirty="0">
                                      <a:latin typeface="Cambria Math" panose="02040503050406030204" pitchFamily="18" charset="0"/>
                                    </a:rPr>
                                    <m:t>𝟏</m:t>
                                  </m:r>
                                  <m:r>
                                    <a:rPr lang="pl-PL" sz="800" b="1" i="1" dirty="0">
                                      <a:latin typeface="Cambria Math" panose="02040503050406030204" pitchFamily="18" charset="0"/>
                                    </a:rPr>
                                    <m:t> +</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smtClean="0">
                                          <a:latin typeface="Cambria Math" panose="02040503050406030204" pitchFamily="18" charset="0"/>
                                        </a:rPr>
                                        <m:t>𝒊</m:t>
                                      </m:r>
                                    </m:sub>
                                  </m:sSub>
                                  <m:r>
                                    <a:rPr lang="pl-PL" sz="800" b="1" i="1" dirty="0">
                                      <a:latin typeface="Cambria Math" panose="02040503050406030204" pitchFamily="18" charset="0"/>
                                    </a:rPr>
                                    <m:t>)</m:t>
                                  </m:r>
                                </m:num>
                                <m:den>
                                  <m:nary>
                                    <m:naryPr>
                                      <m:chr m:val="∑"/>
                                      <m:limLoc m:val="subSup"/>
                                      <m:supHide m:val="on"/>
                                      <m:ctrlPr>
                                        <a:rPr lang="pl-PL" sz="800" b="1" i="1" dirty="0" smtClean="0">
                                          <a:latin typeface="Cambria Math" panose="02040503050406030204" pitchFamily="18" charset="0"/>
                                        </a:rPr>
                                      </m:ctrlPr>
                                    </m:naryPr>
                                    <m:sub>
                                      <m:r>
                                        <m:rPr>
                                          <m:brk m:alnAt="9"/>
                                        </m:rPr>
                                        <a:rPr lang="it-IT" sz="800" b="1" i="1" dirty="0" smtClean="0">
                                          <a:latin typeface="Cambria Math" panose="02040503050406030204" pitchFamily="18" charset="0"/>
                                        </a:rPr>
                                        <m:t>𝒋</m:t>
                                      </m:r>
                                    </m:sub>
                                    <m:sup/>
                                    <m:e>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𝒋</m:t>
                                          </m:r>
                                        </m:sub>
                                        <m:sup>
                                          <m:r>
                                            <a:rPr lang="it-IT" sz="800" b="1" i="1" dirty="0" smtClean="0">
                                              <a:latin typeface="Cambria Math" panose="02040503050406030204" pitchFamily="18" charset="0"/>
                                            </a:rPr>
                                            <m:t>𝒕𝒂𝒓𝒈𝒆𝒕</m:t>
                                          </m:r>
                                        </m:sup>
                                      </m:sSubSup>
                                      <m:r>
                                        <a:rPr lang="pt-BR" sz="800" b="1" i="1" dirty="0">
                                          <a:latin typeface="Cambria Math" panose="02040503050406030204" pitchFamily="18" charset="0"/>
                                        </a:rPr>
                                        <m:t>·</m:t>
                                      </m:r>
                                      <m:r>
                                        <a:rPr lang="pl-PL" sz="800" b="1" i="1" dirty="0">
                                          <a:latin typeface="Cambria Math" panose="02040503050406030204" pitchFamily="18" charset="0"/>
                                        </a:rPr>
                                        <m:t>(</m:t>
                                      </m:r>
                                      <m:r>
                                        <a:rPr lang="pl-PL" sz="800" b="1" i="1" dirty="0">
                                          <a:latin typeface="Cambria Math" panose="02040503050406030204" pitchFamily="18" charset="0"/>
                                        </a:rPr>
                                        <m:t>𝟏</m:t>
                                      </m:r>
                                      <m:r>
                                        <a:rPr lang="pl-PL" sz="800" b="1" i="1" dirty="0">
                                          <a:latin typeface="Cambria Math" panose="02040503050406030204" pitchFamily="18" charset="0"/>
                                        </a:rPr>
                                        <m:t> +</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smtClean="0">
                                              <a:latin typeface="Cambria Math" panose="02040503050406030204" pitchFamily="18" charset="0"/>
                                            </a:rPr>
                                            <m:t>𝒋</m:t>
                                          </m:r>
                                        </m:sub>
                                      </m:sSub>
                                      <m:r>
                                        <a:rPr lang="pl-PL" sz="800" b="1" i="1" dirty="0">
                                          <a:latin typeface="Cambria Math" panose="02040503050406030204" pitchFamily="18" charset="0"/>
                                        </a:rPr>
                                        <m:t>)</m:t>
                                      </m:r>
                                    </m:e>
                                  </m:nary>
                                  <m:r>
                                    <a:rPr lang="pl-PL" sz="800" b="1" i="1" dirty="0">
                                      <a:latin typeface="Cambria Math" panose="02040503050406030204" pitchFamily="18" charset="0"/>
                                    </a:rPr>
                                    <m:t> </m:t>
                                  </m:r>
                                </m:den>
                              </m:f>
                            </m:oMath>
                          </m:oMathPara>
                        </a14:m>
                        <a:endParaRPr lang="it-IT" sz="800" b="1" dirty="0"/>
                      </a:p>
                      <a:p>
                        <a:endParaRPr lang="en-US" sz="800" dirty="0"/>
                      </a:p>
                      <a:p>
                        <a:pPr algn="ctr"/>
                        <a:r>
                          <a:rPr lang="en-US" sz="800" b="1" dirty="0"/>
                          <a:t>Return</a:t>
                        </a:r>
                        <a:r>
                          <a:rPr lang="en-US" sz="800" dirty="0"/>
                          <a:t> computed </a:t>
                        </a:r>
                        <a:r>
                          <a:rPr lang="en-US" sz="800" b="1" dirty="0"/>
                          <a:t>on</a:t>
                        </a:r>
                        <a:r>
                          <a:rPr lang="en-US" sz="800" dirty="0"/>
                          <a:t> </a:t>
                        </a:r>
                        <a:r>
                          <a:rPr lang="en-US" sz="800" b="1" dirty="0"/>
                          <a:t>post-drift weights</a:t>
                        </a:r>
                        <a:r>
                          <a:rPr lang="en-US" sz="800" dirty="0"/>
                          <a:t>:</a:t>
                        </a:r>
                      </a:p>
                      <a:p>
                        <a:pPr algn="ctr"/>
                        <a14:m>
                          <m:oMathPara xmlns:m="http://schemas.openxmlformats.org/officeDocument/2006/math">
                            <m:oMathParaPr>
                              <m:jc m:val="centerGroup"/>
                            </m:oMathParaPr>
                            <m:oMath xmlns:m="http://schemas.openxmlformats.org/officeDocument/2006/math">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a:latin typeface="Cambria Math" panose="02040503050406030204" pitchFamily="18" charset="0"/>
                                    </a:rPr>
                                    <m:t>𝒃𝒆𝒏𝒄𝒉</m:t>
                                  </m:r>
                                </m:sub>
                              </m:sSub>
                              <m:r>
                                <a:rPr lang="pt-BR" sz="800" b="1" i="1" dirty="0">
                                  <a:latin typeface="Cambria Math" panose="02040503050406030204" pitchFamily="18" charset="0"/>
                                </a:rPr>
                                <m:t>=</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𝒘</m:t>
                                  </m:r>
                                </m:e>
                                <m:sub>
                                  <m:r>
                                    <a:rPr lang="it-IT" sz="800" b="1" i="1" dirty="0">
                                      <a:latin typeface="Cambria Math" panose="02040503050406030204" pitchFamily="18" charset="0"/>
                                    </a:rPr>
                                    <m:t>𝒃𝒅</m:t>
                                  </m:r>
                                </m:sub>
                              </m:sSub>
                              <m:r>
                                <a:rPr lang="pt-BR" sz="800" b="1" i="1" dirty="0">
                                  <a:latin typeface="Cambria Math" panose="02040503050406030204" pitchFamily="18" charset="0"/>
                                </a:rPr>
                                <m:t>·</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a:latin typeface="Cambria Math" panose="02040503050406030204" pitchFamily="18" charset="0"/>
                                    </a:rPr>
                                    <m:t>𝒕</m:t>
                                  </m:r>
                                </m:sub>
                              </m:sSub>
                            </m:oMath>
                          </m:oMathPara>
                        </a14:m>
                        <a:endParaRPr lang="en-US" sz="800" b="1" dirty="0"/>
                      </a:p>
                      <a:p>
                        <a:pPr algn="ctr"/>
                        <a:endParaRPr lang="en-US" sz="800" dirty="0"/>
                      </a:p>
                      <a:p>
                        <a:endParaRPr lang="it-IT" sz="200" dirty="0"/>
                      </a:p>
                    </p:txBody>
                  </p:sp>
                </mc:Choice>
                <mc:Fallback xmlns="">
                  <p:sp>
                    <p:nvSpPr>
                      <p:cNvPr id="65" name="TextBox 64">
                        <a:extLst>
                          <a:ext uri="{FF2B5EF4-FFF2-40B4-BE49-F238E27FC236}">
                            <a16:creationId xmlns:a16="http://schemas.microsoft.com/office/drawing/2014/main" id="{3412BB32-E7B6-83A9-1D4E-F6BD99F958FE}"/>
                          </a:ext>
                        </a:extLst>
                      </p:cNvPr>
                      <p:cNvSpPr txBox="1">
                        <a:spLocks noRot="1" noChangeAspect="1" noMove="1" noResize="1" noEditPoints="1" noAdjustHandles="1" noChangeArrowheads="1" noChangeShapeType="1" noTextEdit="1"/>
                      </p:cNvSpPr>
                      <p:nvPr/>
                    </p:nvSpPr>
                    <p:spPr>
                      <a:xfrm>
                        <a:off x="485993" y="2350376"/>
                        <a:ext cx="1508961" cy="1666351"/>
                      </a:xfrm>
                      <a:prstGeom prst="rect">
                        <a:avLst/>
                      </a:prstGeom>
                      <a:blipFill>
                        <a:blip r:embed="rId4"/>
                        <a:stretch>
                          <a:fillRect/>
                        </a:stretch>
                      </a:blipFill>
                    </p:spPr>
                    <p:txBody>
                      <a:bodyPr/>
                      <a:lstStyle/>
                      <a:p>
                        <a:r>
                          <a:rPr lang="it-IT">
                            <a:noFill/>
                          </a:rPr>
                          <a:t> </a:t>
                        </a:r>
                      </a:p>
                    </p:txBody>
                  </p:sp>
                </mc:Fallback>
              </mc:AlternateContent>
            </p:grpSp>
            <p:sp>
              <p:nvSpPr>
                <p:cNvPr id="62" name="TextBox 61">
                  <a:extLst>
                    <a:ext uri="{FF2B5EF4-FFF2-40B4-BE49-F238E27FC236}">
                      <a16:creationId xmlns:a16="http://schemas.microsoft.com/office/drawing/2014/main" id="{B9B20B70-B38F-8188-AF69-4D59BFCFB8A8}"/>
                    </a:ext>
                  </a:extLst>
                </p:cNvPr>
                <p:cNvSpPr txBox="1"/>
                <p:nvPr/>
              </p:nvSpPr>
              <p:spPr>
                <a:xfrm>
                  <a:off x="273005" y="1970735"/>
                  <a:ext cx="1952228" cy="195255"/>
                </a:xfrm>
                <a:prstGeom prst="rect">
                  <a:avLst/>
                </a:prstGeom>
                <a:noFill/>
                <a:effectLst>
                  <a:outerShdw blurRad="50800" dist="50800" dir="5400000" algn="ctr" rotWithShape="0">
                    <a:srgbClr val="000000">
                      <a:alpha val="20000"/>
                    </a:srgbClr>
                  </a:outerShdw>
                </a:effectLst>
              </p:spPr>
              <p:txBody>
                <a:bodyPr wrap="square">
                  <a:spAutoFit/>
                </a:bodyPr>
                <a:lstStyle/>
                <a:p>
                  <a:pPr algn="ctr"/>
                  <a:r>
                    <a:rPr lang="en-US" sz="800" i="1" u="sng" dirty="0">
                      <a:solidFill>
                        <a:schemeClr val="bg1"/>
                      </a:solidFill>
                      <a:effectLst>
                        <a:outerShdw blurRad="38100" dist="38100" dir="2700000" algn="tl">
                          <a:srgbClr val="000000">
                            <a:alpha val="43137"/>
                          </a:srgbClr>
                        </a:outerShdw>
                      </a:effectLst>
                    </a:rPr>
                    <a:t>Step B – Benchmark</a:t>
                  </a:r>
                  <a:endParaRPr lang="it-IT" sz="800" i="1" u="sng" dirty="0">
                    <a:solidFill>
                      <a:schemeClr val="bg1"/>
                    </a:solidFill>
                    <a:effectLst>
                      <a:outerShdw blurRad="38100" dist="38100" dir="2700000" algn="tl">
                        <a:srgbClr val="000000">
                          <a:alpha val="43137"/>
                        </a:srgbClr>
                      </a:outerShdw>
                    </a:effectLst>
                  </a:endParaRPr>
                </a:p>
              </p:txBody>
            </p:sp>
          </p:grpSp>
          <p:grpSp>
            <p:nvGrpSpPr>
              <p:cNvPr id="66" name="Group 65">
                <a:extLst>
                  <a:ext uri="{FF2B5EF4-FFF2-40B4-BE49-F238E27FC236}">
                    <a16:creationId xmlns:a16="http://schemas.microsoft.com/office/drawing/2014/main" id="{8721F139-B7E2-E846-0A93-66995E30C7D6}"/>
                  </a:ext>
                </a:extLst>
              </p:cNvPr>
              <p:cNvGrpSpPr/>
              <p:nvPr/>
            </p:nvGrpSpPr>
            <p:grpSpPr>
              <a:xfrm>
                <a:off x="3869899" y="1326906"/>
                <a:ext cx="1952228" cy="3180294"/>
                <a:chOff x="273005" y="1913562"/>
                <a:chExt cx="1952228" cy="2801538"/>
              </a:xfrm>
            </p:grpSpPr>
            <p:grpSp>
              <p:nvGrpSpPr>
                <p:cNvPr id="67" name="Group 66">
                  <a:extLst>
                    <a:ext uri="{FF2B5EF4-FFF2-40B4-BE49-F238E27FC236}">
                      <a16:creationId xmlns:a16="http://schemas.microsoft.com/office/drawing/2014/main" id="{9666BDE7-8E02-BFED-62E5-A5D86DCF9AC9}"/>
                    </a:ext>
                  </a:extLst>
                </p:cNvPr>
                <p:cNvGrpSpPr/>
                <p:nvPr/>
              </p:nvGrpSpPr>
              <p:grpSpPr>
                <a:xfrm>
                  <a:off x="428652" y="1913562"/>
                  <a:ext cx="1610424" cy="2801538"/>
                  <a:chOff x="428652" y="1913562"/>
                  <a:chExt cx="1610424" cy="2801538"/>
                </a:xfrm>
              </p:grpSpPr>
              <p:sp>
                <p:nvSpPr>
                  <p:cNvPr id="69" name="Rectangle 68">
                    <a:extLst>
                      <a:ext uri="{FF2B5EF4-FFF2-40B4-BE49-F238E27FC236}">
                        <a16:creationId xmlns:a16="http://schemas.microsoft.com/office/drawing/2014/main" id="{BE5DF545-A61D-FCA2-ED8D-A2DB51D543B7}"/>
                      </a:ext>
                    </a:extLst>
                  </p:cNvPr>
                  <p:cNvSpPr/>
                  <p:nvPr/>
                </p:nvSpPr>
                <p:spPr>
                  <a:xfrm>
                    <a:off x="428652" y="1996888"/>
                    <a:ext cx="1610424" cy="2718212"/>
                  </a:xfrm>
                  <a:prstGeom prst="rect">
                    <a:avLst/>
                  </a:prstGeom>
                  <a:solidFill>
                    <a:srgbClr val="FFF4E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endParaRPr lang="it-IT" sz="1400" b="1" dirty="0">
                      <a:solidFill>
                        <a:srgbClr val="FFFFFF"/>
                      </a:solidFill>
                      <a:latin typeface="Arial" panose="020B0604020202020204" pitchFamily="34" charset="0"/>
                      <a:cs typeface="Arial" panose="020B0604020202020204" pitchFamily="34" charset="0"/>
                    </a:endParaRPr>
                  </a:p>
                </p:txBody>
              </p:sp>
              <p:sp>
                <p:nvSpPr>
                  <p:cNvPr id="70" name="Rectangle: Rounded Corners 69">
                    <a:extLst>
                      <a:ext uri="{FF2B5EF4-FFF2-40B4-BE49-F238E27FC236}">
                        <a16:creationId xmlns:a16="http://schemas.microsoft.com/office/drawing/2014/main" id="{3AAE9F15-CDBA-E5EB-E9F2-06C6E82326E1}"/>
                      </a:ext>
                    </a:extLst>
                  </p:cNvPr>
                  <p:cNvSpPr/>
                  <p:nvPr/>
                </p:nvSpPr>
                <p:spPr>
                  <a:xfrm>
                    <a:off x="560951" y="1913562"/>
                    <a:ext cx="1376336" cy="329790"/>
                  </a:xfrm>
                  <a:prstGeom prst="roundRect">
                    <a:avLst/>
                  </a:prstGeom>
                  <a:solidFill>
                    <a:srgbClr val="004F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it-IT" sz="1400" b="1"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59E75A6-920F-661A-F0AA-6F8A0A263CD3}"/>
                          </a:ext>
                        </a:extLst>
                      </p:cNvPr>
                      <p:cNvSpPr txBox="1"/>
                      <p:nvPr/>
                    </p:nvSpPr>
                    <p:spPr>
                      <a:xfrm>
                        <a:off x="485993" y="2350375"/>
                        <a:ext cx="1508961" cy="2051802"/>
                      </a:xfrm>
                      <a:prstGeom prst="rect">
                        <a:avLst/>
                      </a:prstGeom>
                      <a:noFill/>
                    </p:spPr>
                    <p:txBody>
                      <a:bodyPr wrap="square">
                        <a:spAutoFit/>
                      </a:bodyPr>
                      <a:lstStyle/>
                      <a:p>
                        <a:pPr algn="ctr"/>
                        <a:r>
                          <a:rPr lang="en-US" sz="800" b="1" dirty="0"/>
                          <a:t>Drift</a:t>
                        </a:r>
                        <a:r>
                          <a:rPr lang="en-US" sz="800" dirty="0"/>
                          <a:t>: </a:t>
                        </a:r>
                        <a14:m>
                          <m:oMath xmlns:m="http://schemas.openxmlformats.org/officeDocument/2006/math">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𝒊</m:t>
                                </m:r>
                              </m:sub>
                              <m:sup>
                                <m:r>
                                  <a:rPr lang="it-IT" sz="800" b="1" i="1" dirty="0" smtClean="0">
                                    <a:latin typeface="Cambria Math" panose="02040503050406030204" pitchFamily="18" charset="0"/>
                                  </a:rPr>
                                  <m:t>𝒏𝒆𝒘</m:t>
                                </m:r>
                              </m:sup>
                            </m:sSubSup>
                            <m:r>
                              <a:rPr lang="pl-PL" sz="800" b="1" i="1" dirty="0">
                                <a:latin typeface="Cambria Math" panose="02040503050406030204" pitchFamily="18" charset="0"/>
                              </a:rPr>
                              <m:t>= </m:t>
                            </m:r>
                            <m:f>
                              <m:fPr>
                                <m:ctrlPr>
                                  <a:rPr lang="pl-PL" sz="800" b="1" i="1" dirty="0">
                                    <a:latin typeface="Cambria Math" panose="02040503050406030204" pitchFamily="18" charset="0"/>
                                  </a:rPr>
                                </m:ctrlPr>
                              </m:fPr>
                              <m:num>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𝒊</m:t>
                                    </m:r>
                                  </m:sub>
                                  <m:sup>
                                    <m:r>
                                      <a:rPr lang="it-IT" sz="800" b="1" i="1" dirty="0" smtClean="0">
                                        <a:latin typeface="Cambria Math" panose="02040503050406030204" pitchFamily="18" charset="0"/>
                                      </a:rPr>
                                      <m:t>𝒕𝒂𝒓𝒈𝒆𝒕</m:t>
                                    </m:r>
                                  </m:sup>
                                </m:sSubSup>
                                <m:r>
                                  <a:rPr lang="pt-BR" sz="800" b="1" i="1" dirty="0">
                                    <a:latin typeface="Cambria Math" panose="02040503050406030204" pitchFamily="18" charset="0"/>
                                  </a:rPr>
                                  <m:t>·</m:t>
                                </m:r>
                                <m:r>
                                  <a:rPr lang="pl-PL" sz="800" b="1" i="1" dirty="0">
                                    <a:latin typeface="Cambria Math" panose="02040503050406030204" pitchFamily="18" charset="0"/>
                                  </a:rPr>
                                  <m:t>(</m:t>
                                </m:r>
                                <m:r>
                                  <a:rPr lang="pl-PL" sz="800" b="1" i="1" dirty="0">
                                    <a:latin typeface="Cambria Math" panose="02040503050406030204" pitchFamily="18" charset="0"/>
                                  </a:rPr>
                                  <m:t>𝟏</m:t>
                                </m:r>
                                <m:r>
                                  <a:rPr lang="pl-PL" sz="800" b="1" i="1" dirty="0">
                                    <a:latin typeface="Cambria Math" panose="02040503050406030204" pitchFamily="18" charset="0"/>
                                  </a:rPr>
                                  <m:t> +</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a:latin typeface="Cambria Math" panose="02040503050406030204" pitchFamily="18" charset="0"/>
                                      </a:rPr>
                                      <m:t>𝒊</m:t>
                                    </m:r>
                                  </m:sub>
                                </m:sSub>
                                <m:r>
                                  <a:rPr lang="pl-PL" sz="800" b="1" i="1" dirty="0">
                                    <a:latin typeface="Cambria Math" panose="02040503050406030204" pitchFamily="18" charset="0"/>
                                  </a:rPr>
                                  <m:t>)</m:t>
                                </m:r>
                              </m:num>
                              <m:den>
                                <m:nary>
                                  <m:naryPr>
                                    <m:chr m:val="∑"/>
                                    <m:limLoc m:val="subSup"/>
                                    <m:supHide m:val="on"/>
                                    <m:ctrlPr>
                                      <a:rPr lang="pl-PL" sz="800" b="1" i="1" dirty="0">
                                        <a:latin typeface="Cambria Math" panose="02040503050406030204" pitchFamily="18" charset="0"/>
                                      </a:rPr>
                                    </m:ctrlPr>
                                  </m:naryPr>
                                  <m:sub>
                                    <m:r>
                                      <m:rPr>
                                        <m:brk m:alnAt="9"/>
                                      </m:rPr>
                                      <a:rPr lang="it-IT" sz="800" b="1" i="1" dirty="0">
                                        <a:latin typeface="Cambria Math" panose="02040503050406030204" pitchFamily="18" charset="0"/>
                                      </a:rPr>
                                      <m:t>𝒋</m:t>
                                    </m:r>
                                  </m:sub>
                                  <m:sup/>
                                  <m:e>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𝒋</m:t>
                                        </m:r>
                                      </m:sub>
                                      <m:sup>
                                        <m:r>
                                          <a:rPr lang="it-IT" sz="800" b="1" i="1" dirty="0" smtClean="0">
                                            <a:latin typeface="Cambria Math" panose="02040503050406030204" pitchFamily="18" charset="0"/>
                                          </a:rPr>
                                          <m:t>𝒕𝒂𝒓𝒈𝒆𝒕</m:t>
                                        </m:r>
                                      </m:sup>
                                    </m:sSubSup>
                                    <m:r>
                                      <a:rPr lang="pt-BR" sz="800" b="1" i="1" dirty="0">
                                        <a:latin typeface="Cambria Math" panose="02040503050406030204" pitchFamily="18" charset="0"/>
                                      </a:rPr>
                                      <m:t>·</m:t>
                                    </m:r>
                                    <m:r>
                                      <a:rPr lang="pl-PL" sz="800" b="1" i="1" dirty="0">
                                        <a:latin typeface="Cambria Math" panose="02040503050406030204" pitchFamily="18" charset="0"/>
                                      </a:rPr>
                                      <m:t>(</m:t>
                                    </m:r>
                                    <m:r>
                                      <a:rPr lang="pl-PL" sz="800" b="1" i="1" dirty="0">
                                        <a:latin typeface="Cambria Math" panose="02040503050406030204" pitchFamily="18" charset="0"/>
                                      </a:rPr>
                                      <m:t>𝟏</m:t>
                                    </m:r>
                                    <m:r>
                                      <a:rPr lang="pl-PL" sz="800" b="1" i="1" dirty="0">
                                        <a:latin typeface="Cambria Math" panose="02040503050406030204" pitchFamily="18" charset="0"/>
                                      </a:rPr>
                                      <m:t> +</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a:latin typeface="Cambria Math" panose="02040503050406030204" pitchFamily="18" charset="0"/>
                                          </a:rPr>
                                          <m:t>𝒋</m:t>
                                        </m:r>
                                      </m:sub>
                                    </m:sSub>
                                    <m:r>
                                      <a:rPr lang="pl-PL" sz="800" b="1" i="1" dirty="0">
                                        <a:latin typeface="Cambria Math" panose="02040503050406030204" pitchFamily="18" charset="0"/>
                                      </a:rPr>
                                      <m:t>)</m:t>
                                    </m:r>
                                  </m:e>
                                </m:nary>
                                <m:r>
                                  <a:rPr lang="pl-PL" sz="800" b="1" i="1" dirty="0">
                                    <a:latin typeface="Cambria Math" panose="02040503050406030204" pitchFamily="18" charset="0"/>
                                  </a:rPr>
                                  <m:t> </m:t>
                                </m:r>
                              </m:den>
                            </m:f>
                          </m:oMath>
                        </a14:m>
                        <a:endParaRPr lang="en-US" sz="800" dirty="0"/>
                      </a:p>
                      <a:p>
                        <a:pPr algn="ctr"/>
                        <a:endParaRPr lang="en-US" sz="800" dirty="0"/>
                      </a:p>
                      <a:p>
                        <a:pPr algn="ctr"/>
                        <a:r>
                          <a:rPr lang="en-US" sz="800" b="1" dirty="0"/>
                          <a:t>Proportional payout </a:t>
                        </a:r>
                        <a:r>
                          <a:rPr lang="en-US" sz="800" dirty="0"/>
                          <a:t>(</a:t>
                        </a:r>
                        <a14:m>
                          <m:oMath xmlns:m="http://schemas.openxmlformats.org/officeDocument/2006/math">
                            <m:sSub>
                              <m:sSubPr>
                                <m:ctrlPr>
                                  <a:rPr lang="el-GR" sz="800" i="1" dirty="0" smtClean="0">
                                    <a:latin typeface="Cambria Math" panose="02040503050406030204" pitchFamily="18" charset="0"/>
                                  </a:rPr>
                                </m:ctrlPr>
                              </m:sSubPr>
                              <m:e>
                                <m:r>
                                  <a:rPr lang="el-GR" sz="800" i="1" dirty="0">
                                    <a:latin typeface="Cambria Math" panose="02040503050406030204" pitchFamily="18" charset="0"/>
                                  </a:rPr>
                                  <m:t>𝛿</m:t>
                                </m:r>
                              </m:e>
                              <m:sub>
                                <m:r>
                                  <a:rPr lang="it-IT" sz="800" b="0" i="1" dirty="0" smtClean="0">
                                    <a:latin typeface="Cambria Math" panose="02040503050406030204" pitchFamily="18" charset="0"/>
                                  </a:rPr>
                                  <m:t>𝑡</m:t>
                                </m:r>
                              </m:sub>
                            </m:sSub>
                          </m:oMath>
                        </a14:m>
                        <a:r>
                          <a:rPr lang="el-GR" sz="800" dirty="0"/>
                          <a:t>): </a:t>
                        </a:r>
                        <a:r>
                          <a:rPr lang="en-US" sz="800" dirty="0"/>
                          <a:t>free assets → direct sale; locked assets → secondary market haircut</a:t>
                        </a:r>
                      </a:p>
                      <a:p>
                        <a:pPr algn="ctr"/>
                        <a:endParaRPr lang="en-US" sz="800" dirty="0"/>
                      </a:p>
                      <a:p>
                        <a:pPr algn="ctr"/>
                        <a:r>
                          <a:rPr lang="en-US" sz="800" b="1" dirty="0"/>
                          <a:t>Liquidity buffer restore</a:t>
                        </a:r>
                        <a:r>
                          <a:rPr lang="en-US" sz="800" dirty="0"/>
                          <a:t>: first unlocked illiquid assets (no haircut), then locked (with haircut)</a:t>
                        </a:r>
                      </a:p>
                      <a:p>
                        <a:pPr algn="ctr"/>
                        <a:endParaRPr lang="en-US" sz="800" dirty="0"/>
                      </a:p>
                      <a:p>
                        <a:pPr algn="ctr"/>
                        <a:r>
                          <a:rPr lang="en-US" sz="800" b="1" dirty="0"/>
                          <a:t>Constrained rebalancing</a:t>
                        </a:r>
                        <a:r>
                          <a:rPr lang="en-US" sz="800" dirty="0"/>
                          <a:t>: </a:t>
                        </a:r>
                        <a14:m>
                          <m:oMath xmlns:m="http://schemas.openxmlformats.org/officeDocument/2006/math">
                            <m:func>
                              <m:funcPr>
                                <m:ctrlPr>
                                  <a:rPr lang="en-US" sz="800" i="1" dirty="0" smtClean="0">
                                    <a:latin typeface="Cambria Math" panose="02040503050406030204" pitchFamily="18" charset="0"/>
                                  </a:rPr>
                                </m:ctrlPr>
                              </m:funcPr>
                              <m:fName>
                                <m:limLow>
                                  <m:limLowPr>
                                    <m:ctrlPr>
                                      <a:rPr lang="en-US" sz="800" i="1" dirty="0" smtClean="0">
                                        <a:latin typeface="Cambria Math" panose="02040503050406030204" pitchFamily="18" charset="0"/>
                                      </a:rPr>
                                    </m:ctrlPr>
                                  </m:limLowPr>
                                  <m:e>
                                    <m:r>
                                      <m:rPr>
                                        <m:sty m:val="p"/>
                                      </m:rPr>
                                      <a:rPr lang="en-US" sz="800" i="0" dirty="0" smtClean="0">
                                        <a:latin typeface="Cambria Math" panose="02040503050406030204" pitchFamily="18" charset="0"/>
                                      </a:rPr>
                                      <m:t>min</m:t>
                                    </m:r>
                                  </m:e>
                                  <m:lim>
                                    <m:r>
                                      <a:rPr lang="it-IT" sz="800" b="0" i="1" dirty="0" smtClean="0">
                                        <a:latin typeface="Cambria Math" panose="02040503050406030204" pitchFamily="18" charset="0"/>
                                      </a:rPr>
                                      <m:t>𝑤</m:t>
                                    </m:r>
                                  </m:lim>
                                </m:limLow>
                              </m:fName>
                              <m:e>
                                <m:nary>
                                  <m:naryPr>
                                    <m:chr m:val="∑"/>
                                    <m:limLoc m:val="subSup"/>
                                    <m:supHide m:val="on"/>
                                    <m:ctrlPr>
                                      <a:rPr lang="en-US" sz="800" i="1" dirty="0" smtClean="0">
                                        <a:latin typeface="Cambria Math" panose="02040503050406030204" pitchFamily="18" charset="0"/>
                                      </a:rPr>
                                    </m:ctrlPr>
                                  </m:naryPr>
                                  <m:sub>
                                    <m:r>
                                      <m:rPr>
                                        <m:brk m:alnAt="9"/>
                                      </m:rPr>
                                      <a:rPr lang="it-IT" sz="800" b="0" i="1" dirty="0" smtClean="0">
                                        <a:latin typeface="Cambria Math" panose="02040503050406030204" pitchFamily="18" charset="0"/>
                                      </a:rPr>
                                      <m:t>𝑖</m:t>
                                    </m:r>
                                  </m:sub>
                                  <m:sup/>
                                  <m:e>
                                    <m:sSup>
                                      <m:sSupPr>
                                        <m:ctrlPr>
                                          <a:rPr lang="en-US" sz="800" i="1" dirty="0" smtClean="0">
                                            <a:latin typeface="Cambria Math" panose="02040503050406030204" pitchFamily="18" charset="0"/>
                                          </a:rPr>
                                        </m:ctrlPr>
                                      </m:sSupPr>
                                      <m:e>
                                        <m:r>
                                          <a:rPr lang="it-IT" sz="800" i="1" dirty="0">
                                            <a:latin typeface="Cambria Math" panose="02040503050406030204" pitchFamily="18" charset="0"/>
                                          </a:rPr>
                                          <m:t>(</m:t>
                                        </m:r>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𝒘</m:t>
                                            </m:r>
                                          </m:e>
                                          <m:sub>
                                            <m:r>
                                              <a:rPr lang="it-IT" sz="800" b="1" i="1" dirty="0">
                                                <a:latin typeface="Cambria Math" panose="02040503050406030204" pitchFamily="18" charset="0"/>
                                              </a:rPr>
                                              <m:t>𝒊</m:t>
                                            </m:r>
                                          </m:sub>
                                        </m:sSub>
                                        <m:r>
                                          <a:rPr lang="it-IT" sz="800" i="1" dirty="0">
                                            <a:latin typeface="Cambria Math" panose="02040503050406030204" pitchFamily="18" charset="0"/>
                                          </a:rPr>
                                          <m:t>−</m:t>
                                        </m:r>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a:latin typeface="Cambria Math" panose="02040503050406030204" pitchFamily="18" charset="0"/>
                                              </a:rPr>
                                              <m:t>𝒊</m:t>
                                            </m:r>
                                          </m:sub>
                                          <m:sup>
                                            <m:r>
                                              <a:rPr lang="it-IT" sz="800" b="1" i="1" dirty="0">
                                                <a:latin typeface="Cambria Math" panose="02040503050406030204" pitchFamily="18" charset="0"/>
                                              </a:rPr>
                                              <m:t>𝒕𝒂𝒓𝒈𝒆𝒕</m:t>
                                            </m:r>
                                          </m:sup>
                                        </m:sSubSup>
                                        <m:r>
                                          <a:rPr lang="it-IT" sz="800" i="1" dirty="0">
                                            <a:latin typeface="Cambria Math" panose="02040503050406030204" pitchFamily="18" charset="0"/>
                                          </a:rPr>
                                          <m:t>)</m:t>
                                        </m:r>
                                      </m:e>
                                      <m:sup>
                                        <m:r>
                                          <a:rPr lang="it-IT" sz="800" b="0" i="1" dirty="0" smtClean="0">
                                            <a:latin typeface="Cambria Math" panose="02040503050406030204" pitchFamily="18" charset="0"/>
                                          </a:rPr>
                                          <m:t>2</m:t>
                                        </m:r>
                                      </m:sup>
                                    </m:sSup>
                                  </m:e>
                                </m:nary>
                              </m:e>
                            </m:func>
                          </m:oMath>
                        </a14:m>
                        <a:endParaRPr lang="it-IT" sz="8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800" i="1" dirty="0" err="1" smtClean="0">
                                  <a:latin typeface="Cambria Math" panose="02040503050406030204" pitchFamily="18" charset="0"/>
                                </a:rPr>
                                <m:t>𝑠</m:t>
                              </m:r>
                              <m:r>
                                <a:rPr lang="en-US" sz="800" i="1" dirty="0" err="1" smtClean="0">
                                  <a:latin typeface="Cambria Math" panose="02040503050406030204" pitchFamily="18" charset="0"/>
                                </a:rPr>
                                <m:t>.</m:t>
                              </m:r>
                              <m:r>
                                <a:rPr lang="en-US" sz="800" i="1" dirty="0" err="1" smtClean="0">
                                  <a:latin typeface="Cambria Math" panose="02040503050406030204" pitchFamily="18" charset="0"/>
                                </a:rPr>
                                <m:t>𝑡</m:t>
                              </m:r>
                              <m:r>
                                <a:rPr lang="en-US" sz="800" i="1" dirty="0" err="1" smtClean="0">
                                  <a:latin typeface="Cambria Math" panose="02040503050406030204" pitchFamily="18" charset="0"/>
                                </a:rPr>
                                <m:t>.  </m:t>
                              </m:r>
                              <m:r>
                                <a:rPr lang="en-US" sz="800" i="1" dirty="0" smtClean="0">
                                  <a:latin typeface="Cambria Math" panose="02040503050406030204" pitchFamily="18" charset="0"/>
                                </a:rPr>
                                <m:t>𝑤</m:t>
                              </m:r>
                              <m:r>
                                <a:rPr lang="en-US" sz="800" i="1" dirty="0" smtClean="0">
                                  <a:latin typeface="Cambria Math" panose="02040503050406030204" pitchFamily="18" charset="0"/>
                                </a:rPr>
                                <m:t>ᵢ ≥</m:t>
                              </m:r>
                              <m:sSubSup>
                                <m:sSubSupPr>
                                  <m:ctrlPr>
                                    <a:rPr lang="pl-PL" sz="800" b="1" i="1" dirty="0">
                                      <a:latin typeface="Cambria Math" panose="02040503050406030204" pitchFamily="18" charset="0"/>
                                    </a:rPr>
                                  </m:ctrlPr>
                                </m:sSubSupPr>
                                <m:e>
                                  <m:r>
                                    <a:rPr lang="it-IT" sz="800" b="1" i="1" dirty="0">
                                      <a:latin typeface="Cambria Math" panose="02040503050406030204" pitchFamily="18" charset="0"/>
                                    </a:rPr>
                                    <m:t>𝒘</m:t>
                                  </m:r>
                                </m:e>
                                <m:sub>
                                  <m:r>
                                    <a:rPr lang="it-IT" sz="800" b="1" i="1" dirty="0" smtClean="0">
                                      <a:latin typeface="Cambria Math" panose="02040503050406030204" pitchFamily="18" charset="0"/>
                                    </a:rPr>
                                    <m:t>𝒊</m:t>
                                  </m:r>
                                </m:sub>
                                <m:sup>
                                  <m:r>
                                    <a:rPr lang="it-IT" sz="800" b="1" i="1" dirty="0" smtClean="0">
                                      <a:latin typeface="Cambria Math" panose="02040503050406030204" pitchFamily="18" charset="0"/>
                                    </a:rPr>
                                    <m:t>𝒍𝒐𝒄𝒌𝒆𝒅</m:t>
                                  </m:r>
                                </m:sup>
                              </m:sSubSup>
                            </m:oMath>
                          </m:oMathPara>
                        </a14:m>
                        <a:endParaRPr lang="it-IT" sz="200" dirty="0"/>
                      </a:p>
                    </p:txBody>
                  </p:sp>
                </mc:Choice>
                <mc:Fallback xmlns="">
                  <p:sp>
                    <p:nvSpPr>
                      <p:cNvPr id="71" name="TextBox 70">
                        <a:extLst>
                          <a:ext uri="{FF2B5EF4-FFF2-40B4-BE49-F238E27FC236}">
                            <a16:creationId xmlns:a16="http://schemas.microsoft.com/office/drawing/2014/main" id="{059E75A6-920F-661A-F0AA-6F8A0A263CD3}"/>
                          </a:ext>
                        </a:extLst>
                      </p:cNvPr>
                      <p:cNvSpPr txBox="1">
                        <a:spLocks noRot="1" noChangeAspect="1" noMove="1" noResize="1" noEditPoints="1" noAdjustHandles="1" noChangeArrowheads="1" noChangeShapeType="1" noTextEdit="1"/>
                      </p:cNvSpPr>
                      <p:nvPr/>
                    </p:nvSpPr>
                    <p:spPr>
                      <a:xfrm>
                        <a:off x="485993" y="2350375"/>
                        <a:ext cx="1508961" cy="2051802"/>
                      </a:xfrm>
                      <a:prstGeom prst="rect">
                        <a:avLst/>
                      </a:prstGeom>
                      <a:blipFill>
                        <a:blip r:embed="rId5"/>
                        <a:stretch>
                          <a:fillRect b="-4545"/>
                        </a:stretch>
                      </a:blipFill>
                    </p:spPr>
                    <p:txBody>
                      <a:bodyPr/>
                      <a:lstStyle/>
                      <a:p>
                        <a:r>
                          <a:rPr lang="en-GB">
                            <a:noFill/>
                          </a:rPr>
                          <a:t> </a:t>
                        </a:r>
                      </a:p>
                    </p:txBody>
                  </p:sp>
                </mc:Fallback>
              </mc:AlternateContent>
            </p:grpSp>
            <p:sp>
              <p:nvSpPr>
                <p:cNvPr id="68" name="TextBox 67">
                  <a:extLst>
                    <a:ext uri="{FF2B5EF4-FFF2-40B4-BE49-F238E27FC236}">
                      <a16:creationId xmlns:a16="http://schemas.microsoft.com/office/drawing/2014/main" id="{3AE9C4CE-F402-7919-A6AC-E86EBEBA3D50}"/>
                    </a:ext>
                  </a:extLst>
                </p:cNvPr>
                <p:cNvSpPr txBox="1"/>
                <p:nvPr/>
              </p:nvSpPr>
              <p:spPr>
                <a:xfrm>
                  <a:off x="273005" y="1970735"/>
                  <a:ext cx="1952228" cy="195255"/>
                </a:xfrm>
                <a:prstGeom prst="rect">
                  <a:avLst/>
                </a:prstGeom>
                <a:noFill/>
                <a:effectLst>
                  <a:outerShdw blurRad="50800" dist="50800" dir="5400000" algn="ctr" rotWithShape="0">
                    <a:srgbClr val="000000">
                      <a:alpha val="20000"/>
                    </a:srgbClr>
                  </a:outerShdw>
                </a:effectLst>
              </p:spPr>
              <p:txBody>
                <a:bodyPr wrap="square">
                  <a:spAutoFit/>
                </a:bodyPr>
                <a:lstStyle/>
                <a:p>
                  <a:pPr algn="ctr"/>
                  <a:r>
                    <a:rPr lang="en-US" sz="800" i="1" u="sng" dirty="0">
                      <a:solidFill>
                        <a:schemeClr val="bg1"/>
                      </a:solidFill>
                      <a:effectLst>
                        <a:outerShdw blurRad="38100" dist="38100" dir="2700000" algn="tl">
                          <a:srgbClr val="000000">
                            <a:alpha val="43137"/>
                          </a:srgbClr>
                        </a:outerShdw>
                      </a:effectLst>
                    </a:rPr>
                    <a:t>Step C – Actual</a:t>
                  </a:r>
                  <a:endParaRPr lang="it-IT" sz="800" i="1" u="sng" dirty="0">
                    <a:solidFill>
                      <a:schemeClr val="bg1"/>
                    </a:solidFill>
                    <a:effectLst>
                      <a:outerShdw blurRad="38100" dist="38100" dir="2700000" algn="tl">
                        <a:srgbClr val="000000">
                          <a:alpha val="43137"/>
                        </a:srgbClr>
                      </a:outerShdw>
                    </a:effectLst>
                  </a:endParaRPr>
                </a:p>
              </p:txBody>
            </p:sp>
          </p:grpSp>
          <p:grpSp>
            <p:nvGrpSpPr>
              <p:cNvPr id="72" name="Group 71">
                <a:extLst>
                  <a:ext uri="{FF2B5EF4-FFF2-40B4-BE49-F238E27FC236}">
                    <a16:creationId xmlns:a16="http://schemas.microsoft.com/office/drawing/2014/main" id="{3FE6DAA1-8AB2-BD39-369A-64518E3A076A}"/>
                  </a:ext>
                </a:extLst>
              </p:cNvPr>
              <p:cNvGrpSpPr/>
              <p:nvPr/>
            </p:nvGrpSpPr>
            <p:grpSpPr>
              <a:xfrm>
                <a:off x="5591848" y="1326906"/>
                <a:ext cx="1952228" cy="3180294"/>
                <a:chOff x="273005" y="1913562"/>
                <a:chExt cx="1952228" cy="2801538"/>
              </a:xfrm>
            </p:grpSpPr>
            <p:grpSp>
              <p:nvGrpSpPr>
                <p:cNvPr id="73" name="Group 72">
                  <a:extLst>
                    <a:ext uri="{FF2B5EF4-FFF2-40B4-BE49-F238E27FC236}">
                      <a16:creationId xmlns:a16="http://schemas.microsoft.com/office/drawing/2014/main" id="{640FC0F4-C9C7-C5E4-8554-CDF73F74216E}"/>
                    </a:ext>
                  </a:extLst>
                </p:cNvPr>
                <p:cNvGrpSpPr/>
                <p:nvPr/>
              </p:nvGrpSpPr>
              <p:grpSpPr>
                <a:xfrm>
                  <a:off x="428652" y="1913562"/>
                  <a:ext cx="1610424" cy="2801538"/>
                  <a:chOff x="428652" y="1913562"/>
                  <a:chExt cx="1610424" cy="2801538"/>
                </a:xfrm>
              </p:grpSpPr>
              <p:sp>
                <p:nvSpPr>
                  <p:cNvPr id="75" name="Rectangle 74">
                    <a:extLst>
                      <a:ext uri="{FF2B5EF4-FFF2-40B4-BE49-F238E27FC236}">
                        <a16:creationId xmlns:a16="http://schemas.microsoft.com/office/drawing/2014/main" id="{C272A912-57E4-F359-61BC-CA6185D3F692}"/>
                      </a:ext>
                    </a:extLst>
                  </p:cNvPr>
                  <p:cNvSpPr/>
                  <p:nvPr/>
                </p:nvSpPr>
                <p:spPr>
                  <a:xfrm>
                    <a:off x="428652" y="1996888"/>
                    <a:ext cx="1610424" cy="2718212"/>
                  </a:xfrm>
                  <a:prstGeom prst="rect">
                    <a:avLst/>
                  </a:prstGeom>
                  <a:solidFill>
                    <a:srgbClr val="EAFCE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endParaRPr lang="it-IT" sz="1400" b="1" dirty="0">
                      <a:solidFill>
                        <a:srgbClr val="FFFFFF"/>
                      </a:solidFill>
                      <a:latin typeface="Arial" panose="020B0604020202020204" pitchFamily="34" charset="0"/>
                      <a:cs typeface="Arial" panose="020B0604020202020204" pitchFamily="34" charset="0"/>
                    </a:endParaRPr>
                  </a:p>
                </p:txBody>
              </p:sp>
              <p:sp>
                <p:nvSpPr>
                  <p:cNvPr id="76" name="Rectangle: Rounded Corners 75">
                    <a:extLst>
                      <a:ext uri="{FF2B5EF4-FFF2-40B4-BE49-F238E27FC236}">
                        <a16:creationId xmlns:a16="http://schemas.microsoft.com/office/drawing/2014/main" id="{18EEE3D3-3BC8-714F-B521-A3E06CD7A835}"/>
                      </a:ext>
                    </a:extLst>
                  </p:cNvPr>
                  <p:cNvSpPr/>
                  <p:nvPr/>
                </p:nvSpPr>
                <p:spPr>
                  <a:xfrm>
                    <a:off x="560951" y="1913562"/>
                    <a:ext cx="1376336" cy="329790"/>
                  </a:xfrm>
                  <a:prstGeom prst="roundRect">
                    <a:avLst/>
                  </a:prstGeom>
                  <a:solidFill>
                    <a:srgbClr val="004F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it-IT" sz="1400" b="1"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C757AF9-D473-CBDC-349C-6A9E04C67D77}"/>
                          </a:ext>
                        </a:extLst>
                      </p:cNvPr>
                      <p:cNvSpPr txBox="1"/>
                      <p:nvPr/>
                    </p:nvSpPr>
                    <p:spPr>
                      <a:xfrm>
                        <a:off x="485993" y="2350376"/>
                        <a:ext cx="1508961" cy="984960"/>
                      </a:xfrm>
                      <a:prstGeom prst="rect">
                        <a:avLst/>
                      </a:prstGeom>
                      <a:noFill/>
                    </p:spPr>
                    <p:txBody>
                      <a:bodyPr wrap="square">
                        <a:spAutoFit/>
                      </a:bodyPr>
                      <a:lstStyle/>
                      <a:p>
                        <a:pPr algn="ctr"/>
                        <a:r>
                          <a:rPr lang="en-US" sz="800" b="1" dirty="0"/>
                          <a:t>Cost</a:t>
                        </a:r>
                        <a:r>
                          <a:rPr lang="en-US" sz="800" dirty="0"/>
                          <a:t> is measured </a:t>
                        </a:r>
                        <a:r>
                          <a:rPr lang="en-US" sz="800" b="1" dirty="0"/>
                          <a:t>on</a:t>
                        </a:r>
                        <a:r>
                          <a:rPr lang="en-US" sz="800" dirty="0"/>
                          <a:t> </a:t>
                        </a:r>
                        <a:r>
                          <a:rPr lang="en-US" sz="800" b="1" dirty="0"/>
                          <a:t>weights after drift, payout and restore</a:t>
                        </a:r>
                        <a:r>
                          <a:rPr lang="en-US" sz="800" dirty="0"/>
                          <a:t> - before year-end rebalancing:</a:t>
                        </a:r>
                      </a:p>
                      <a:p>
                        <a:pPr algn="ctr"/>
                        <a14:m>
                          <m:oMathPara xmlns:m="http://schemas.openxmlformats.org/officeDocument/2006/math">
                            <m:oMathParaPr>
                              <m:jc m:val="center"/>
                            </m:oMathParaPr>
                            <m:oMath xmlns:m="http://schemas.openxmlformats.org/officeDocument/2006/math">
                              <m:r>
                                <a:rPr lang="en-US" sz="800" b="1" i="1" dirty="0" smtClean="0">
                                  <a:latin typeface="Cambria Math" panose="02040503050406030204" pitchFamily="18" charset="0"/>
                                </a:rPr>
                                <m:t>𝒄𝒐𝒔</m:t>
                              </m:r>
                              <m:sSub>
                                <m:sSubPr>
                                  <m:ctrlPr>
                                    <a:rPr lang="en-US" sz="800" b="1" i="1" err="1">
                                      <a:latin typeface="Cambria Math" panose="02040503050406030204" pitchFamily="18" charset="0"/>
                                    </a:rPr>
                                  </m:ctrlPr>
                                </m:sSubPr>
                                <m:e>
                                  <m:r>
                                    <a:rPr lang="en-US" sz="800" b="1" i="1" dirty="0" smtClean="0">
                                      <a:latin typeface="Cambria Math" panose="02040503050406030204" pitchFamily="18" charset="0"/>
                                    </a:rPr>
                                    <m:t>𝒕</m:t>
                                  </m:r>
                                </m:e>
                                <m:sub>
                                  <m:r>
                                    <a:rPr lang="en-US" sz="800" b="1" i="1" smtClean="0">
                                      <a:latin typeface="Cambria Math" panose="02040503050406030204" pitchFamily="18" charset="0"/>
                                    </a:rPr>
                                    <m:t>𝒕</m:t>
                                  </m:r>
                                </m:sub>
                              </m:sSub>
                              <m:r>
                                <a:rPr lang="en-US" sz="800" b="1" i="1">
                                  <a:latin typeface="Cambria Math" panose="02040503050406030204" pitchFamily="18" charset="0"/>
                                </a:rPr>
                                <m:t>= </m:t>
                              </m:r>
                            </m:oMath>
                          </m:oMathPara>
                        </a14:m>
                        <a:endParaRPr lang="it-IT" sz="800" b="1" i="1" dirty="0">
                          <a:latin typeface="Cambria Math" panose="02040503050406030204" pitchFamily="18" charset="0"/>
                        </a:endParaRPr>
                      </a:p>
                      <a:p>
                        <a:pPr algn="ctr"/>
                        <a14:m>
                          <m:oMathPara xmlns:m="http://schemas.openxmlformats.org/officeDocument/2006/math">
                            <m:oMathParaPr>
                              <m:jc m:val="center"/>
                            </m:oMathParaPr>
                            <m:oMath xmlns:m="http://schemas.openxmlformats.org/officeDocument/2006/math">
                              <m:d>
                                <m:dPr>
                                  <m:ctrlPr>
                                    <a:rPr lang="en-US" sz="800" b="1" i="1" smtClean="0">
                                      <a:latin typeface="Cambria Math" panose="02040503050406030204" pitchFamily="18" charset="0"/>
                                    </a:rPr>
                                  </m:ctrlPr>
                                </m:dPr>
                                <m:e>
                                  <m:sSub>
                                    <m:sSubPr>
                                      <m:ctrlPr>
                                        <a:rPr lang="en-US" sz="800" b="1" i="1" dirty="0">
                                          <a:latin typeface="Cambria Math" panose="02040503050406030204" pitchFamily="18" charset="0"/>
                                        </a:rPr>
                                      </m:ctrlPr>
                                    </m:sSubPr>
                                    <m:e>
                                      <m:r>
                                        <a:rPr lang="it-IT" sz="800" b="1" i="1" dirty="0">
                                          <a:latin typeface="Cambria Math" panose="02040503050406030204" pitchFamily="18" charset="0"/>
                                        </a:rPr>
                                        <m:t>𝒓</m:t>
                                      </m:r>
                                    </m:e>
                                    <m:sub>
                                      <m:r>
                                        <a:rPr lang="it-IT" sz="800" b="1" i="1" dirty="0">
                                          <a:latin typeface="Cambria Math" panose="02040503050406030204" pitchFamily="18" charset="0"/>
                                        </a:rPr>
                                        <m:t>𝒃𝒆𝒏𝒄𝒉</m:t>
                                      </m:r>
                                    </m:sub>
                                  </m:sSub>
                                  <m:r>
                                    <a:rPr lang="it-IT" sz="800" b="1" i="1" smtClean="0">
                                      <a:latin typeface="Cambria Math" panose="02040503050406030204" pitchFamily="18" charset="0"/>
                                    </a:rPr>
                                    <m:t>−</m:t>
                                  </m:r>
                                  <m:sSub>
                                    <m:sSubPr>
                                      <m:ctrlPr>
                                        <a:rPr lang="en-US" sz="800" b="1" i="1" dirty="0" smtClean="0">
                                          <a:latin typeface="Cambria Math" panose="02040503050406030204" pitchFamily="18" charset="0"/>
                                        </a:rPr>
                                      </m:ctrlPr>
                                    </m:sSubPr>
                                    <m:e>
                                      <m:r>
                                        <a:rPr lang="it-IT" sz="800" b="1" i="1" dirty="0">
                                          <a:latin typeface="Cambria Math" panose="02040503050406030204" pitchFamily="18" charset="0"/>
                                        </a:rPr>
                                        <m:t>𝒓</m:t>
                                      </m:r>
                                    </m:e>
                                    <m:sub>
                                      <m:r>
                                        <a:rPr lang="it-IT" sz="800" b="1" i="1" dirty="0" smtClean="0">
                                          <a:latin typeface="Cambria Math" panose="02040503050406030204" pitchFamily="18" charset="0"/>
                                        </a:rPr>
                                        <m:t>𝒂𝒄𝒕𝒖𝒂𝒍</m:t>
                                      </m:r>
                                    </m:sub>
                                  </m:sSub>
                                </m:e>
                              </m:d>
                            </m:oMath>
                          </m:oMathPara>
                        </a14:m>
                        <a:endParaRPr lang="it-IT" sz="800" b="1" i="1" dirty="0">
                          <a:latin typeface="Cambria Math" panose="02040503050406030204" pitchFamily="18" charset="0"/>
                        </a:endParaRPr>
                      </a:p>
                      <a:p>
                        <a:pPr algn="ctr"/>
                        <a14:m>
                          <m:oMathPara xmlns:m="http://schemas.openxmlformats.org/officeDocument/2006/math">
                            <m:oMathParaPr>
                              <m:jc m:val="center"/>
                            </m:oMathParaPr>
                            <m:oMath xmlns:m="http://schemas.openxmlformats.org/officeDocument/2006/math">
                              <m:r>
                                <a:rPr lang="en-US" sz="800" b="1" i="1">
                                  <a:latin typeface="Cambria Math" panose="02040503050406030204" pitchFamily="18" charset="0"/>
                                </a:rPr>
                                <m:t>+</m:t>
                              </m:r>
                              <m:r>
                                <a:rPr lang="en-US" sz="800" b="1" i="1" dirty="0">
                                  <a:latin typeface="Cambria Math" panose="02040503050406030204" pitchFamily="18" charset="0"/>
                                </a:rPr>
                                <m:t>𝒄𝒐𝒔</m:t>
                              </m:r>
                              <m:sSub>
                                <m:sSubPr>
                                  <m:ctrlPr>
                                    <a:rPr lang="en-US" sz="800" b="1" i="1" err="1">
                                      <a:latin typeface="Cambria Math" panose="02040503050406030204" pitchFamily="18" charset="0"/>
                                    </a:rPr>
                                  </m:ctrlPr>
                                </m:sSubPr>
                                <m:e>
                                  <m:r>
                                    <a:rPr lang="en-US" sz="800" b="1" i="1" dirty="0">
                                      <a:latin typeface="Cambria Math" panose="02040503050406030204" pitchFamily="18" charset="0"/>
                                    </a:rPr>
                                    <m:t>𝒕</m:t>
                                  </m:r>
                                </m:e>
                                <m:sub>
                                  <m:r>
                                    <a:rPr lang="it-IT" sz="800" b="1" i="1" dirty="0" smtClean="0">
                                      <a:latin typeface="Cambria Math" panose="02040503050406030204" pitchFamily="18" charset="0"/>
                                    </a:rPr>
                                    <m:t>𝒉</m:t>
                                  </m:r>
                                </m:sub>
                              </m:sSub>
                              <m:r>
                                <a:rPr lang="en-US" sz="800" b="1" i="1">
                                  <a:latin typeface="Cambria Math" panose="02040503050406030204" pitchFamily="18" charset="0"/>
                                </a:rPr>
                                <m:t>+</m:t>
                              </m:r>
                              <m:r>
                                <a:rPr lang="en-US" sz="800" b="1" i="1" dirty="0">
                                  <a:latin typeface="Cambria Math" panose="02040503050406030204" pitchFamily="18" charset="0"/>
                                </a:rPr>
                                <m:t>𝒄𝒐𝒔</m:t>
                              </m:r>
                              <m:sSub>
                                <m:sSubPr>
                                  <m:ctrlPr>
                                    <a:rPr lang="en-US" sz="800" b="1" i="1" err="1">
                                      <a:latin typeface="Cambria Math" panose="02040503050406030204" pitchFamily="18" charset="0"/>
                                    </a:rPr>
                                  </m:ctrlPr>
                                </m:sSubPr>
                                <m:e>
                                  <m:r>
                                    <a:rPr lang="en-US" sz="800" b="1" i="1" dirty="0">
                                      <a:latin typeface="Cambria Math" panose="02040503050406030204" pitchFamily="18" charset="0"/>
                                    </a:rPr>
                                    <m:t>𝒕</m:t>
                                  </m:r>
                                </m:e>
                                <m:sub>
                                  <m:r>
                                    <a:rPr lang="it-IT" sz="800" b="1" i="1" dirty="0" smtClean="0">
                                      <a:latin typeface="Cambria Math" panose="02040503050406030204" pitchFamily="18" charset="0"/>
                                    </a:rPr>
                                    <m:t>𝒇𝒑</m:t>
                                  </m:r>
                                </m:sub>
                              </m:sSub>
                            </m:oMath>
                          </m:oMathPara>
                        </a14:m>
                        <a:endParaRPr lang="it-IT" sz="800" b="1" i="1" dirty="0">
                          <a:latin typeface="Cambria Math" panose="02040503050406030204" pitchFamily="18" charset="0"/>
                        </a:endParaRPr>
                      </a:p>
                      <a:p>
                        <a:pPr algn="ctr"/>
                        <a:endParaRPr lang="it-IT" sz="200" dirty="0"/>
                      </a:p>
                    </p:txBody>
                  </p:sp>
                </mc:Choice>
                <mc:Fallback xmlns="">
                  <p:sp>
                    <p:nvSpPr>
                      <p:cNvPr id="77" name="TextBox 76">
                        <a:extLst>
                          <a:ext uri="{FF2B5EF4-FFF2-40B4-BE49-F238E27FC236}">
                            <a16:creationId xmlns:a16="http://schemas.microsoft.com/office/drawing/2014/main" id="{DC757AF9-D473-CBDC-349C-6A9E04C67D77}"/>
                          </a:ext>
                        </a:extLst>
                      </p:cNvPr>
                      <p:cNvSpPr txBox="1">
                        <a:spLocks noRot="1" noChangeAspect="1" noMove="1" noResize="1" noEditPoints="1" noAdjustHandles="1" noChangeArrowheads="1" noChangeShapeType="1" noTextEdit="1"/>
                      </p:cNvSpPr>
                      <p:nvPr/>
                    </p:nvSpPr>
                    <p:spPr>
                      <a:xfrm>
                        <a:off x="485993" y="2350376"/>
                        <a:ext cx="1508961" cy="984960"/>
                      </a:xfrm>
                      <a:prstGeom prst="rect">
                        <a:avLst/>
                      </a:prstGeom>
                      <a:blipFill>
                        <a:blip r:embed="rId6"/>
                        <a:stretch>
                          <a:fillRect/>
                        </a:stretch>
                      </a:blipFill>
                    </p:spPr>
                    <p:txBody>
                      <a:bodyPr/>
                      <a:lstStyle/>
                      <a:p>
                        <a:r>
                          <a:rPr lang="it-IT">
                            <a:noFill/>
                          </a:rPr>
                          <a:t> </a:t>
                        </a:r>
                      </a:p>
                    </p:txBody>
                  </p:sp>
                </mc:Fallback>
              </mc:AlternateContent>
            </p:grpSp>
            <p:sp>
              <p:nvSpPr>
                <p:cNvPr id="74" name="TextBox 73">
                  <a:extLst>
                    <a:ext uri="{FF2B5EF4-FFF2-40B4-BE49-F238E27FC236}">
                      <a16:creationId xmlns:a16="http://schemas.microsoft.com/office/drawing/2014/main" id="{42192D1C-482D-CCA4-8BE5-519D8DB35A91}"/>
                    </a:ext>
                  </a:extLst>
                </p:cNvPr>
                <p:cNvSpPr txBox="1"/>
                <p:nvPr/>
              </p:nvSpPr>
              <p:spPr>
                <a:xfrm>
                  <a:off x="273005" y="1970735"/>
                  <a:ext cx="1952228" cy="215444"/>
                </a:xfrm>
                <a:prstGeom prst="rect">
                  <a:avLst/>
                </a:prstGeom>
                <a:noFill/>
                <a:effectLst>
                  <a:outerShdw blurRad="50800" dist="50800" dir="5400000" algn="ctr" rotWithShape="0">
                    <a:srgbClr val="000000">
                      <a:alpha val="20000"/>
                    </a:srgbClr>
                  </a:outerShdw>
                </a:effectLst>
              </p:spPr>
              <p:txBody>
                <a:bodyPr wrap="square">
                  <a:spAutoFit/>
                </a:bodyPr>
                <a:lstStyle/>
                <a:p>
                  <a:pPr algn="ctr"/>
                  <a:r>
                    <a:rPr lang="en-US" sz="800" i="1" u="sng" dirty="0">
                      <a:solidFill>
                        <a:schemeClr val="bg1"/>
                      </a:solidFill>
                      <a:effectLst>
                        <a:outerShdw blurRad="38100" dist="38100" dir="2700000" algn="tl">
                          <a:srgbClr val="000000">
                            <a:alpha val="43137"/>
                          </a:srgbClr>
                        </a:outerShdw>
                      </a:effectLst>
                    </a:rPr>
                    <a:t>Step D – Annual Cost</a:t>
                  </a:r>
                  <a:endParaRPr lang="it-IT" sz="800" i="1" u="sng" dirty="0">
                    <a:solidFill>
                      <a:schemeClr val="bg1"/>
                    </a:solidFill>
                    <a:effectLst>
                      <a:outerShdw blurRad="38100" dist="38100" dir="2700000" algn="tl">
                        <a:srgbClr val="000000">
                          <a:alpha val="43137"/>
                        </a:srgbClr>
                      </a:outerShdw>
                    </a:effectLst>
                  </a:endParaRPr>
                </a:p>
              </p:txBody>
            </p:sp>
          </p:grpSp>
          <p:grpSp>
            <p:nvGrpSpPr>
              <p:cNvPr id="78" name="Group 77">
                <a:extLst>
                  <a:ext uri="{FF2B5EF4-FFF2-40B4-BE49-F238E27FC236}">
                    <a16:creationId xmlns:a16="http://schemas.microsoft.com/office/drawing/2014/main" id="{8E3F1BD2-0679-620E-54CE-FF2F8008E212}"/>
                  </a:ext>
                </a:extLst>
              </p:cNvPr>
              <p:cNvGrpSpPr/>
              <p:nvPr/>
            </p:nvGrpSpPr>
            <p:grpSpPr>
              <a:xfrm>
                <a:off x="7357919" y="1328032"/>
                <a:ext cx="1952228" cy="3180294"/>
                <a:chOff x="273005" y="1913562"/>
                <a:chExt cx="1952228" cy="2801538"/>
              </a:xfrm>
            </p:grpSpPr>
            <p:grpSp>
              <p:nvGrpSpPr>
                <p:cNvPr id="79" name="Group 78">
                  <a:extLst>
                    <a:ext uri="{FF2B5EF4-FFF2-40B4-BE49-F238E27FC236}">
                      <a16:creationId xmlns:a16="http://schemas.microsoft.com/office/drawing/2014/main" id="{D365CECF-1E07-7A79-EF2A-25317183A340}"/>
                    </a:ext>
                  </a:extLst>
                </p:cNvPr>
                <p:cNvGrpSpPr/>
                <p:nvPr/>
              </p:nvGrpSpPr>
              <p:grpSpPr>
                <a:xfrm>
                  <a:off x="428652" y="1913562"/>
                  <a:ext cx="1610424" cy="2801538"/>
                  <a:chOff x="428652" y="1913562"/>
                  <a:chExt cx="1610424" cy="2801538"/>
                </a:xfrm>
              </p:grpSpPr>
              <p:sp>
                <p:nvSpPr>
                  <p:cNvPr id="81" name="Rectangle 80">
                    <a:extLst>
                      <a:ext uri="{FF2B5EF4-FFF2-40B4-BE49-F238E27FC236}">
                        <a16:creationId xmlns:a16="http://schemas.microsoft.com/office/drawing/2014/main" id="{789F2AAE-B4AB-79A2-6D6B-0F5A93458EE9}"/>
                      </a:ext>
                    </a:extLst>
                  </p:cNvPr>
                  <p:cNvSpPr/>
                  <p:nvPr/>
                </p:nvSpPr>
                <p:spPr>
                  <a:xfrm>
                    <a:off x="428652" y="1996888"/>
                    <a:ext cx="1610424" cy="2718212"/>
                  </a:xfrm>
                  <a:prstGeom prst="rect">
                    <a:avLst/>
                  </a:prstGeom>
                  <a:solidFill>
                    <a:srgbClr val="E2CE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endParaRPr lang="it-IT" sz="1400" b="1" dirty="0">
                      <a:solidFill>
                        <a:srgbClr val="FFFFFF"/>
                      </a:solidFill>
                      <a:latin typeface="Arial" panose="020B0604020202020204" pitchFamily="34" charset="0"/>
                      <a:cs typeface="Arial" panose="020B0604020202020204" pitchFamily="34" charset="0"/>
                    </a:endParaRPr>
                  </a:p>
                </p:txBody>
              </p:sp>
              <p:sp>
                <p:nvSpPr>
                  <p:cNvPr id="82" name="Rectangle: Rounded Corners 81">
                    <a:extLst>
                      <a:ext uri="{FF2B5EF4-FFF2-40B4-BE49-F238E27FC236}">
                        <a16:creationId xmlns:a16="http://schemas.microsoft.com/office/drawing/2014/main" id="{A42626AA-C60F-20C1-B837-A91C31204C98}"/>
                      </a:ext>
                    </a:extLst>
                  </p:cNvPr>
                  <p:cNvSpPr/>
                  <p:nvPr/>
                </p:nvSpPr>
                <p:spPr>
                  <a:xfrm>
                    <a:off x="560951" y="1913562"/>
                    <a:ext cx="1376336" cy="329790"/>
                  </a:xfrm>
                  <a:prstGeom prst="roundRect">
                    <a:avLst/>
                  </a:prstGeom>
                  <a:solidFill>
                    <a:srgbClr val="004F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it-IT" sz="1400" b="1"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23573DA3-F76A-266D-C5DF-4D9E95507654}"/>
                          </a:ext>
                        </a:extLst>
                      </p:cNvPr>
                      <p:cNvSpPr txBox="1"/>
                      <p:nvPr/>
                    </p:nvSpPr>
                    <p:spPr>
                      <a:xfrm>
                        <a:off x="485993" y="2350376"/>
                        <a:ext cx="1508961" cy="1194990"/>
                      </a:xfrm>
                      <a:prstGeom prst="rect">
                        <a:avLst/>
                      </a:prstGeom>
                      <a:noFill/>
                    </p:spPr>
                    <p:txBody>
                      <a:bodyPr wrap="square">
                        <a:spAutoFit/>
                      </a:bodyPr>
                      <a:lstStyle/>
                      <a:p>
                        <a:pPr algn="ctr"/>
                        <a:r>
                          <a:rPr lang="en-US" sz="800" dirty="0"/>
                          <a:t>Direct </a:t>
                        </a:r>
                        <a:r>
                          <a:rPr lang="en-US" sz="800" b="1" dirty="0"/>
                          <a:t>estimate of the accumulated penalty </a:t>
                        </a:r>
                        <a:r>
                          <a:rPr lang="en-US" sz="800" dirty="0"/>
                          <a:t>(non-linear OLS):</a:t>
                        </a:r>
                      </a:p>
                      <a:p>
                        <a:pPr algn="ctr"/>
                        <a14:m>
                          <m:oMath xmlns:m="http://schemas.openxmlformats.org/officeDocument/2006/math">
                            <m:r>
                              <a:rPr lang="en-US" sz="800" b="1" i="1" dirty="0" smtClean="0">
                                <a:latin typeface="Cambria Math" panose="02040503050406030204" pitchFamily="18" charset="0"/>
                              </a:rPr>
                              <m:t> </m:t>
                            </m:r>
                            <m:acc>
                              <m:accPr>
                                <m:chr m:val="̂"/>
                                <m:ctrlPr>
                                  <a:rPr lang="en-US" sz="800" b="1" i="1" dirty="0" smtClean="0">
                                    <a:latin typeface="Cambria Math" panose="02040503050406030204" pitchFamily="18" charset="0"/>
                                  </a:rPr>
                                </m:ctrlPr>
                              </m:accPr>
                              <m:e>
                                <m:r>
                                  <a:rPr lang="en-US" sz="800" b="1" i="1" dirty="0" smtClean="0">
                                    <a:latin typeface="Cambria Math" panose="02040503050406030204" pitchFamily="18" charset="0"/>
                                  </a:rPr>
                                  <m:t>𝑻</m:t>
                                </m:r>
                              </m:e>
                            </m:acc>
                            <m:r>
                              <a:rPr lang="en-US" sz="800" b="1" i="1" dirty="0" smtClean="0">
                                <a:latin typeface="Cambria Math" panose="02040503050406030204" pitchFamily="18" charset="0"/>
                              </a:rPr>
                              <m:t>= </m:t>
                            </m:r>
                            <m:r>
                              <a:rPr lang="en-US" sz="800" b="1" i="1" dirty="0" smtClean="0">
                                <a:latin typeface="Cambria Math" panose="02040503050406030204" pitchFamily="18" charset="0"/>
                              </a:rPr>
                              <m:t>𝑨</m:t>
                            </m:r>
                            <m:r>
                              <a:rPr lang="en-US" sz="800" b="1" i="1" dirty="0" smtClean="0">
                                <a:latin typeface="Cambria Math" panose="02040503050406030204" pitchFamily="18" charset="0"/>
                              </a:rPr>
                              <m:t> ·</m:t>
                            </m:r>
                            <m:sSup>
                              <m:sSupPr>
                                <m:ctrlPr>
                                  <a:rPr lang="en-US" sz="800" b="1" i="1" dirty="0" smtClean="0">
                                    <a:latin typeface="Cambria Math" panose="02040503050406030204" pitchFamily="18" charset="0"/>
                                  </a:rPr>
                                </m:ctrlPr>
                              </m:sSupPr>
                              <m:e>
                                <m:r>
                                  <a:rPr lang="it-IT" sz="800" b="1" i="1" dirty="0" smtClean="0">
                                    <a:latin typeface="Cambria Math" panose="02040503050406030204" pitchFamily="18" charset="0"/>
                                  </a:rPr>
                                  <m:t>𝑳</m:t>
                                </m:r>
                              </m:e>
                              <m:sup>
                                <m:r>
                                  <a:rPr lang="it-IT" sz="800" b="1" i="1" dirty="0" smtClean="0">
                                    <a:latin typeface="Cambria Math" panose="02040503050406030204" pitchFamily="18" charset="0"/>
                                  </a:rPr>
                                  <m:t>𝑩</m:t>
                                </m:r>
                              </m:sup>
                            </m:sSup>
                          </m:oMath>
                        </a14:m>
                        <a:r>
                          <a:rPr lang="it-IT" sz="800" b="1" i="1" dirty="0">
                            <a:latin typeface="Cambria Math" panose="02040503050406030204" pitchFamily="18" charset="0"/>
                          </a:rPr>
                          <a:t>   </a:t>
                        </a:r>
                      </a:p>
                      <a:p>
                        <a:pPr algn="ctr"/>
                        <a:endParaRPr lang="it-IT" sz="800" dirty="0"/>
                      </a:p>
                      <a:p>
                        <a:pPr algn="ctr"/>
                        <a:r>
                          <a:rPr lang="en-US" sz="800" b="1" dirty="0"/>
                          <a:t>Parameters</a:t>
                        </a:r>
                        <a:r>
                          <a:rPr lang="en-US" sz="800" dirty="0"/>
                          <a:t> recovered analytically: </a:t>
                        </a:r>
                      </a:p>
                      <a:p>
                        <a:pPr algn="ctr"/>
                        <a14:m>
                          <m:oMathPara xmlns:m="http://schemas.openxmlformats.org/officeDocument/2006/math">
                            <m:oMathParaPr>
                              <m:jc m:val="center"/>
                            </m:oMathParaPr>
                            <m:oMath xmlns:m="http://schemas.openxmlformats.org/officeDocument/2006/math">
                              <m:r>
                                <a:rPr lang="en-US" sz="800" b="1" i="1" dirty="0" smtClean="0">
                                  <a:latin typeface="Cambria Math" panose="02040503050406030204" pitchFamily="18" charset="0"/>
                                </a:rPr>
                                <m:t>𝜷</m:t>
                              </m:r>
                              <m:r>
                                <a:rPr lang="en-US" sz="800" b="1" i="1" dirty="0" smtClean="0">
                                  <a:latin typeface="Cambria Math" panose="02040503050406030204" pitchFamily="18" charset="0"/>
                                </a:rPr>
                                <m:t> = </m:t>
                              </m:r>
                              <m:r>
                                <a:rPr lang="en-US" sz="800" b="1" i="1" dirty="0">
                                  <a:latin typeface="Cambria Math" panose="02040503050406030204" pitchFamily="18" charset="0"/>
                                </a:rPr>
                                <m:t>𝑩</m:t>
                              </m:r>
                              <m:r>
                                <a:rPr lang="en-US" sz="800" b="1" i="1" dirty="0">
                                  <a:latin typeface="Cambria Math" panose="02040503050406030204" pitchFamily="18" charset="0"/>
                                </a:rPr>
                                <m:t>−</m:t>
                              </m:r>
                              <m:r>
                                <a:rPr lang="en-US" sz="800" b="1" i="1" dirty="0">
                                  <a:latin typeface="Cambria Math" panose="02040503050406030204" pitchFamily="18" charset="0"/>
                                </a:rPr>
                                <m:t>𝟏</m:t>
                              </m:r>
                              <m:r>
                                <a:rPr lang="en-US" sz="800" b="1" i="1" dirty="0">
                                  <a:latin typeface="Cambria Math" panose="02040503050406030204" pitchFamily="18" charset="0"/>
                                </a:rPr>
                                <m:t>,  </m:t>
                              </m:r>
                              <m:r>
                                <a:rPr lang="en-US" sz="800" b="1" i="1" dirty="0">
                                  <a:latin typeface="Cambria Math" panose="02040503050406030204" pitchFamily="18" charset="0"/>
                                </a:rPr>
                                <m:t>𝜶</m:t>
                              </m:r>
                              <m:r>
                                <a:rPr lang="en-US" sz="800" b="1" i="1" dirty="0">
                                  <a:latin typeface="Cambria Math" panose="02040503050406030204" pitchFamily="18" charset="0"/>
                                </a:rPr>
                                <m:t> = </m:t>
                              </m:r>
                              <m:r>
                                <a:rPr lang="en-US" sz="800" b="1" i="1" dirty="0">
                                  <a:latin typeface="Cambria Math" panose="02040503050406030204" pitchFamily="18" charset="0"/>
                                </a:rPr>
                                <m:t>𝑨</m:t>
                              </m:r>
                              <m:r>
                                <a:rPr lang="en-US" sz="800" b="1" i="1" dirty="0">
                                  <a:latin typeface="Cambria Math" panose="02040503050406030204" pitchFamily="18" charset="0"/>
                                </a:rPr>
                                <m:t>·</m:t>
                              </m:r>
                              <m:r>
                                <a:rPr lang="en-US" sz="800" b="1" i="1" dirty="0">
                                  <a:latin typeface="Cambria Math" panose="02040503050406030204" pitchFamily="18" charset="0"/>
                                </a:rPr>
                                <m:t>𝑩</m:t>
                              </m:r>
                            </m:oMath>
                          </m:oMathPara>
                        </a14:m>
                        <a:endParaRPr lang="en-US" sz="800" dirty="0"/>
                      </a:p>
                      <a:p>
                        <a:pPr algn="ctr"/>
                        <a:endParaRPr lang="it-IT" sz="800" b="1" i="1" dirty="0">
                          <a:latin typeface="Cambria Math" panose="02040503050406030204" pitchFamily="18" charset="0"/>
                        </a:endParaRPr>
                      </a:p>
                    </p:txBody>
                  </p:sp>
                </mc:Choice>
                <mc:Fallback xmlns="">
                  <p:sp>
                    <p:nvSpPr>
                      <p:cNvPr id="83" name="TextBox 82">
                        <a:extLst>
                          <a:ext uri="{FF2B5EF4-FFF2-40B4-BE49-F238E27FC236}">
                            <a16:creationId xmlns:a16="http://schemas.microsoft.com/office/drawing/2014/main" id="{23573DA3-F76A-266D-C5DF-4D9E95507654}"/>
                          </a:ext>
                        </a:extLst>
                      </p:cNvPr>
                      <p:cNvSpPr txBox="1">
                        <a:spLocks noRot="1" noChangeAspect="1" noMove="1" noResize="1" noEditPoints="1" noAdjustHandles="1" noChangeArrowheads="1" noChangeShapeType="1" noTextEdit="1"/>
                      </p:cNvSpPr>
                      <p:nvPr/>
                    </p:nvSpPr>
                    <p:spPr>
                      <a:xfrm>
                        <a:off x="485993" y="2350376"/>
                        <a:ext cx="1508961" cy="1194990"/>
                      </a:xfrm>
                      <a:prstGeom prst="rect">
                        <a:avLst/>
                      </a:prstGeom>
                      <a:blipFill>
                        <a:blip r:embed="rId7"/>
                        <a:stretch>
                          <a:fillRect/>
                        </a:stretch>
                      </a:blipFill>
                    </p:spPr>
                    <p:txBody>
                      <a:bodyPr/>
                      <a:lstStyle/>
                      <a:p>
                        <a:r>
                          <a:rPr lang="it-IT">
                            <a:noFill/>
                          </a:rPr>
                          <a:t> </a:t>
                        </a:r>
                      </a:p>
                    </p:txBody>
                  </p:sp>
                </mc:Fallback>
              </mc:AlternateContent>
            </p:grpSp>
            <p:sp>
              <p:nvSpPr>
                <p:cNvPr id="80" name="TextBox 79">
                  <a:extLst>
                    <a:ext uri="{FF2B5EF4-FFF2-40B4-BE49-F238E27FC236}">
                      <a16:creationId xmlns:a16="http://schemas.microsoft.com/office/drawing/2014/main" id="{EE4068FB-A64E-9A10-8C03-C94D5E0A7E7D}"/>
                    </a:ext>
                  </a:extLst>
                </p:cNvPr>
                <p:cNvSpPr txBox="1"/>
                <p:nvPr/>
              </p:nvSpPr>
              <p:spPr>
                <a:xfrm>
                  <a:off x="273005" y="1970735"/>
                  <a:ext cx="1952228" cy="215444"/>
                </a:xfrm>
                <a:prstGeom prst="rect">
                  <a:avLst/>
                </a:prstGeom>
                <a:noFill/>
                <a:effectLst>
                  <a:outerShdw blurRad="50800" dist="50800" dir="5400000" algn="ctr" rotWithShape="0">
                    <a:srgbClr val="000000">
                      <a:alpha val="20000"/>
                    </a:srgbClr>
                  </a:outerShdw>
                </a:effectLst>
              </p:spPr>
              <p:txBody>
                <a:bodyPr wrap="square">
                  <a:spAutoFit/>
                </a:bodyPr>
                <a:lstStyle/>
                <a:p>
                  <a:pPr algn="ctr"/>
                  <a:r>
                    <a:rPr lang="en-US" sz="800" i="1" u="sng" dirty="0">
                      <a:solidFill>
                        <a:schemeClr val="bg1"/>
                      </a:solidFill>
                      <a:effectLst>
                        <a:outerShdw blurRad="38100" dist="38100" dir="2700000" algn="tl">
                          <a:srgbClr val="000000">
                            <a:alpha val="43137"/>
                          </a:srgbClr>
                        </a:outerShdw>
                      </a:effectLst>
                    </a:rPr>
                    <a:t>Step E – Fitting</a:t>
                  </a:r>
                  <a:endParaRPr lang="it-IT" sz="800" i="1" u="sng" dirty="0">
                    <a:solidFill>
                      <a:schemeClr val="bg1"/>
                    </a:solidFill>
                    <a:effectLst>
                      <a:outerShdw blurRad="38100" dist="38100" dir="2700000" algn="tl">
                        <a:srgbClr val="000000">
                          <a:alpha val="43137"/>
                        </a:srgbClr>
                      </a:outerShdw>
                    </a:effectLst>
                  </a:endParaRPr>
                </a:p>
              </p:txBody>
            </p:sp>
          </p:grpSp>
        </p:grpSp>
      </p:grpSp>
      <p:sp>
        <p:nvSpPr>
          <p:cNvPr id="87" name="Arrow: Right 86">
            <a:extLst>
              <a:ext uri="{FF2B5EF4-FFF2-40B4-BE49-F238E27FC236}">
                <a16:creationId xmlns:a16="http://schemas.microsoft.com/office/drawing/2014/main" id="{A9D93438-7D7F-8ABF-AE2C-DD70FAC5981F}"/>
              </a:ext>
            </a:extLst>
          </p:cNvPr>
          <p:cNvSpPr/>
          <p:nvPr/>
        </p:nvSpPr>
        <p:spPr>
          <a:xfrm>
            <a:off x="207483" y="3708073"/>
            <a:ext cx="8722418" cy="475824"/>
          </a:xfrm>
          <a:prstGeom prst="rightArrow">
            <a:avLst/>
          </a:prstGeom>
          <a:solidFill>
            <a:schemeClr val="accent1">
              <a:lumMod val="20000"/>
              <a:lumOff val="80000"/>
            </a:schemeClr>
          </a:solidFill>
          <a:effectLst>
            <a:outerShdw blurRad="50800" dist="50800" dir="5400000" algn="ctr" rotWithShape="0">
              <a:srgbClr val="000000">
                <a:alpha val="20000"/>
              </a:srgbClr>
            </a:outerShdw>
          </a:effectLst>
        </p:spPr>
        <p:txBody>
          <a:bodyPr wrap="square">
            <a:spAutoFit/>
          </a:bodyPr>
          <a:lstStyle/>
          <a:p>
            <a:pPr algn="ctr" defTabSz="685800">
              <a:spcBef>
                <a:spcPts val="1000"/>
              </a:spcBef>
              <a:buClr>
                <a:srgbClr val="00A0E3"/>
              </a:buClr>
              <a:buSzPct val="130000"/>
            </a:pPr>
            <a:endParaRPr lang="it-IT" sz="900" i="1">
              <a:solidFill>
                <a:srgbClr val="001C4B"/>
              </a:solidFill>
              <a:latin typeface="Cambria Math" panose="02040503050406030204" pitchFamily="18" charset="0"/>
              <a:cs typeface="Arial" panose="020B0604020202020204" pitchFamily="34" charset="0"/>
            </a:endParaRPr>
          </a:p>
        </p:txBody>
      </p:sp>
      <p:sp>
        <p:nvSpPr>
          <p:cNvPr id="7" name="Curved Right Arrow 91">
            <a:extLst>
              <a:ext uri="{FF2B5EF4-FFF2-40B4-BE49-F238E27FC236}">
                <a16:creationId xmlns:a16="http://schemas.microsoft.com/office/drawing/2014/main" id="{EE73A884-881C-4000-E383-A156BBD53C68}"/>
              </a:ext>
            </a:extLst>
          </p:cNvPr>
          <p:cNvSpPr>
            <a:spLocks/>
          </p:cNvSpPr>
          <p:nvPr/>
        </p:nvSpPr>
        <p:spPr>
          <a:xfrm rot="16200000">
            <a:off x="3525744" y="49645"/>
            <a:ext cx="447215" cy="7077121"/>
          </a:xfrm>
          <a:prstGeom prst="curvedRightArrow">
            <a:avLst>
              <a:gd name="adj1" fmla="val 41956"/>
              <a:gd name="adj2" fmla="val 87186"/>
              <a:gd name="adj3" fmla="val 23553"/>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000">
              <a:ln w="0"/>
              <a:solidFill>
                <a:schemeClr val="accent1"/>
              </a:solidFill>
              <a:effectLst>
                <a:outerShdw blurRad="38100" dist="25400" dir="5400000" algn="ctr" rotWithShape="0">
                  <a:srgbClr val="6E747A">
                    <a:alpha val="43000"/>
                  </a:srgbClr>
                </a:outerShdw>
              </a:effectLst>
            </a:endParaRPr>
          </a:p>
        </p:txBody>
      </p:sp>
      <p:sp>
        <p:nvSpPr>
          <p:cNvPr id="11" name="TextBox 10">
            <a:extLst>
              <a:ext uri="{FF2B5EF4-FFF2-40B4-BE49-F238E27FC236}">
                <a16:creationId xmlns:a16="http://schemas.microsoft.com/office/drawing/2014/main" id="{6686C354-728F-E078-A66A-E44934DEC28F}"/>
              </a:ext>
            </a:extLst>
          </p:cNvPr>
          <p:cNvSpPr txBox="1"/>
          <p:nvPr/>
        </p:nvSpPr>
        <p:spPr>
          <a:xfrm>
            <a:off x="290390" y="4251281"/>
            <a:ext cx="8287196" cy="276999"/>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ui-sans-serif"/>
              </a:rPr>
              <a:t>Steps A through D are repeated for each of the T years, across all N scenarios</a:t>
            </a:r>
          </a:p>
        </p:txBody>
      </p:sp>
    </p:spTree>
    <p:extLst>
      <p:ext uri="{BB962C8B-B14F-4D97-AF65-F5344CB8AC3E}">
        <p14:creationId xmlns:p14="http://schemas.microsoft.com/office/powerpoint/2010/main" val="253787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49C2B-7627-DBF0-EC19-AD55E2CFA87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7A2C18-074B-062C-93C2-88A9EDC0F528}"/>
              </a:ext>
            </a:extLst>
          </p:cNvPr>
          <p:cNvSpPr>
            <a:spLocks noGrp="1"/>
          </p:cNvSpPr>
          <p:nvPr>
            <p:ph type="title"/>
          </p:nvPr>
        </p:nvSpPr>
        <p:spPr/>
        <p:txBody>
          <a:bodyPr/>
          <a:lstStyle/>
          <a:p>
            <a:r>
              <a:rPr lang="it-IT" dirty="0" err="1"/>
              <a:t>Simulation</a:t>
            </a:r>
            <a:r>
              <a:rPr lang="it-IT" dirty="0"/>
              <a:t>, </a:t>
            </a:r>
            <a:r>
              <a:rPr lang="it-IT" dirty="0" err="1"/>
              <a:t>Aggregation</a:t>
            </a:r>
            <a:r>
              <a:rPr lang="it-IT" dirty="0"/>
              <a:t> &amp; Fitting</a:t>
            </a:r>
          </a:p>
        </p:txBody>
      </p:sp>
      <p:sp>
        <p:nvSpPr>
          <p:cNvPr id="4" name="Espace réservé du pied de page 3">
            <a:extLst>
              <a:ext uri="{FF2B5EF4-FFF2-40B4-BE49-F238E27FC236}">
                <a16:creationId xmlns:a16="http://schemas.microsoft.com/office/drawing/2014/main" id="{A28F83C3-2DCA-B68E-43F3-BFDE66B35750}"/>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0B28E705-9D5A-C70A-17A1-B4D3B6E0F04E}"/>
              </a:ext>
            </a:extLst>
          </p:cNvPr>
          <p:cNvSpPr>
            <a:spLocks noGrp="1"/>
          </p:cNvSpPr>
          <p:nvPr>
            <p:ph type="sldNum" sz="quarter" idx="12"/>
          </p:nvPr>
        </p:nvSpPr>
        <p:spPr/>
        <p:txBody>
          <a:bodyPr/>
          <a:lstStyle/>
          <a:p>
            <a:fld id="{2B1C6FFC-D040-034F-8B69-20295064E64D}" type="slidenum">
              <a:rPr lang="fr-FR" smtClean="0"/>
              <a:t>11</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81A53FCA-C125-8354-B422-CAF2F00B9789}"/>
                  </a:ext>
                </a:extLst>
              </p:cNvPr>
              <p:cNvSpPr>
                <a:spLocks noGrp="1"/>
              </p:cNvSpPr>
              <p:nvPr>
                <p:ph type="body" sz="quarter" idx="13"/>
              </p:nvPr>
            </p:nvSpPr>
            <p:spPr/>
            <p:txBody>
              <a:bodyPr/>
              <a:lstStyle/>
              <a:p>
                <a:r>
                  <a:rPr lang="it-IT" dirty="0"/>
                  <a:t>Fitting the </a:t>
                </a:r>
                <a:r>
                  <a:rPr lang="it-IT" dirty="0" err="1"/>
                  <a:t>parameters</a:t>
                </a:r>
                <a:r>
                  <a:rPr lang="it-IT" dirty="0"/>
                  <a:t>: </a:t>
                </a:r>
                <a:r>
                  <a:rPr lang="it-IT" dirty="0" err="1"/>
                  <a:t>pension</a:t>
                </a:r>
                <a:r>
                  <a:rPr lang="it-IT" dirty="0"/>
                  <a:t> fund </a:t>
                </a:r>
                <a:r>
                  <a:rPr lang="en-GB" dirty="0"/>
                  <a:t>(</a:t>
                </a:r>
                <a14:m>
                  <m:oMath xmlns:m="http://schemas.openxmlformats.org/officeDocument/2006/math">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rPr>
                      <m:t>=</m:t>
                    </m:r>
                    <m:r>
                      <a:rPr lang="it-IT" i="1">
                        <a:latin typeface="Cambria Math" panose="02040503050406030204" pitchFamily="18" charset="0"/>
                      </a:rPr>
                      <m:t>0.</m:t>
                    </m:r>
                    <m:r>
                      <a:rPr lang="it-IT" b="0" i="1" smtClean="0">
                        <a:latin typeface="Cambria Math" panose="02040503050406030204" pitchFamily="18" charset="0"/>
                      </a:rPr>
                      <m:t>12</m:t>
                    </m:r>
                    <m:r>
                      <a:rPr lang="it-IT" i="1">
                        <a:latin typeface="Cambria Math" panose="02040503050406030204" pitchFamily="18" charset="0"/>
                      </a:rPr>
                      <m:t>,   </m:t>
                    </m:r>
                    <m:r>
                      <a:rPr lang="it-IT" i="1">
                        <a:latin typeface="Cambria Math" panose="02040503050406030204" pitchFamily="18" charset="0"/>
                        <a:ea typeface="Cambria Math" panose="02040503050406030204" pitchFamily="18" charset="0"/>
                      </a:rPr>
                      <m:t>𝛽</m:t>
                    </m:r>
                    <m:r>
                      <a:rPr lang="it-IT" i="1">
                        <a:latin typeface="Cambria Math" panose="02040503050406030204" pitchFamily="18" charset="0"/>
                        <a:ea typeface="Cambria Math" panose="02040503050406030204" pitchFamily="18" charset="0"/>
                      </a:rPr>
                      <m:t>=2.49) </m:t>
                    </m:r>
                  </m:oMath>
                </a14:m>
                <a:endParaRPr lang="it-IT" dirty="0"/>
              </a:p>
            </p:txBody>
          </p:sp>
        </mc:Choice>
        <mc:Fallback xmlns="">
          <p:sp>
            <p:nvSpPr>
              <p:cNvPr id="6" name="Espace réservé du texte 5">
                <a:extLst>
                  <a:ext uri="{FF2B5EF4-FFF2-40B4-BE49-F238E27FC236}">
                    <a16:creationId xmlns:a16="http://schemas.microsoft.com/office/drawing/2014/main" id="{81A53FCA-C125-8354-B422-CAF2F00B9789}"/>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224940-42D2-26D6-47B9-C1B49D3A9F4A}"/>
                  </a:ext>
                </a:extLst>
              </p:cNvPr>
              <p:cNvSpPr txBox="1"/>
              <p:nvPr/>
            </p:nvSpPr>
            <p:spPr>
              <a:xfrm>
                <a:off x="428652" y="1193872"/>
                <a:ext cx="8287196" cy="572529"/>
              </a:xfrm>
              <a:prstGeom prst="rect">
                <a:avLst/>
              </a:prstGeom>
              <a:noFill/>
            </p:spPr>
            <p:txBody>
              <a:bodyPr wrap="square">
                <a:spAutoFit/>
              </a:bodyPr>
              <a:lstStyle/>
              <a:p>
                <a:pPr marL="171450" indent="-171450">
                  <a:buFont typeface="Arial" panose="020B0604020202020204" pitchFamily="34" charset="0"/>
                  <a:buChar char="•"/>
                </a:pPr>
                <a:r>
                  <a:rPr lang="en-US" sz="1200" dirty="0"/>
                  <a:t>The fitted parameters </a:t>
                </a:r>
                <a14:m>
                  <m:oMath xmlns:m="http://schemas.openxmlformats.org/officeDocument/2006/math">
                    <m:r>
                      <a:rPr lang="en-GB" sz="1200" i="1" smtClean="0">
                        <a:latin typeface="Cambria Math" panose="02040503050406030204" pitchFamily="18" charset="0"/>
                        <a:ea typeface="Cambria Math" panose="02040503050406030204" pitchFamily="18" charset="0"/>
                      </a:rPr>
                      <m:t>𝛼</m:t>
                    </m:r>
                    <m:r>
                      <a:rPr lang="it-IT" sz="1200" i="1">
                        <a:latin typeface="Cambria Math" panose="02040503050406030204" pitchFamily="18" charset="0"/>
                        <a:ea typeface="Cambria Math" panose="02040503050406030204" pitchFamily="18" charset="0"/>
                      </a:rPr>
                      <m:t> </m:t>
                    </m:r>
                  </m:oMath>
                </a14:m>
                <a:r>
                  <a:rPr lang="en-US" sz="1200" dirty="0"/>
                  <a:t>and </a:t>
                </a:r>
                <a14:m>
                  <m:oMath xmlns:m="http://schemas.openxmlformats.org/officeDocument/2006/math">
                    <m:r>
                      <a:rPr lang="en-GB" sz="1200" i="1" smtClean="0">
                        <a:latin typeface="Cambria Math" panose="02040503050406030204" pitchFamily="18" charset="0"/>
                        <a:ea typeface="Cambria Math" panose="02040503050406030204" pitchFamily="18" charset="0"/>
                      </a:rPr>
                      <m:t>𝛽</m:t>
                    </m:r>
                    <m:r>
                      <a:rPr lang="en-GB" sz="1200" i="1">
                        <a:latin typeface="Cambria Math" panose="02040503050406030204" pitchFamily="18" charset="0"/>
                        <a:ea typeface="Cambria Math" panose="02040503050406030204" pitchFamily="18" charset="0"/>
                      </a:rPr>
                      <m:t> </m:t>
                    </m:r>
                  </m:oMath>
                </a14:m>
                <a:r>
                  <a:rPr lang="en-US" sz="1200" dirty="0"/>
                  <a:t>provide a structured, simulation-based foundation for the accumulated penalty entering the penalized MVO: </a:t>
                </a:r>
                <a14:m>
                  <m:oMath xmlns:m="http://schemas.openxmlformats.org/officeDocument/2006/math">
                    <m:r>
                      <a:rPr lang="it-IT" sz="1200" i="1">
                        <a:latin typeface="Cambria Math" panose="02040503050406030204" pitchFamily="18" charset="0"/>
                      </a:rPr>
                      <m:t>𝑇</m:t>
                    </m:r>
                    <m:d>
                      <m:dPr>
                        <m:ctrlPr>
                          <a:rPr lang="it-IT" sz="1200" i="1">
                            <a:latin typeface="Cambria Math" panose="02040503050406030204" pitchFamily="18" charset="0"/>
                          </a:rPr>
                        </m:ctrlPr>
                      </m:dPr>
                      <m:e>
                        <m:r>
                          <a:rPr lang="it-IT" sz="1200" i="1">
                            <a:latin typeface="Cambria Math" panose="02040503050406030204" pitchFamily="18" charset="0"/>
                          </a:rPr>
                          <m:t>𝐿</m:t>
                        </m:r>
                      </m:e>
                    </m:d>
                    <m:r>
                      <a:rPr lang="it-IT" sz="1200" b="0" i="1" smtClean="0">
                        <a:latin typeface="Cambria Math" panose="02040503050406030204" pitchFamily="18" charset="0"/>
                      </a:rPr>
                      <m:t>=</m:t>
                    </m:r>
                    <m:f>
                      <m:fPr>
                        <m:ctrlPr>
                          <a:rPr lang="it-IT" sz="1200" b="0" i="1" smtClean="0">
                            <a:latin typeface="Cambria Math" panose="02040503050406030204" pitchFamily="18" charset="0"/>
                          </a:rPr>
                        </m:ctrlPr>
                      </m:fPr>
                      <m:num>
                        <m:acc>
                          <m:accPr>
                            <m:chr m:val="̂"/>
                            <m:ctrlPr>
                              <a:rPr lang="it-IT" sz="1200" b="0" i="1" smtClean="0">
                                <a:latin typeface="Cambria Math" panose="02040503050406030204" pitchFamily="18" charset="0"/>
                              </a:rPr>
                            </m:ctrlPr>
                          </m:accPr>
                          <m:e>
                            <m:r>
                              <a:rPr lang="it-IT" sz="1200" b="0" i="1" smtClean="0">
                                <a:latin typeface="Cambria Math" panose="02040503050406030204" pitchFamily="18" charset="0"/>
                                <a:ea typeface="Cambria Math" panose="02040503050406030204" pitchFamily="18" charset="0"/>
                              </a:rPr>
                              <m:t>𝛼</m:t>
                            </m:r>
                          </m:e>
                        </m:acc>
                      </m:num>
                      <m:den>
                        <m:acc>
                          <m:accPr>
                            <m:chr m:val="̂"/>
                            <m:ctrlPr>
                              <a:rPr lang="it-IT" sz="1200" b="0" i="1" smtClean="0">
                                <a:latin typeface="Cambria Math" panose="02040503050406030204" pitchFamily="18" charset="0"/>
                              </a:rPr>
                            </m:ctrlPr>
                          </m:accPr>
                          <m:e>
                            <m:r>
                              <a:rPr lang="it-IT" sz="1200" b="0" i="1" smtClean="0">
                                <a:latin typeface="Cambria Math" panose="02040503050406030204" pitchFamily="18" charset="0"/>
                                <a:ea typeface="Cambria Math" panose="02040503050406030204" pitchFamily="18" charset="0"/>
                              </a:rPr>
                              <m:t>𝛽</m:t>
                            </m:r>
                          </m:e>
                        </m:acc>
                        <m:r>
                          <a:rPr lang="it-IT" sz="1200" b="0" i="1" smtClean="0">
                            <a:latin typeface="Cambria Math" panose="02040503050406030204" pitchFamily="18" charset="0"/>
                          </a:rPr>
                          <m:t>+1</m:t>
                        </m:r>
                      </m:den>
                    </m:f>
                    <m:sSup>
                      <m:sSupPr>
                        <m:ctrlPr>
                          <a:rPr lang="it-IT" sz="1200" b="0" i="1" smtClean="0">
                            <a:latin typeface="Cambria Math" panose="02040503050406030204" pitchFamily="18" charset="0"/>
                          </a:rPr>
                        </m:ctrlPr>
                      </m:sSupPr>
                      <m:e>
                        <m:r>
                          <a:rPr lang="it-IT" sz="1200" b="0" i="1" smtClean="0">
                            <a:latin typeface="Cambria Math" panose="02040503050406030204" pitchFamily="18" charset="0"/>
                          </a:rPr>
                          <m:t>𝐿</m:t>
                        </m:r>
                      </m:e>
                      <m:sup>
                        <m:acc>
                          <m:accPr>
                            <m:chr m:val="̂"/>
                            <m:ctrlPr>
                              <a:rPr lang="it-IT" sz="1200" i="1">
                                <a:latin typeface="Cambria Math" panose="02040503050406030204" pitchFamily="18" charset="0"/>
                              </a:rPr>
                            </m:ctrlPr>
                          </m:accPr>
                          <m:e>
                            <m:r>
                              <a:rPr lang="it-IT" sz="1200" i="1">
                                <a:latin typeface="Cambria Math" panose="02040503050406030204" pitchFamily="18" charset="0"/>
                                <a:ea typeface="Cambria Math" panose="02040503050406030204" pitchFamily="18" charset="0"/>
                              </a:rPr>
                              <m:t>𝛽</m:t>
                            </m:r>
                          </m:e>
                        </m:acc>
                        <m:r>
                          <a:rPr lang="it-IT" sz="1200" i="1">
                            <a:latin typeface="Cambria Math" panose="02040503050406030204" pitchFamily="18" charset="0"/>
                          </a:rPr>
                          <m:t>+1</m:t>
                        </m:r>
                      </m:sup>
                    </m:sSup>
                  </m:oMath>
                </a14:m>
                <a:endParaRPr lang="en-US" sz="1200" b="0" i="0" dirty="0">
                  <a:effectLst/>
                </a:endParaRPr>
              </a:p>
            </p:txBody>
          </p:sp>
        </mc:Choice>
        <mc:Fallback xmlns="">
          <p:sp>
            <p:nvSpPr>
              <p:cNvPr id="8" name="TextBox 7">
                <a:extLst>
                  <a:ext uri="{FF2B5EF4-FFF2-40B4-BE49-F238E27FC236}">
                    <a16:creationId xmlns:a16="http://schemas.microsoft.com/office/drawing/2014/main" id="{8A224940-42D2-26D6-47B9-C1B49D3A9F4A}"/>
                  </a:ext>
                </a:extLst>
              </p:cNvPr>
              <p:cNvSpPr txBox="1">
                <a:spLocks noRot="1" noChangeAspect="1" noMove="1" noResize="1" noEditPoints="1" noAdjustHandles="1" noChangeArrowheads="1" noChangeShapeType="1" noTextEdit="1"/>
              </p:cNvSpPr>
              <p:nvPr/>
            </p:nvSpPr>
            <p:spPr>
              <a:xfrm>
                <a:off x="428652" y="1193872"/>
                <a:ext cx="8287196" cy="572529"/>
              </a:xfrm>
              <a:prstGeom prst="rect">
                <a:avLst/>
              </a:prstGeom>
              <a:blipFill>
                <a:blip r:embed="rId4"/>
                <a:stretch>
                  <a:fillRect t="-2128" b="-1064"/>
                </a:stretch>
              </a:blipFill>
            </p:spPr>
            <p:txBody>
              <a:bodyPr/>
              <a:lstStyle/>
              <a:p>
                <a:r>
                  <a:rPr lang="it-IT">
                    <a:noFill/>
                  </a:rPr>
                  <a:t> </a:t>
                </a:r>
              </a:p>
            </p:txBody>
          </p:sp>
        </mc:Fallback>
      </mc:AlternateContent>
      <p:pic>
        <p:nvPicPr>
          <p:cNvPr id="7" name="Picture 6">
            <a:extLst>
              <a:ext uri="{FF2B5EF4-FFF2-40B4-BE49-F238E27FC236}">
                <a16:creationId xmlns:a16="http://schemas.microsoft.com/office/drawing/2014/main" id="{F871E98F-7A0B-CE4D-3199-84D1AE9A0DC3}"/>
              </a:ext>
            </a:extLst>
          </p:cNvPr>
          <p:cNvPicPr>
            <a:picLocks noChangeAspect="1"/>
          </p:cNvPicPr>
          <p:nvPr/>
        </p:nvPicPr>
        <p:blipFill>
          <a:blip r:embed="rId5"/>
          <a:stretch>
            <a:fillRect/>
          </a:stretch>
        </p:blipFill>
        <p:spPr>
          <a:xfrm>
            <a:off x="1318532" y="1972893"/>
            <a:ext cx="6506936" cy="2589673"/>
          </a:xfrm>
          <a:prstGeom prst="rect">
            <a:avLst/>
          </a:prstGeom>
        </p:spPr>
      </p:pic>
    </p:spTree>
    <p:extLst>
      <p:ext uri="{BB962C8B-B14F-4D97-AF65-F5344CB8AC3E}">
        <p14:creationId xmlns:p14="http://schemas.microsoft.com/office/powerpoint/2010/main" val="3157688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14DC-E81C-4003-C6DF-E36BC10772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7B1D38-921B-2270-720C-33A0BD46C737}"/>
              </a:ext>
            </a:extLst>
          </p:cNvPr>
          <p:cNvSpPr>
            <a:spLocks noGrp="1"/>
          </p:cNvSpPr>
          <p:nvPr>
            <p:ph type="title"/>
          </p:nvPr>
        </p:nvSpPr>
        <p:spPr/>
        <p:txBody>
          <a:bodyPr/>
          <a:lstStyle/>
          <a:p>
            <a:r>
              <a:rPr lang="it-IT" dirty="0"/>
              <a:t>Back to Portfolio </a:t>
            </a:r>
            <a:r>
              <a:rPr lang="it-IT" dirty="0" err="1"/>
              <a:t>Optimization</a:t>
            </a:r>
            <a:endParaRPr lang="it-IT" dirty="0"/>
          </a:p>
        </p:txBody>
      </p:sp>
      <p:sp>
        <p:nvSpPr>
          <p:cNvPr id="4" name="Espace réservé du pied de page 3">
            <a:extLst>
              <a:ext uri="{FF2B5EF4-FFF2-40B4-BE49-F238E27FC236}">
                <a16:creationId xmlns:a16="http://schemas.microsoft.com/office/drawing/2014/main" id="{05ED2229-7264-68EE-24F4-9784D657F82D}"/>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879B9EB5-A5A9-4EDC-7E6E-0897BA376840}"/>
              </a:ext>
            </a:extLst>
          </p:cNvPr>
          <p:cNvSpPr>
            <a:spLocks noGrp="1"/>
          </p:cNvSpPr>
          <p:nvPr>
            <p:ph type="sldNum" sz="quarter" idx="12"/>
          </p:nvPr>
        </p:nvSpPr>
        <p:spPr/>
        <p:txBody>
          <a:bodyPr/>
          <a:lstStyle/>
          <a:p>
            <a:fld id="{2B1C6FFC-D040-034F-8B69-20295064E64D}" type="slidenum">
              <a:rPr lang="fr-FR" smtClean="0"/>
              <a:t>12</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7FA61643-BBD3-7EFD-D483-AF3F03AE0B9B}"/>
                  </a:ext>
                </a:extLst>
              </p:cNvPr>
              <p:cNvSpPr>
                <a:spLocks noGrp="1"/>
              </p:cNvSpPr>
              <p:nvPr>
                <p:ph type="body" sz="quarter" idx="13"/>
              </p:nvPr>
            </p:nvSpPr>
            <p:spPr/>
            <p:txBody>
              <a:bodyPr/>
              <a:lstStyle/>
              <a:p>
                <a:r>
                  <a:rPr lang="en-US" dirty="0"/>
                  <a:t>Using estimated </a:t>
                </a:r>
                <a14:m>
                  <m:oMath xmlns:m="http://schemas.openxmlformats.org/officeDocument/2006/math">
                    <m:r>
                      <a:rPr lang="en-US" i="1" dirty="0" smtClean="0">
                        <a:latin typeface="Cambria Math" panose="02040503050406030204" pitchFamily="18" charset="0"/>
                      </a:rPr>
                      <m:t>𝛼</m:t>
                    </m:r>
                  </m:oMath>
                </a14:m>
                <a:r>
                  <a:rPr lang="en-US" dirty="0"/>
                  <a:t> and </a:t>
                </a:r>
                <a14:m>
                  <m:oMath xmlns:m="http://schemas.openxmlformats.org/officeDocument/2006/math">
                    <m:r>
                      <a:rPr lang="en-US" i="1" dirty="0" smtClean="0">
                        <a:latin typeface="Cambria Math" panose="02040503050406030204" pitchFamily="18" charset="0"/>
                      </a:rPr>
                      <m:t>𝛽</m:t>
                    </m:r>
                  </m:oMath>
                </a14:m>
                <a:r>
                  <a:rPr lang="en-US" dirty="0"/>
                  <a:t> in the Penalized MVO</a:t>
                </a:r>
                <a:endParaRPr lang="it-IT" dirty="0"/>
              </a:p>
            </p:txBody>
          </p:sp>
        </mc:Choice>
        <mc:Fallback xmlns="">
          <p:sp>
            <p:nvSpPr>
              <p:cNvPr id="6" name="Espace réservé du texte 5">
                <a:extLst>
                  <a:ext uri="{FF2B5EF4-FFF2-40B4-BE49-F238E27FC236}">
                    <a16:creationId xmlns:a16="http://schemas.microsoft.com/office/drawing/2014/main" id="{7FA61643-BBD3-7EFD-D483-AF3F03AE0B9B}"/>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p:sp>
        <p:nvSpPr>
          <p:cNvPr id="8" name="TextBox 7">
            <a:extLst>
              <a:ext uri="{FF2B5EF4-FFF2-40B4-BE49-F238E27FC236}">
                <a16:creationId xmlns:a16="http://schemas.microsoft.com/office/drawing/2014/main" id="{AF4016BB-382D-F8E4-5C42-51AEFC6DE34B}"/>
              </a:ext>
            </a:extLst>
          </p:cNvPr>
          <p:cNvSpPr txBox="1"/>
          <p:nvPr/>
        </p:nvSpPr>
        <p:spPr>
          <a:xfrm>
            <a:off x="428653" y="1232922"/>
            <a:ext cx="3329748" cy="2677656"/>
          </a:xfrm>
          <a:prstGeom prst="rect">
            <a:avLst/>
          </a:prstGeom>
          <a:noFill/>
        </p:spPr>
        <p:txBody>
          <a:bodyPr wrap="square" rtlCol="0">
            <a:spAutoFit/>
          </a:bodyPr>
          <a:lstStyle>
            <a:defPPr>
              <a:defRPr lang="fr-FR"/>
            </a:defPPr>
            <a:lvl1pPr marL="171450" indent="-171450">
              <a:buFont typeface="Arial" panose="020B0604020202020204" pitchFamily="34" charset="0"/>
              <a:buChar char="•"/>
              <a:defRPr sz="1200"/>
            </a:lvl1pPr>
          </a:lstStyle>
          <a:p>
            <a:r>
              <a:rPr lang="en-US" b="1" dirty="0"/>
              <a:t>The penalized frontier </a:t>
            </a:r>
            <a:r>
              <a:rPr lang="en-US" dirty="0"/>
              <a:t>lies below the unpenalized on a gross return basis but </a:t>
            </a:r>
            <a:r>
              <a:rPr lang="en-US" b="1" dirty="0"/>
              <a:t>consistently dominates on a net return basis</a:t>
            </a:r>
            <a:r>
              <a:rPr lang="en-US" dirty="0"/>
              <a:t>, confirming that the unpenalized portfolio's apparent return advantage is entirely offset by its higher illiquidity cost;</a:t>
            </a:r>
          </a:p>
          <a:p>
            <a:pPr marL="0" indent="0">
              <a:buNone/>
            </a:pPr>
            <a:endParaRPr lang="en-US" dirty="0"/>
          </a:p>
          <a:p>
            <a:r>
              <a:rPr lang="en-US" b="1" dirty="0"/>
              <a:t>The penalty reshapes portfolio composition </a:t>
            </a:r>
            <a:r>
              <a:rPr lang="en-US" dirty="0"/>
              <a:t>by systematically substituting PE with GLOB_EQ, reflecting the optimizer's preference for assets that balance return potential against illiquidity cost rather than maximizing gross return through unconstrained PE exposure.</a:t>
            </a:r>
          </a:p>
        </p:txBody>
      </p:sp>
      <p:grpSp>
        <p:nvGrpSpPr>
          <p:cNvPr id="3" name="Group 2">
            <a:extLst>
              <a:ext uri="{FF2B5EF4-FFF2-40B4-BE49-F238E27FC236}">
                <a16:creationId xmlns:a16="http://schemas.microsoft.com/office/drawing/2014/main" id="{76D2BDE7-E2A7-C1BC-4105-55436F4BD279}"/>
              </a:ext>
            </a:extLst>
          </p:cNvPr>
          <p:cNvGrpSpPr/>
          <p:nvPr/>
        </p:nvGrpSpPr>
        <p:grpSpPr>
          <a:xfrm>
            <a:off x="3939808" y="984508"/>
            <a:ext cx="4776044" cy="3556448"/>
            <a:chOff x="3939808" y="864793"/>
            <a:chExt cx="4776044" cy="3679035"/>
          </a:xfrm>
        </p:grpSpPr>
        <p:pic>
          <p:nvPicPr>
            <p:cNvPr id="7" name="Picture 6">
              <a:extLst>
                <a:ext uri="{FF2B5EF4-FFF2-40B4-BE49-F238E27FC236}">
                  <a16:creationId xmlns:a16="http://schemas.microsoft.com/office/drawing/2014/main" id="{7A4F56B2-557B-D5A8-AAC3-FB326E9DCE09}"/>
                </a:ext>
              </a:extLst>
            </p:cNvPr>
            <p:cNvPicPr>
              <a:picLocks noChangeAspect="1"/>
            </p:cNvPicPr>
            <p:nvPr/>
          </p:nvPicPr>
          <p:blipFill>
            <a:blip r:embed="rId4"/>
            <a:stretch>
              <a:fillRect/>
            </a:stretch>
          </p:blipFill>
          <p:spPr>
            <a:xfrm>
              <a:off x="3939808" y="864793"/>
              <a:ext cx="4776044" cy="1842489"/>
            </a:xfrm>
            <a:prstGeom prst="rect">
              <a:avLst/>
            </a:prstGeom>
          </p:spPr>
        </p:pic>
        <p:pic>
          <p:nvPicPr>
            <p:cNvPr id="10" name="Picture 9">
              <a:extLst>
                <a:ext uri="{FF2B5EF4-FFF2-40B4-BE49-F238E27FC236}">
                  <a16:creationId xmlns:a16="http://schemas.microsoft.com/office/drawing/2014/main" id="{AE99C2C3-73F4-5743-757A-F0A7D7723BF2}"/>
                </a:ext>
              </a:extLst>
            </p:cNvPr>
            <p:cNvPicPr>
              <a:picLocks noChangeAspect="1"/>
            </p:cNvPicPr>
            <p:nvPr/>
          </p:nvPicPr>
          <p:blipFill>
            <a:blip r:embed="rId5"/>
            <a:stretch>
              <a:fillRect/>
            </a:stretch>
          </p:blipFill>
          <p:spPr>
            <a:xfrm>
              <a:off x="3939808" y="2701339"/>
              <a:ext cx="4775539" cy="1842489"/>
            </a:xfrm>
            <a:prstGeom prst="rect">
              <a:avLst/>
            </a:prstGeom>
          </p:spPr>
        </p:pic>
      </p:grpSp>
    </p:spTree>
    <p:extLst>
      <p:ext uri="{BB962C8B-B14F-4D97-AF65-F5344CB8AC3E}">
        <p14:creationId xmlns:p14="http://schemas.microsoft.com/office/powerpoint/2010/main" val="2935203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08D60-FEB1-148E-ACE7-4E146BDE3F8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3592E3-2BC7-560B-B181-409FF86BA493}"/>
              </a:ext>
            </a:extLst>
          </p:cNvPr>
          <p:cNvSpPr>
            <a:spLocks noGrp="1"/>
          </p:cNvSpPr>
          <p:nvPr>
            <p:ph type="title"/>
          </p:nvPr>
        </p:nvSpPr>
        <p:spPr/>
        <p:txBody>
          <a:bodyPr/>
          <a:lstStyle/>
          <a:p>
            <a:r>
              <a:rPr lang="it-IT" dirty="0"/>
              <a:t>A </a:t>
            </a:r>
            <a:r>
              <a:rPr lang="it-IT" dirty="0" err="1"/>
              <a:t>different</a:t>
            </a:r>
            <a:r>
              <a:rPr lang="it-IT" dirty="0"/>
              <a:t> </a:t>
            </a:r>
            <a:r>
              <a:rPr lang="it-IT" dirty="0" err="1"/>
              <a:t>Institutional</a:t>
            </a:r>
            <a:r>
              <a:rPr lang="it-IT" dirty="0"/>
              <a:t> </a:t>
            </a:r>
            <a:r>
              <a:rPr lang="it-IT" dirty="0" err="1"/>
              <a:t>Profile</a:t>
            </a:r>
            <a:endParaRPr lang="it-IT" dirty="0"/>
          </a:p>
        </p:txBody>
      </p:sp>
      <p:sp>
        <p:nvSpPr>
          <p:cNvPr id="4" name="Espace réservé du pied de page 3">
            <a:extLst>
              <a:ext uri="{FF2B5EF4-FFF2-40B4-BE49-F238E27FC236}">
                <a16:creationId xmlns:a16="http://schemas.microsoft.com/office/drawing/2014/main" id="{FC77B77B-8248-9084-69AC-339FD38E7937}"/>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DD8967EB-DFE4-41E7-D98A-3AECB90F41B6}"/>
              </a:ext>
            </a:extLst>
          </p:cNvPr>
          <p:cNvSpPr>
            <a:spLocks noGrp="1"/>
          </p:cNvSpPr>
          <p:nvPr>
            <p:ph type="sldNum" sz="quarter" idx="12"/>
          </p:nvPr>
        </p:nvSpPr>
        <p:spPr/>
        <p:txBody>
          <a:bodyPr/>
          <a:lstStyle/>
          <a:p>
            <a:fld id="{2B1C6FFC-D040-034F-8B69-20295064E64D}" type="slidenum">
              <a:rPr lang="fr-FR" smtClean="0"/>
              <a:t>13</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0CC3D855-983B-78AA-D644-42E35201F555}"/>
                  </a:ext>
                </a:extLst>
              </p:cNvPr>
              <p:cNvSpPr>
                <a:spLocks noGrp="1"/>
              </p:cNvSpPr>
              <p:nvPr>
                <p:ph type="body" sz="quarter" idx="13"/>
              </p:nvPr>
            </p:nvSpPr>
            <p:spPr/>
            <p:txBody>
              <a:bodyPr/>
              <a:lstStyle/>
              <a:p>
                <a:r>
                  <a:rPr lang="en-US" dirty="0"/>
                  <a:t>Fitting and Portfolio Composition of an Endowment </a:t>
                </a:r>
                <a:r>
                  <a:rPr lang="en-GB" dirty="0"/>
                  <a:t>(</a:t>
                </a:r>
                <a14:m>
                  <m:oMath xmlns:m="http://schemas.openxmlformats.org/officeDocument/2006/math">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rPr>
                      <m:t>=</m:t>
                    </m:r>
                    <m:r>
                      <a:rPr lang="it-IT" i="1">
                        <a:latin typeface="Cambria Math" panose="02040503050406030204" pitchFamily="18" charset="0"/>
                      </a:rPr>
                      <m:t>0</m:t>
                    </m:r>
                    <m:r>
                      <a:rPr lang="it-IT" i="1">
                        <a:latin typeface="Cambria Math" panose="02040503050406030204" pitchFamily="18" charset="0"/>
                      </a:rPr>
                      <m:t>.</m:t>
                    </m:r>
                    <m:r>
                      <a:rPr lang="it-IT" i="1">
                        <a:latin typeface="Cambria Math" panose="02040503050406030204" pitchFamily="18" charset="0"/>
                      </a:rPr>
                      <m:t>16</m:t>
                    </m:r>
                    <m:r>
                      <a:rPr lang="it-IT" i="1">
                        <a:latin typeface="Cambria Math" panose="02040503050406030204" pitchFamily="18" charset="0"/>
                      </a:rPr>
                      <m:t>,   </m:t>
                    </m:r>
                    <m:r>
                      <a:rPr lang="it-IT" i="1">
                        <a:latin typeface="Cambria Math" panose="02040503050406030204" pitchFamily="18" charset="0"/>
                        <a:ea typeface="Cambria Math" panose="02040503050406030204" pitchFamily="18" charset="0"/>
                      </a:rPr>
                      <m:t>𝛽</m:t>
                    </m:r>
                    <m:r>
                      <a:rPr lang="it-IT" i="1">
                        <a:latin typeface="Cambria Math" panose="02040503050406030204" pitchFamily="18" charset="0"/>
                        <a:ea typeface="Cambria Math" panose="02040503050406030204" pitchFamily="18" charset="0"/>
                      </a:rPr>
                      <m:t>=</m:t>
                    </m:r>
                    <m:r>
                      <a:rPr lang="it-IT" i="1">
                        <a:latin typeface="Cambria Math" panose="02040503050406030204" pitchFamily="18" charset="0"/>
                        <a:ea typeface="Cambria Math" panose="02040503050406030204" pitchFamily="18" charset="0"/>
                      </a:rPr>
                      <m:t>4</m:t>
                    </m:r>
                    <m:r>
                      <a:rPr lang="it-IT" i="1">
                        <a:latin typeface="Cambria Math" panose="02040503050406030204" pitchFamily="18" charset="0"/>
                        <a:ea typeface="Cambria Math" panose="02040503050406030204" pitchFamily="18" charset="0"/>
                      </a:rPr>
                      <m:t>.</m:t>
                    </m:r>
                    <m:r>
                      <a:rPr lang="it-IT" i="1">
                        <a:latin typeface="Cambria Math" panose="02040503050406030204" pitchFamily="18" charset="0"/>
                        <a:ea typeface="Cambria Math" panose="02040503050406030204" pitchFamily="18" charset="0"/>
                      </a:rPr>
                      <m:t>28</m:t>
                    </m:r>
                    <m:r>
                      <a:rPr lang="it-IT" i="1">
                        <a:latin typeface="Cambria Math" panose="02040503050406030204" pitchFamily="18" charset="0"/>
                        <a:ea typeface="Cambria Math" panose="02040503050406030204" pitchFamily="18" charset="0"/>
                      </a:rPr>
                      <m:t>) </m:t>
                    </m:r>
                  </m:oMath>
                </a14:m>
                <a:endParaRPr lang="it-IT" dirty="0"/>
              </a:p>
            </p:txBody>
          </p:sp>
        </mc:Choice>
        <mc:Fallback xmlns="">
          <p:sp>
            <p:nvSpPr>
              <p:cNvPr id="6" name="Espace réservé du texte 5">
                <a:extLst>
                  <a:ext uri="{FF2B5EF4-FFF2-40B4-BE49-F238E27FC236}">
                    <a16:creationId xmlns:a16="http://schemas.microsoft.com/office/drawing/2014/main" id="{0CC3D855-983B-78AA-D644-42E35201F555}"/>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p:grpSp>
        <p:nvGrpSpPr>
          <p:cNvPr id="10" name="Group 9">
            <a:extLst>
              <a:ext uri="{FF2B5EF4-FFF2-40B4-BE49-F238E27FC236}">
                <a16:creationId xmlns:a16="http://schemas.microsoft.com/office/drawing/2014/main" id="{3B1149C5-C8D2-63B9-2137-EF5E04385487}"/>
              </a:ext>
            </a:extLst>
          </p:cNvPr>
          <p:cNvGrpSpPr/>
          <p:nvPr/>
        </p:nvGrpSpPr>
        <p:grpSpPr>
          <a:xfrm>
            <a:off x="1886551" y="1027378"/>
            <a:ext cx="5370898" cy="3630697"/>
            <a:chOff x="1886551" y="1027378"/>
            <a:chExt cx="5370898" cy="3630697"/>
          </a:xfrm>
        </p:grpSpPr>
        <p:pic>
          <p:nvPicPr>
            <p:cNvPr id="7" name="Picture 6">
              <a:extLst>
                <a:ext uri="{FF2B5EF4-FFF2-40B4-BE49-F238E27FC236}">
                  <a16:creationId xmlns:a16="http://schemas.microsoft.com/office/drawing/2014/main" id="{41DE6B79-E0EF-91C5-AA4B-73B1C6CB9383}"/>
                </a:ext>
              </a:extLst>
            </p:cNvPr>
            <p:cNvPicPr>
              <a:picLocks noChangeAspect="1"/>
            </p:cNvPicPr>
            <p:nvPr/>
          </p:nvPicPr>
          <p:blipFill>
            <a:blip r:embed="rId4"/>
            <a:stretch>
              <a:fillRect/>
            </a:stretch>
          </p:blipFill>
          <p:spPr>
            <a:xfrm>
              <a:off x="1886551" y="1027378"/>
              <a:ext cx="5370898" cy="1815348"/>
            </a:xfrm>
            <a:prstGeom prst="rect">
              <a:avLst/>
            </a:prstGeom>
          </p:spPr>
        </p:pic>
        <p:pic>
          <p:nvPicPr>
            <p:cNvPr id="9" name="Picture 8">
              <a:extLst>
                <a:ext uri="{FF2B5EF4-FFF2-40B4-BE49-F238E27FC236}">
                  <a16:creationId xmlns:a16="http://schemas.microsoft.com/office/drawing/2014/main" id="{7A760602-0924-5119-0B18-28CBAC6C4F21}"/>
                </a:ext>
              </a:extLst>
            </p:cNvPr>
            <p:cNvPicPr>
              <a:picLocks noChangeAspect="1"/>
            </p:cNvPicPr>
            <p:nvPr/>
          </p:nvPicPr>
          <p:blipFill>
            <a:blip r:embed="rId5"/>
            <a:stretch>
              <a:fillRect/>
            </a:stretch>
          </p:blipFill>
          <p:spPr>
            <a:xfrm>
              <a:off x="1886551" y="2842726"/>
              <a:ext cx="5370898" cy="1815349"/>
            </a:xfrm>
            <a:prstGeom prst="rect">
              <a:avLst/>
            </a:prstGeom>
          </p:spPr>
        </p:pic>
      </p:grpSp>
    </p:spTree>
    <p:extLst>
      <p:ext uri="{BB962C8B-B14F-4D97-AF65-F5344CB8AC3E}">
        <p14:creationId xmlns:p14="http://schemas.microsoft.com/office/powerpoint/2010/main" val="3251735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0C2D3-9D18-C66F-65B8-E99B79F360E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B23005-DDC6-DB0F-8298-E7FA4DDEAA00}"/>
              </a:ext>
            </a:extLst>
          </p:cNvPr>
          <p:cNvSpPr>
            <a:spLocks noGrp="1"/>
          </p:cNvSpPr>
          <p:nvPr>
            <p:ph type="title"/>
          </p:nvPr>
        </p:nvSpPr>
        <p:spPr/>
        <p:txBody>
          <a:bodyPr/>
          <a:lstStyle/>
          <a:p>
            <a:r>
              <a:rPr lang="it-IT" dirty="0"/>
              <a:t>A </a:t>
            </a:r>
            <a:r>
              <a:rPr lang="it-IT" dirty="0" err="1"/>
              <a:t>different</a:t>
            </a:r>
            <a:r>
              <a:rPr lang="it-IT" dirty="0"/>
              <a:t> </a:t>
            </a:r>
            <a:r>
              <a:rPr lang="it-IT" dirty="0" err="1"/>
              <a:t>Institutional</a:t>
            </a:r>
            <a:r>
              <a:rPr lang="it-IT" dirty="0"/>
              <a:t> </a:t>
            </a:r>
            <a:r>
              <a:rPr lang="it-IT" dirty="0" err="1"/>
              <a:t>Profile</a:t>
            </a:r>
            <a:endParaRPr lang="it-IT" dirty="0"/>
          </a:p>
        </p:txBody>
      </p:sp>
      <p:sp>
        <p:nvSpPr>
          <p:cNvPr id="4" name="Espace réservé du pied de page 3">
            <a:extLst>
              <a:ext uri="{FF2B5EF4-FFF2-40B4-BE49-F238E27FC236}">
                <a16:creationId xmlns:a16="http://schemas.microsoft.com/office/drawing/2014/main" id="{83D1C752-901B-D0BA-07EE-DEBC2B496689}"/>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539F79E6-591F-3D9F-F343-231A52C40DE5}"/>
              </a:ext>
            </a:extLst>
          </p:cNvPr>
          <p:cNvSpPr>
            <a:spLocks noGrp="1"/>
          </p:cNvSpPr>
          <p:nvPr>
            <p:ph type="sldNum" sz="quarter" idx="12"/>
          </p:nvPr>
        </p:nvSpPr>
        <p:spPr/>
        <p:txBody>
          <a:bodyPr/>
          <a:lstStyle/>
          <a:p>
            <a:fld id="{2B1C6FFC-D040-034F-8B69-20295064E64D}" type="slidenum">
              <a:rPr lang="fr-FR" smtClean="0"/>
              <a:t>14</a:t>
            </a:fld>
            <a:endParaRPr lang="fr-FR" dirty="0"/>
          </a:p>
        </p:txBody>
      </p:sp>
      <mc:AlternateContent xmlns:mc="http://schemas.openxmlformats.org/markup-compatibility/2006" xmlns:a14="http://schemas.microsoft.com/office/drawing/2010/main">
        <mc:Choice Requires="a14">
          <p:sp>
            <p:nvSpPr>
              <p:cNvPr id="6" name="Espace réservé du texte 5">
                <a:extLst>
                  <a:ext uri="{FF2B5EF4-FFF2-40B4-BE49-F238E27FC236}">
                    <a16:creationId xmlns:a16="http://schemas.microsoft.com/office/drawing/2014/main" id="{C7F48FB6-D265-8401-D8EC-5B92EC71F4F7}"/>
                  </a:ext>
                </a:extLst>
              </p:cNvPr>
              <p:cNvSpPr>
                <a:spLocks noGrp="1"/>
              </p:cNvSpPr>
              <p:nvPr>
                <p:ph type="body" sz="quarter" idx="13"/>
              </p:nvPr>
            </p:nvSpPr>
            <p:spPr/>
            <p:txBody>
              <a:bodyPr/>
              <a:lstStyle/>
              <a:p>
                <a:r>
                  <a:rPr lang="en-US" dirty="0"/>
                  <a:t>Fitting and Portfolio Composition of a Family Office </a:t>
                </a:r>
                <a:r>
                  <a:rPr lang="en-GB" dirty="0"/>
                  <a:t>(</a:t>
                </a:r>
                <a14:m>
                  <m:oMath xmlns:m="http://schemas.openxmlformats.org/officeDocument/2006/math">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rPr>
                      <m:t>=</m:t>
                    </m:r>
                    <m:r>
                      <a:rPr lang="it-IT" i="1">
                        <a:latin typeface="Cambria Math" panose="02040503050406030204" pitchFamily="18" charset="0"/>
                      </a:rPr>
                      <m:t>0.1</m:t>
                    </m:r>
                    <m:r>
                      <a:rPr lang="it-IT" b="0" i="1" smtClean="0">
                        <a:latin typeface="Cambria Math" panose="02040503050406030204" pitchFamily="18" charset="0"/>
                      </a:rPr>
                      <m:t>6</m:t>
                    </m:r>
                    <m:r>
                      <a:rPr lang="it-IT" i="1">
                        <a:latin typeface="Cambria Math" panose="02040503050406030204" pitchFamily="18" charset="0"/>
                      </a:rPr>
                      <m:t>,   </m:t>
                    </m:r>
                    <m:r>
                      <a:rPr lang="it-IT" i="1">
                        <a:latin typeface="Cambria Math" panose="02040503050406030204" pitchFamily="18" charset="0"/>
                        <a:ea typeface="Cambria Math" panose="02040503050406030204" pitchFamily="18" charset="0"/>
                      </a:rPr>
                      <m:t>𝛽</m:t>
                    </m:r>
                    <m:r>
                      <a:rPr lang="it-IT" i="1">
                        <a:latin typeface="Cambria Math" panose="02040503050406030204" pitchFamily="18" charset="0"/>
                        <a:ea typeface="Cambria Math" panose="02040503050406030204" pitchFamily="18" charset="0"/>
                      </a:rPr>
                      <m:t>=4.28) </m:t>
                    </m:r>
                  </m:oMath>
                </a14:m>
                <a:endParaRPr lang="it-IT" dirty="0"/>
              </a:p>
            </p:txBody>
          </p:sp>
        </mc:Choice>
        <mc:Fallback xmlns="">
          <p:sp>
            <p:nvSpPr>
              <p:cNvPr id="6" name="Espace réservé du texte 5">
                <a:extLst>
                  <a:ext uri="{FF2B5EF4-FFF2-40B4-BE49-F238E27FC236}">
                    <a16:creationId xmlns:a16="http://schemas.microsoft.com/office/drawing/2014/main" id="{C7F48FB6-D265-8401-D8EC-5B92EC71F4F7}"/>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324" t="-27027" b="-43243"/>
                </a:stretch>
              </a:blipFill>
            </p:spPr>
            <p:txBody>
              <a:bodyPr/>
              <a:lstStyle/>
              <a:p>
                <a:r>
                  <a:rPr lang="it-IT">
                    <a:noFill/>
                  </a:rPr>
                  <a:t> </a:t>
                </a:r>
              </a:p>
            </p:txBody>
          </p:sp>
        </mc:Fallback>
      </mc:AlternateContent>
      <p:grpSp>
        <p:nvGrpSpPr>
          <p:cNvPr id="15" name="Group 14">
            <a:extLst>
              <a:ext uri="{FF2B5EF4-FFF2-40B4-BE49-F238E27FC236}">
                <a16:creationId xmlns:a16="http://schemas.microsoft.com/office/drawing/2014/main" id="{FA53E731-FC44-AA1D-C228-85786D3F7A86}"/>
              </a:ext>
            </a:extLst>
          </p:cNvPr>
          <p:cNvGrpSpPr/>
          <p:nvPr/>
        </p:nvGrpSpPr>
        <p:grpSpPr>
          <a:xfrm>
            <a:off x="1886551" y="1027378"/>
            <a:ext cx="5370899" cy="3630698"/>
            <a:chOff x="1886551" y="1027378"/>
            <a:chExt cx="5370898" cy="3630698"/>
          </a:xfrm>
        </p:grpSpPr>
        <p:pic>
          <p:nvPicPr>
            <p:cNvPr id="22" name="Picture 21">
              <a:extLst>
                <a:ext uri="{FF2B5EF4-FFF2-40B4-BE49-F238E27FC236}">
                  <a16:creationId xmlns:a16="http://schemas.microsoft.com/office/drawing/2014/main" id="{23158EF3-94B4-011C-ED12-29A28C2F4989}"/>
                </a:ext>
              </a:extLst>
            </p:cNvPr>
            <p:cNvPicPr>
              <a:picLocks noChangeAspect="1"/>
            </p:cNvPicPr>
            <p:nvPr/>
          </p:nvPicPr>
          <p:blipFill>
            <a:blip r:embed="rId4"/>
            <a:stretch>
              <a:fillRect/>
            </a:stretch>
          </p:blipFill>
          <p:spPr>
            <a:xfrm>
              <a:off x="1886551" y="1027378"/>
              <a:ext cx="5370898" cy="1815349"/>
            </a:xfrm>
            <a:prstGeom prst="rect">
              <a:avLst/>
            </a:prstGeom>
          </p:spPr>
        </p:pic>
        <p:pic>
          <p:nvPicPr>
            <p:cNvPr id="16" name="Picture 15">
              <a:extLst>
                <a:ext uri="{FF2B5EF4-FFF2-40B4-BE49-F238E27FC236}">
                  <a16:creationId xmlns:a16="http://schemas.microsoft.com/office/drawing/2014/main" id="{EF6BFEF6-E53F-1E37-6ACD-3C5DEF4B6B14}"/>
                </a:ext>
              </a:extLst>
            </p:cNvPr>
            <p:cNvPicPr>
              <a:picLocks noChangeAspect="1"/>
            </p:cNvPicPr>
            <p:nvPr/>
          </p:nvPicPr>
          <p:blipFill>
            <a:blip r:embed="rId5"/>
            <a:stretch>
              <a:fillRect/>
            </a:stretch>
          </p:blipFill>
          <p:spPr>
            <a:xfrm>
              <a:off x="1886551" y="2842727"/>
              <a:ext cx="5370898" cy="1815349"/>
            </a:xfrm>
            <a:prstGeom prst="rect">
              <a:avLst/>
            </a:prstGeom>
          </p:spPr>
        </p:pic>
      </p:grpSp>
    </p:spTree>
    <p:extLst>
      <p:ext uri="{BB962C8B-B14F-4D97-AF65-F5344CB8AC3E}">
        <p14:creationId xmlns:p14="http://schemas.microsoft.com/office/powerpoint/2010/main" val="1496715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242BB-2F88-818F-27A5-44050609A79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6E98C5-44F2-D556-4D4E-40085055D942}"/>
              </a:ext>
            </a:extLst>
          </p:cNvPr>
          <p:cNvSpPr>
            <a:spLocks noGrp="1"/>
          </p:cNvSpPr>
          <p:nvPr>
            <p:ph type="title"/>
          </p:nvPr>
        </p:nvSpPr>
        <p:spPr/>
        <p:txBody>
          <a:bodyPr/>
          <a:lstStyle/>
          <a:p>
            <a:r>
              <a:rPr lang="it-IT" dirty="0" err="1"/>
              <a:t>What’s</a:t>
            </a:r>
            <a:r>
              <a:rPr lang="it-IT" dirty="0"/>
              <a:t> </a:t>
            </a:r>
            <a:r>
              <a:rPr lang="it-IT" dirty="0" err="1"/>
              <a:t>next</a:t>
            </a:r>
            <a:r>
              <a:rPr lang="it-IT" dirty="0"/>
              <a:t>?</a:t>
            </a:r>
          </a:p>
        </p:txBody>
      </p:sp>
      <p:sp>
        <p:nvSpPr>
          <p:cNvPr id="4" name="Espace réservé du pied de page 3">
            <a:extLst>
              <a:ext uri="{FF2B5EF4-FFF2-40B4-BE49-F238E27FC236}">
                <a16:creationId xmlns:a16="http://schemas.microsoft.com/office/drawing/2014/main" id="{FE5F7830-494B-476D-537E-5AFF29DCCE9F}"/>
              </a:ext>
            </a:extLst>
          </p:cNvPr>
          <p:cNvSpPr>
            <a:spLocks noGrp="1"/>
          </p:cNvSpPr>
          <p:nvPr>
            <p:ph type="ftr" sz="quarter" idx="11"/>
          </p:nvPr>
        </p:nvSpPr>
        <p:spPr/>
        <p:txBody>
          <a:bodyPr/>
          <a:lstStyle/>
          <a:p>
            <a:r>
              <a:rPr lang="en-US" dirty="0"/>
              <a:t>Pricing illiquidity in Strategic Asset Allocation</a:t>
            </a:r>
            <a:endParaRPr lang="en-GB" dirty="0"/>
          </a:p>
        </p:txBody>
      </p:sp>
      <p:sp>
        <p:nvSpPr>
          <p:cNvPr id="5" name="Espace réservé du numéro de diapositive 4">
            <a:extLst>
              <a:ext uri="{FF2B5EF4-FFF2-40B4-BE49-F238E27FC236}">
                <a16:creationId xmlns:a16="http://schemas.microsoft.com/office/drawing/2014/main" id="{5A6D783D-BE69-1B88-33AE-85005C3E801C}"/>
              </a:ext>
            </a:extLst>
          </p:cNvPr>
          <p:cNvSpPr>
            <a:spLocks noGrp="1"/>
          </p:cNvSpPr>
          <p:nvPr>
            <p:ph type="sldNum" sz="quarter" idx="12"/>
          </p:nvPr>
        </p:nvSpPr>
        <p:spPr/>
        <p:txBody>
          <a:bodyPr/>
          <a:lstStyle/>
          <a:p>
            <a:fld id="{2B1C6FFC-D040-034F-8B69-20295064E64D}" type="slidenum">
              <a:rPr lang="fr-FR" smtClean="0"/>
              <a:t>15</a:t>
            </a:fld>
            <a:endParaRPr lang="fr-FR" dirty="0"/>
          </a:p>
        </p:txBody>
      </p:sp>
      <p:sp>
        <p:nvSpPr>
          <p:cNvPr id="6" name="Espace réservé du texte 5">
            <a:extLst>
              <a:ext uri="{FF2B5EF4-FFF2-40B4-BE49-F238E27FC236}">
                <a16:creationId xmlns:a16="http://schemas.microsoft.com/office/drawing/2014/main" id="{6054BCD4-95D2-9602-DB95-2EB9292B76D0}"/>
              </a:ext>
            </a:extLst>
          </p:cNvPr>
          <p:cNvSpPr>
            <a:spLocks noGrp="1"/>
          </p:cNvSpPr>
          <p:nvPr>
            <p:ph type="body" sz="quarter" idx="13"/>
          </p:nvPr>
        </p:nvSpPr>
        <p:spPr/>
        <p:txBody>
          <a:bodyPr>
            <a:normAutofit/>
          </a:bodyPr>
          <a:lstStyle/>
          <a:p>
            <a:r>
              <a:rPr lang="en-US" dirty="0"/>
              <a:t>Towards a More Realistic and Investor-Specific Calibration Framework</a:t>
            </a:r>
          </a:p>
          <a:p>
            <a:endParaRPr lang="it-IT"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82BFB3E-F117-820E-BFF5-5D9835ABBEBF}"/>
                  </a:ext>
                </a:extLst>
              </p:cNvPr>
              <p:cNvSpPr txBox="1"/>
              <p:nvPr/>
            </p:nvSpPr>
            <p:spPr>
              <a:xfrm>
                <a:off x="608400" y="1274888"/>
                <a:ext cx="8107327" cy="1641601"/>
              </a:xfrm>
              <a:prstGeom prst="rect">
                <a:avLst/>
              </a:prstGeom>
            </p:spPr>
            <p:txBody>
              <a:bodyPr vert="horz" lIns="0" tIns="0" rIns="0" bIns="0" rtlCol="0">
                <a:normAutofit/>
              </a:bodyPr>
              <a:lstStyle>
                <a:lvl1pPr marL="342900" indent="-342900" defTabSz="914355">
                  <a:lnSpc>
                    <a:spcPct val="150000"/>
                  </a:lnSpc>
                  <a:spcBef>
                    <a:spcPts val="1000"/>
                  </a:spcBef>
                  <a:buClr>
                    <a:schemeClr val="accent1"/>
                  </a:buClr>
                  <a:buSzPct val="130000"/>
                  <a:buFont typeface="+mj-lt"/>
                  <a:buAutoNum type="arabicPeriod"/>
                  <a:tabLst/>
                  <a:defRPr sz="1400">
                    <a:solidFill>
                      <a:srgbClr val="0073A3"/>
                    </a:solidFill>
                  </a:defRPr>
                </a:lvl1pPr>
                <a:lvl2pPr marL="365125" indent="-141288" defTabSz="914355">
                  <a:lnSpc>
                    <a:spcPct val="100000"/>
                  </a:lnSpc>
                  <a:spcBef>
                    <a:spcPts val="500"/>
                  </a:spcBef>
                  <a:buClr>
                    <a:schemeClr val="accent2"/>
                  </a:buClr>
                  <a:buFont typeface="CambriaMath" charset="0"/>
                  <a:buChar char="⎯"/>
                  <a:tabLst/>
                  <a:defRPr sz="1200">
                    <a:solidFill>
                      <a:schemeClr val="bg2">
                        <a:lumMod val="10000"/>
                      </a:schemeClr>
                    </a:solidFill>
                  </a:defRPr>
                </a:lvl2pPr>
                <a:lvl3pPr marL="536575" indent="-125413" defTabSz="914355">
                  <a:lnSpc>
                    <a:spcPct val="100000"/>
                  </a:lnSpc>
                  <a:spcBef>
                    <a:spcPts val="500"/>
                  </a:spcBef>
                  <a:buClr>
                    <a:schemeClr val="accent2"/>
                  </a:buClr>
                  <a:buFont typeface="LucidaGrande-Bold" charset="0"/>
                  <a:buChar char="⁃"/>
                  <a:tabLst/>
                  <a:defRPr sz="1000">
                    <a:solidFill>
                      <a:schemeClr val="bg2">
                        <a:lumMod val="10000"/>
                      </a:schemeClr>
                    </a:solidFill>
                  </a:defRPr>
                </a:lvl3pPr>
                <a:lvl4pPr marL="7938" indent="0" defTabSz="914355">
                  <a:lnSpc>
                    <a:spcPct val="100000"/>
                  </a:lnSpc>
                  <a:spcBef>
                    <a:spcPts val="500"/>
                  </a:spcBef>
                  <a:buFont typeface="Arial" charset="0"/>
                  <a:buNone/>
                  <a:tabLst/>
                  <a:defRPr sz="1000">
                    <a:solidFill>
                      <a:schemeClr val="accent4"/>
                    </a:solidFill>
                  </a:defRPr>
                </a:lvl4pPr>
                <a:lvl5pPr marL="7938" indent="0" defTabSz="914355">
                  <a:lnSpc>
                    <a:spcPct val="100000"/>
                  </a:lnSpc>
                  <a:spcBef>
                    <a:spcPts val="500"/>
                  </a:spcBef>
                  <a:buFont typeface="Arial" charset="0"/>
                  <a:buNone/>
                  <a:tabLst/>
                  <a:defRPr sz="1000">
                    <a:solidFill>
                      <a:schemeClr val="accent1"/>
                    </a:solidFill>
                  </a:defRPr>
                </a:lvl5pPr>
                <a:lvl6pPr marL="2514476" indent="-228588" defTabSz="914355">
                  <a:lnSpc>
                    <a:spcPct val="90000"/>
                  </a:lnSpc>
                  <a:spcBef>
                    <a:spcPts val="500"/>
                  </a:spcBef>
                  <a:buFont typeface="Arial" panose="020B0604020202020204" pitchFamily="34" charset="0"/>
                  <a:buChar char="•"/>
                </a:lvl6pPr>
                <a:lvl7pPr marL="2971653" indent="-228588" defTabSz="914355">
                  <a:lnSpc>
                    <a:spcPct val="90000"/>
                  </a:lnSpc>
                  <a:spcBef>
                    <a:spcPts val="500"/>
                  </a:spcBef>
                  <a:buFont typeface="Arial" panose="020B0604020202020204" pitchFamily="34" charset="0"/>
                  <a:buChar char="•"/>
                </a:lvl7pPr>
                <a:lvl8pPr marL="3428831" indent="-228588" defTabSz="914355">
                  <a:lnSpc>
                    <a:spcPct val="90000"/>
                  </a:lnSpc>
                  <a:spcBef>
                    <a:spcPts val="500"/>
                  </a:spcBef>
                  <a:buFont typeface="Arial" panose="020B0604020202020204" pitchFamily="34" charset="0"/>
                  <a:buChar char="•"/>
                </a:lvl8pPr>
                <a:lvl9pPr marL="3886008" indent="-228588" defTabSz="914355">
                  <a:lnSpc>
                    <a:spcPct val="90000"/>
                  </a:lnSpc>
                  <a:spcBef>
                    <a:spcPts val="500"/>
                  </a:spcBef>
                  <a:buFont typeface="Arial" panose="020B0604020202020204" pitchFamily="34" charset="0"/>
                  <a:buChar char="•"/>
                </a:lvl9pPr>
              </a:lstStyle>
              <a:p>
                <a:r>
                  <a:rPr lang="en-US" sz="1300" dirty="0"/>
                  <a:t>A richer simulation framework: introduce liability-aware dynamics into the simulation, making payout requirements a function of the institution's liability duration and funding ratio;</a:t>
                </a:r>
              </a:p>
              <a:p>
                <a:r>
                  <a:rPr lang="en-US" sz="1300" dirty="0"/>
                  <a:t>Market-implied curve fitting: should empirical data become available on illiquidity costs at different portfolio illiquidity levels, fit </a:t>
                </a:r>
                <a14:m>
                  <m:oMath xmlns:m="http://schemas.openxmlformats.org/officeDocument/2006/math">
                    <m:r>
                      <a:rPr lang="it-IT" sz="1300">
                        <a:latin typeface="Cambria Math" panose="02040503050406030204" pitchFamily="18" charset="0"/>
                      </a:rPr>
                      <m:t>𝑐</m:t>
                    </m:r>
                    <m:d>
                      <m:dPr>
                        <m:ctrlPr>
                          <a:rPr lang="it-IT" sz="1300" i="1">
                            <a:latin typeface="Cambria Math" panose="02040503050406030204" pitchFamily="18" charset="0"/>
                          </a:rPr>
                        </m:ctrlPr>
                      </m:dPr>
                      <m:e>
                        <m:r>
                          <a:rPr lang="it-IT" sz="1300">
                            <a:latin typeface="Cambria Math" panose="02040503050406030204" pitchFamily="18" charset="0"/>
                          </a:rPr>
                          <m:t>𝐿</m:t>
                        </m:r>
                      </m:e>
                    </m:d>
                  </m:oMath>
                </a14:m>
                <a:r>
                  <a:rPr lang="en-US" sz="1300" dirty="0"/>
                  <a:t> directly on observed costs.</a:t>
                </a:r>
              </a:p>
            </p:txBody>
          </p:sp>
        </mc:Choice>
        <mc:Fallback xmlns="">
          <p:sp>
            <p:nvSpPr>
              <p:cNvPr id="3" name="TextBox 2">
                <a:extLst>
                  <a:ext uri="{FF2B5EF4-FFF2-40B4-BE49-F238E27FC236}">
                    <a16:creationId xmlns:a16="http://schemas.microsoft.com/office/drawing/2014/main" id="{582BFB3E-F117-820E-BFF5-5D9835ABBEBF}"/>
                  </a:ext>
                </a:extLst>
              </p:cNvPr>
              <p:cNvSpPr txBox="1">
                <a:spLocks noRot="1" noChangeAspect="1" noMove="1" noResize="1" noEditPoints="1" noAdjustHandles="1" noChangeArrowheads="1" noChangeShapeType="1" noTextEdit="1"/>
              </p:cNvSpPr>
              <p:nvPr/>
            </p:nvSpPr>
            <p:spPr>
              <a:xfrm>
                <a:off x="608400" y="1274888"/>
                <a:ext cx="8107327" cy="1641601"/>
              </a:xfrm>
              <a:prstGeom prst="rect">
                <a:avLst/>
              </a:prstGeom>
              <a:blipFill>
                <a:blip r:embed="rId3"/>
                <a:stretch>
                  <a:fillRect l="-1504" t="-1859" r="-1729"/>
                </a:stretch>
              </a:blipFill>
            </p:spPr>
            <p:txBody>
              <a:bodyPr/>
              <a:lstStyle/>
              <a:p>
                <a:r>
                  <a:rPr lang="en-GB">
                    <a:noFill/>
                  </a:rPr>
                  <a:t> </a:t>
                </a:r>
              </a:p>
            </p:txBody>
          </p:sp>
        </mc:Fallback>
      </mc:AlternateContent>
    </p:spTree>
    <p:extLst>
      <p:ext uri="{BB962C8B-B14F-4D97-AF65-F5344CB8AC3E}">
        <p14:creationId xmlns:p14="http://schemas.microsoft.com/office/powerpoint/2010/main" val="506158177"/>
      </p:ext>
    </p:extLst>
  </p:cSld>
  <p:clrMapOvr>
    <a:masterClrMapping/>
  </p:clrMapOvr>
</p:sld>
</file>

<file path=ppt/theme/theme1.xml><?xml version="1.0" encoding="utf-8"?>
<a:theme xmlns:a="http://schemas.openxmlformats.org/drawingml/2006/main" name="ThemeAmundi">
  <a:themeElements>
    <a:clrScheme name="Amundi-theme_092020">
      <a:dk1>
        <a:srgbClr val="003C64"/>
      </a:dk1>
      <a:lt1>
        <a:srgbClr val="FFFFFF"/>
      </a:lt1>
      <a:dk2>
        <a:srgbClr val="646464"/>
      </a:dk2>
      <a:lt2>
        <a:srgbClr val="E7E6E6"/>
      </a:lt2>
      <a:accent1>
        <a:srgbClr val="009EE0"/>
      </a:accent1>
      <a:accent2>
        <a:srgbClr val="004F9F"/>
      </a:accent2>
      <a:accent3>
        <a:srgbClr val="38B2B6"/>
      </a:accent3>
      <a:accent4>
        <a:srgbClr val="E6325E"/>
      </a:accent4>
      <a:accent5>
        <a:srgbClr val="F07D00"/>
      </a:accent5>
      <a:accent6>
        <a:srgbClr val="C19134"/>
      </a:accent6>
      <a:hlink>
        <a:srgbClr val="00C2F0"/>
      </a:hlink>
      <a:folHlink>
        <a:srgbClr val="4571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N_16-9_Business_Line.pptx" id="{9E8672BF-3683-442A-8518-A2B4176A6ED1}" vid="{39A12D80-DF91-458B-A4DA-B091BAD7FB87}"/>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1562</Words>
  <Application>Microsoft Office PowerPoint</Application>
  <PresentationFormat>On-screen Show (16:9)</PresentationFormat>
  <Paragraphs>201</Paragraphs>
  <Slides>15</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CambriaMath</vt:lpstr>
      <vt:lpstr>LucidaGrande-Bold</vt:lpstr>
      <vt:lpstr>Noto Sans Med</vt:lpstr>
      <vt:lpstr>ui-sans-serif</vt:lpstr>
      <vt:lpstr>Arial</vt:lpstr>
      <vt:lpstr>Calibri</vt:lpstr>
      <vt:lpstr>Cambria Math</vt:lpstr>
      <vt:lpstr>Noto Sans</vt:lpstr>
      <vt:lpstr>ThemeAmundi</vt:lpstr>
      <vt:lpstr>Pricing illiquidity in Strategic Asset Allocation:  a calibration framework for asset allocation practitioners</vt:lpstr>
      <vt:lpstr>Agenda</vt:lpstr>
      <vt:lpstr>Overview</vt:lpstr>
      <vt:lpstr>Asset Classes &amp; Illiquidity Levels</vt:lpstr>
      <vt:lpstr>The Marginal Penalty Function</vt:lpstr>
      <vt:lpstr>Portfolio Optimization with Illiquidity </vt:lpstr>
      <vt:lpstr>Efficient Frontiers &amp; Portfolio Composition</vt:lpstr>
      <vt:lpstr>Simulation, Aggregation &amp; Fitting</vt:lpstr>
      <vt:lpstr>Simulation, Aggregation &amp; Fitting</vt:lpstr>
      <vt:lpstr>Simulation, Aggregation &amp; Fitting</vt:lpstr>
      <vt:lpstr>Simulation, Aggregation &amp; Fitting</vt:lpstr>
      <vt:lpstr>Back to Portfolio Optimization</vt:lpstr>
      <vt:lpstr>A different Institutional Profile</vt:lpstr>
      <vt:lpstr>A different Institutional Profile</vt:lpstr>
      <vt:lpstr>What’s 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Gisimundo Viviana (AMUNDI.ITA)</dc:creator>
  <cp:keywords/>
  <dc:description/>
  <cp:lastModifiedBy>Meloncelli Lorenzo (AMUNDI.ITA)</cp:lastModifiedBy>
  <cp:revision>88</cp:revision>
  <cp:lastPrinted>2026-07-01T15:08:06Z</cp:lastPrinted>
  <dcterms:created xsi:type="dcterms:W3CDTF">2026-05-28T16:57:33Z</dcterms:created>
  <dcterms:modified xsi:type="dcterms:W3CDTF">2026-09-16T09:26:08Z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MSIP_Label_6ac45191-74e4-40a9-a4c5-ab5c9391e33a_Enabled">
    <vt:lpwstr>true</vt:lpwstr>
  </property>
  <property fmtid="{D5CDD505-2E9C-101B-9397-08002B2CF9AE}" pid="4" name="MSIP_Label_6ac45191-74e4-40a9-a4c5-ab5c9391e33a_SetDate">
    <vt:lpwstr>2023-04-06T16:01:28Z</vt:lpwstr>
  </property>
  <property fmtid="{D5CDD505-2E9C-101B-9397-08002B2CF9AE}" pid="5" name="MSIP_Label_6ac45191-74e4-40a9-a4c5-ab5c9391e33a_Method">
    <vt:lpwstr>Standard</vt:lpwstr>
  </property>
  <property fmtid="{D5CDD505-2E9C-101B-9397-08002B2CF9AE}" pid="6" name="MSIP_Label_6ac45191-74e4-40a9-a4c5-ab5c9391e33a_Name">
    <vt:lpwstr>Internal Data</vt:lpwstr>
  </property>
  <property fmtid="{D5CDD505-2E9C-101B-9397-08002B2CF9AE}" pid="7" name="MSIP_Label_6ac45191-74e4-40a9-a4c5-ab5c9391e33a_SiteId">
    <vt:lpwstr>a5c34232-eadc-4609-bff3-dd6fcdae3fe2</vt:lpwstr>
  </property>
  <property fmtid="{D5CDD505-2E9C-101B-9397-08002B2CF9AE}" pid="8" name="MSIP_Label_6ac45191-74e4-40a9-a4c5-ab5c9391e33a_ActionId">
    <vt:lpwstr>da6939bd-0ed1-46fc-b429-e412eb79254c</vt:lpwstr>
  </property>
  <property fmtid="{D5CDD505-2E9C-101B-9397-08002B2CF9AE}" pid="9" name="MSIP_Label_6ac45191-74e4-40a9-a4c5-ab5c9391e33a_ContentBits">
    <vt:lpwstr>0</vt:lpwstr>
  </property>
</Properties>
</file>